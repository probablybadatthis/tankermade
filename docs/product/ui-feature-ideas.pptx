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63" r:id="rId4"/>
    <p:sldId id="258" r:id="rId6"/>
    <p:sldId id="259" r:id="rId7"/>
    <p:sldId id="261" r:id="rId8"/>
    <p:sldId id="264" r:id="rId9"/>
    <p:sldId id="266" r:id="rId10"/>
    <p:sldId id="270" r:id="rId11"/>
    <p:sldId id="265" r:id="rId12"/>
    <p:sldId id="262" r:id="rId13"/>
    <p:sldId id="271" r:id="rId14"/>
    <p:sldId id="272" r:id="rId15"/>
    <p:sldId id="284" r:id="rId16"/>
    <p:sldId id="285" r:id="rId17"/>
    <p:sldId id="289" r:id="rId18"/>
    <p:sldId id="293" r:id="rId19"/>
    <p:sldId id="267" r:id="rId20"/>
    <p:sldId id="297" r:id="rId21"/>
    <p:sldId id="298" r:id="rId22"/>
    <p:sldId id="268" r:id="rId23"/>
    <p:sldId id="301" r:id="rId24"/>
    <p:sldId id="269" r:id="rId25"/>
    <p:sldId id="299" r:id="rId26"/>
    <p:sldId id="304" r:id="rId27"/>
    <p:sldId id="308" r:id="rId28"/>
    <p:sldId id="309" r:id="rId29"/>
    <p:sldId id="310" r:id="rId30"/>
    <p:sldId id="312" r:id="rId31"/>
    <p:sldId id="313" r:id="rId32"/>
    <p:sldId id="314" r:id="rId33"/>
    <p:sldId id="315" r:id="rId34"/>
    <p:sldId id="316" r:id="rId35"/>
    <p:sldId id="317" r:id="rId36"/>
    <p:sldId id="318" r:id="rId37"/>
    <p:sldId id="320" r:id="rId38"/>
  </p:sldIdLst>
  <p:sldSz cx="10972800" cy="73152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691fbd-15ec-4dbc-98c3-5507347d41cb}">
          <p14:sldIdLst>
            <p14:sldId id="257"/>
            <p14:sldId id="263"/>
          </p14:sldIdLst>
        </p14:section>
        <p14:section name="Project Pages" id="{96008de1-55f9-436f-aaed-89843e7a0332}">
          <p14:sldIdLst>
            <p14:sldId id="258"/>
            <p14:sldId id="259"/>
            <p14:sldId id="261"/>
            <p14:sldId id="264"/>
            <p14:sldId id="266"/>
            <p14:sldId id="270"/>
            <p14:sldId id="265"/>
          </p14:sldIdLst>
        </p14:section>
        <p14:section name="Pattern Pages" id="{58e087c6-e513-4f2a-9167-f292f4c96505}">
          <p14:sldIdLst>
            <p14:sldId id="262"/>
            <p14:sldId id="271"/>
            <p14:sldId id="272"/>
            <p14:sldId id="284"/>
          </p14:sldIdLst>
        </p14:section>
        <p14:section name="Yarn" id="{a2185d95-9a38-4c4e-a79b-7f50208ed331}">
          <p14:sldIdLst>
            <p14:sldId id="285"/>
            <p14:sldId id="289"/>
            <p14:sldId id="293"/>
            <p14:sldId id="267"/>
          </p14:sldIdLst>
        </p14:section>
        <p14:section name="Tools" id="{648a27fc-00ff-49e1-b960-d713fc561639}">
          <p14:sldIdLst>
            <p14:sldId id="297"/>
            <p14:sldId id="298"/>
            <p14:sldId id="268"/>
          </p14:sldIdLst>
        </p14:section>
        <p14:section name="Notions" id="{0843683d-c7de-473e-8ea5-e8e89fe8a085}">
          <p14:sldIdLst>
            <p14:sldId id="301"/>
            <p14:sldId id="269"/>
            <p14:sldId id="299"/>
            <p14:sldId id="304"/>
            <p14:sldId id="308"/>
            <p14:sldId id="309"/>
            <p14:sldId id="310"/>
          </p14:sldIdLst>
        </p14:section>
        <p14:section name="Kits" id="{dfb5c990-f18d-4d97-b4f4-f2f089824353}">
          <p14:sldIdLst>
            <p14:sldId id="312"/>
            <p14:sldId id="313"/>
            <p14:sldId id="314"/>
            <p14:sldId id="315"/>
            <p14:sldId id="316"/>
            <p14:sldId id="317"/>
            <p14:sldId id="318"/>
          </p14:sldIdLst>
        </p14:section>
        <p14:section name="Thread/Floss" id="{19b84fae-3296-48a7-b695-9fa0f5400610}">
          <p14:sldIdLst>
            <p14:sldId id="320"/>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tup" initials="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Quick add multiple colors, themes, brand names, pattern and supply sources (books, mags, website, etc). Also shows/stores lists for drop down selections.</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pPr lvl="0" algn="l">
              <a:buClrTx/>
              <a:buSzTx/>
              <a:buFontTx/>
            </a:pPr>
            <a:r>
              <a:rPr lang="en-US"/>
              <a:t>If pattern is selected without add new option, skip to final step.</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If “Add New” is selected, “Step 3.5”should appear.</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This page should autofill based on the previous selections made on Step One, or from the information on Step Two.</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If “Add New” is selected, “Step 3.5”should appear.</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When all information is added, and the add button pressed, return to “Step 3” and add yarn to yarn list.</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When all information is added, and the add button pressed, return to “Step 3” and add tool to tool list.</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When all information is added, and the add button pressed, return to “Step 3” and add Notion to Notion list.</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When all information is added, and the add button pressed, return to “Step 3” and add Notion to Notion list.</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pPr lvl="0" algn="l">
              <a:buClrTx/>
              <a:buSzTx/>
              <a:buFontTx/>
            </a:pPr>
            <a:r>
              <a:rPr lang="en-US"/>
              <a:t>If pattern is selected without add new option, skip to final step.</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This page should autofill based on the previous selections made on Step One, or from the information on Step Two.</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197187"/>
            <a:ext cx="8229600" cy="2546773"/>
          </a:xfrm>
        </p:spPr>
        <p:txBody>
          <a:bodyPr anchor="b"/>
          <a:lstStyle>
            <a:lvl1pPr algn="ctr">
              <a:defRPr sz="6400"/>
            </a:lvl1pPr>
          </a:lstStyle>
          <a:p>
            <a:r>
              <a:rPr lang="en-US" smtClean="0"/>
              <a:t>Click to edit Master title style</a:t>
            </a:r>
            <a:endParaRPr lang="en-US"/>
          </a:p>
        </p:txBody>
      </p:sp>
      <p:sp>
        <p:nvSpPr>
          <p:cNvPr id="3" name="Subtitle 2"/>
          <p:cNvSpPr>
            <a:spLocks noGrp="1"/>
          </p:cNvSpPr>
          <p:nvPr>
            <p:ph type="subTitle" idx="1"/>
          </p:nvPr>
        </p:nvSpPr>
        <p:spPr>
          <a:xfrm>
            <a:off x="1371600" y="3842174"/>
            <a:ext cx="8229600" cy="1766146"/>
          </a:xfrm>
        </p:spPr>
        <p:txBody>
          <a:bodyPr/>
          <a:lstStyle>
            <a:lvl1pPr marL="0" indent="0" algn="ctr">
              <a:buNone/>
              <a:defRPr sz="2560"/>
            </a:lvl1pPr>
            <a:lvl2pPr marL="487680" indent="0" algn="ctr">
              <a:buNone/>
              <a:defRPr sz="2135"/>
            </a:lvl2pPr>
            <a:lvl3pPr marL="975360" indent="0" algn="ctr">
              <a:buNone/>
              <a:defRPr sz="1920"/>
            </a:lvl3pPr>
            <a:lvl4pPr marL="1463040" indent="0" algn="ctr">
              <a:buNone/>
              <a:defRPr sz="1705"/>
            </a:lvl4pPr>
            <a:lvl5pPr marL="1950720" indent="0" algn="ctr">
              <a:buNone/>
              <a:defRPr sz="1705"/>
            </a:lvl5pPr>
            <a:lvl6pPr marL="2438400" indent="0" algn="ctr">
              <a:buNone/>
              <a:defRPr sz="1705"/>
            </a:lvl6pPr>
            <a:lvl7pPr marL="2926080" indent="0" algn="ctr">
              <a:buNone/>
              <a:defRPr sz="1705"/>
            </a:lvl7pPr>
            <a:lvl8pPr marL="3413760" indent="0" algn="ctr">
              <a:buNone/>
              <a:defRPr sz="1705"/>
            </a:lvl8pPr>
            <a:lvl9pPr marL="3901440" indent="0" algn="ctr">
              <a:buNone/>
              <a:defRPr sz="1705"/>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48665" y="1823721"/>
            <a:ext cx="9464040" cy="3042919"/>
          </a:xfrm>
        </p:spPr>
        <p:txBody>
          <a:bodyPr anchor="b"/>
          <a:lstStyle>
            <a:lvl1pPr>
              <a:defRPr sz="6400"/>
            </a:lvl1pPr>
          </a:lstStyle>
          <a:p>
            <a:r>
              <a:rPr lang="en-US" smtClean="0"/>
              <a:t>Click to edit Master title style</a:t>
            </a:r>
            <a:endParaRPr lang="en-US"/>
          </a:p>
        </p:txBody>
      </p:sp>
      <p:sp>
        <p:nvSpPr>
          <p:cNvPr id="3" name="Text Placeholder 2"/>
          <p:cNvSpPr>
            <a:spLocks noGrp="1"/>
          </p:cNvSpPr>
          <p:nvPr>
            <p:ph type="body" idx="1"/>
          </p:nvPr>
        </p:nvSpPr>
        <p:spPr>
          <a:xfrm>
            <a:off x="748665" y="4895427"/>
            <a:ext cx="9464040" cy="1600199"/>
          </a:xfrm>
        </p:spPr>
        <p:txBody>
          <a:bodyPr/>
          <a:lstStyle>
            <a:lvl1pPr marL="0" indent="0">
              <a:buNone/>
              <a:defRPr sz="2560">
                <a:solidFill>
                  <a:schemeClr val="tx1">
                    <a:tint val="75000"/>
                  </a:schemeClr>
                </a:solidFill>
              </a:defRPr>
            </a:lvl1pPr>
            <a:lvl2pPr marL="487680" indent="0">
              <a:buNone/>
              <a:defRPr sz="2135">
                <a:solidFill>
                  <a:schemeClr val="tx1">
                    <a:tint val="75000"/>
                  </a:schemeClr>
                </a:solidFill>
              </a:defRPr>
            </a:lvl2pPr>
            <a:lvl3pPr marL="975360" indent="0">
              <a:buNone/>
              <a:defRPr sz="1920">
                <a:solidFill>
                  <a:schemeClr val="tx1">
                    <a:tint val="75000"/>
                  </a:schemeClr>
                </a:solidFill>
              </a:defRPr>
            </a:lvl3pPr>
            <a:lvl4pPr marL="1463040" indent="0">
              <a:buNone/>
              <a:defRPr sz="1705">
                <a:solidFill>
                  <a:schemeClr val="tx1">
                    <a:tint val="75000"/>
                  </a:schemeClr>
                </a:solidFill>
              </a:defRPr>
            </a:lvl4pPr>
            <a:lvl5pPr marL="1950720" indent="0">
              <a:buNone/>
              <a:defRPr sz="1705">
                <a:solidFill>
                  <a:schemeClr val="tx1">
                    <a:tint val="75000"/>
                  </a:schemeClr>
                </a:solidFill>
              </a:defRPr>
            </a:lvl5pPr>
            <a:lvl6pPr marL="2438400" indent="0">
              <a:buNone/>
              <a:defRPr sz="1705">
                <a:solidFill>
                  <a:schemeClr val="tx1">
                    <a:tint val="75000"/>
                  </a:schemeClr>
                </a:solidFill>
              </a:defRPr>
            </a:lvl6pPr>
            <a:lvl7pPr marL="2926080" indent="0">
              <a:buNone/>
              <a:defRPr sz="1705">
                <a:solidFill>
                  <a:schemeClr val="tx1">
                    <a:tint val="75000"/>
                  </a:schemeClr>
                </a:solidFill>
              </a:defRPr>
            </a:lvl7pPr>
            <a:lvl8pPr marL="3413760" indent="0">
              <a:buNone/>
              <a:defRPr sz="1705">
                <a:solidFill>
                  <a:schemeClr val="tx1">
                    <a:tint val="75000"/>
                  </a:schemeClr>
                </a:solidFill>
              </a:defRPr>
            </a:lvl8pPr>
            <a:lvl9pPr marL="3901440" indent="0">
              <a:buNone/>
              <a:defRPr sz="1705">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54380" y="1947333"/>
            <a:ext cx="4663440" cy="464142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5554980" y="1947333"/>
            <a:ext cx="4663440" cy="464142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5809" y="389467"/>
            <a:ext cx="9464040" cy="1413934"/>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755809" y="1793241"/>
            <a:ext cx="4642008" cy="878839"/>
          </a:xfrm>
        </p:spPr>
        <p:txBody>
          <a:bodyPr anchor="b"/>
          <a:lstStyle>
            <a:lvl1pPr marL="0" indent="0">
              <a:buNone/>
              <a:defRPr sz="2560" b="1"/>
            </a:lvl1pPr>
            <a:lvl2pPr marL="487680" indent="0">
              <a:buNone/>
              <a:defRPr sz="2135" b="1"/>
            </a:lvl2pPr>
            <a:lvl3pPr marL="975360" indent="0">
              <a:buNone/>
              <a:defRPr sz="1920" b="1"/>
            </a:lvl3pPr>
            <a:lvl4pPr marL="1463040" indent="0">
              <a:buNone/>
              <a:defRPr sz="1705" b="1"/>
            </a:lvl4pPr>
            <a:lvl5pPr marL="1950720" indent="0">
              <a:buNone/>
              <a:defRPr sz="1705" b="1"/>
            </a:lvl5pPr>
            <a:lvl6pPr marL="2438400" indent="0">
              <a:buNone/>
              <a:defRPr sz="1705" b="1"/>
            </a:lvl6pPr>
            <a:lvl7pPr marL="2926080" indent="0">
              <a:buNone/>
              <a:defRPr sz="1705" b="1"/>
            </a:lvl7pPr>
            <a:lvl8pPr marL="3413760" indent="0">
              <a:buNone/>
              <a:defRPr sz="1705" b="1"/>
            </a:lvl8pPr>
            <a:lvl9pPr marL="3901440" indent="0">
              <a:buNone/>
              <a:defRPr sz="1705"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755809" y="2672080"/>
            <a:ext cx="4642008" cy="393022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5554980" y="1793241"/>
            <a:ext cx="4664869" cy="878839"/>
          </a:xfrm>
        </p:spPr>
        <p:txBody>
          <a:bodyPr anchor="b"/>
          <a:lstStyle>
            <a:lvl1pPr marL="0" indent="0">
              <a:buNone/>
              <a:defRPr sz="2560" b="1"/>
            </a:lvl1pPr>
            <a:lvl2pPr marL="487680" indent="0">
              <a:buNone/>
              <a:defRPr sz="2135" b="1"/>
            </a:lvl2pPr>
            <a:lvl3pPr marL="975360" indent="0">
              <a:buNone/>
              <a:defRPr sz="1920" b="1"/>
            </a:lvl3pPr>
            <a:lvl4pPr marL="1463040" indent="0">
              <a:buNone/>
              <a:defRPr sz="1705" b="1"/>
            </a:lvl4pPr>
            <a:lvl5pPr marL="1950720" indent="0">
              <a:buNone/>
              <a:defRPr sz="1705" b="1"/>
            </a:lvl5pPr>
            <a:lvl6pPr marL="2438400" indent="0">
              <a:buNone/>
              <a:defRPr sz="1705" b="1"/>
            </a:lvl6pPr>
            <a:lvl7pPr marL="2926080" indent="0">
              <a:buNone/>
              <a:defRPr sz="1705" b="1"/>
            </a:lvl7pPr>
            <a:lvl8pPr marL="3413760" indent="0">
              <a:buNone/>
              <a:defRPr sz="1705" b="1"/>
            </a:lvl8pPr>
            <a:lvl9pPr marL="3901440" indent="0">
              <a:buNone/>
              <a:defRPr sz="1705"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5554980" y="2672080"/>
            <a:ext cx="4664869" cy="393022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809" y="487680"/>
            <a:ext cx="3539013" cy="1706880"/>
          </a:xfrm>
        </p:spPr>
        <p:txBody>
          <a:bodyPr anchor="b"/>
          <a:lstStyle>
            <a:lvl1pPr>
              <a:defRPr sz="3415"/>
            </a:lvl1pPr>
          </a:lstStyle>
          <a:p>
            <a:r>
              <a:rPr lang="en-US" smtClean="0"/>
              <a:t>Click to edit Master title style</a:t>
            </a:r>
            <a:endParaRPr lang="en-US"/>
          </a:p>
        </p:txBody>
      </p:sp>
      <p:sp>
        <p:nvSpPr>
          <p:cNvPr id="3" name="Content Placeholder 2"/>
          <p:cNvSpPr>
            <a:spLocks noGrp="1"/>
          </p:cNvSpPr>
          <p:nvPr>
            <p:ph idx="1"/>
          </p:nvPr>
        </p:nvSpPr>
        <p:spPr>
          <a:xfrm>
            <a:off x="4664869" y="1053253"/>
            <a:ext cx="5554980" cy="5198533"/>
          </a:xfrm>
        </p:spPr>
        <p:txBody>
          <a:bodyPr/>
          <a:lstStyle>
            <a:lvl1pPr>
              <a:defRPr sz="3415"/>
            </a:lvl1pPr>
            <a:lvl2pPr>
              <a:defRPr sz="2985"/>
            </a:lvl2pPr>
            <a:lvl3pPr>
              <a:defRPr sz="2560"/>
            </a:lvl3pPr>
            <a:lvl4pPr>
              <a:defRPr sz="2135"/>
            </a:lvl4pPr>
            <a:lvl5pPr>
              <a:defRPr sz="2135"/>
            </a:lvl5pPr>
            <a:lvl6pPr>
              <a:defRPr sz="2135"/>
            </a:lvl6pPr>
            <a:lvl7pPr>
              <a:defRPr sz="2135"/>
            </a:lvl7pPr>
            <a:lvl8pPr>
              <a:defRPr sz="2135"/>
            </a:lvl8pPr>
            <a:lvl9pPr>
              <a:defRPr sz="2135"/>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755809" y="2194560"/>
            <a:ext cx="3539013" cy="4065694"/>
          </a:xfrm>
        </p:spPr>
        <p:txBody>
          <a:bodyPr/>
          <a:lstStyle>
            <a:lvl1pPr marL="0" indent="0">
              <a:buNone/>
              <a:defRPr sz="1705"/>
            </a:lvl1pPr>
            <a:lvl2pPr marL="487680" indent="0">
              <a:buNone/>
              <a:defRPr sz="1495"/>
            </a:lvl2pPr>
            <a:lvl3pPr marL="975360" indent="0">
              <a:buNone/>
              <a:defRPr sz="1280"/>
            </a:lvl3pPr>
            <a:lvl4pPr marL="1463040" indent="0">
              <a:buNone/>
              <a:defRPr sz="1065"/>
            </a:lvl4pPr>
            <a:lvl5pPr marL="1950720" indent="0">
              <a:buNone/>
              <a:defRPr sz="1065"/>
            </a:lvl5pPr>
            <a:lvl6pPr marL="2438400" indent="0">
              <a:buNone/>
              <a:defRPr sz="1065"/>
            </a:lvl6pPr>
            <a:lvl7pPr marL="2926080" indent="0">
              <a:buNone/>
              <a:defRPr sz="1065"/>
            </a:lvl7pPr>
            <a:lvl8pPr marL="3413760" indent="0">
              <a:buNone/>
              <a:defRPr sz="1065"/>
            </a:lvl8pPr>
            <a:lvl9pPr marL="3901440" indent="0">
              <a:buNone/>
              <a:defRPr sz="106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809" y="487680"/>
            <a:ext cx="3539013" cy="1706880"/>
          </a:xfrm>
        </p:spPr>
        <p:txBody>
          <a:bodyPr anchor="b"/>
          <a:lstStyle>
            <a:lvl1pPr>
              <a:defRPr sz="3415"/>
            </a:lvl1pPr>
          </a:lstStyle>
          <a:p>
            <a:r>
              <a:rPr lang="en-US" smtClean="0"/>
              <a:t>Click to edit Master title style</a:t>
            </a:r>
            <a:endParaRPr lang="en-US"/>
          </a:p>
        </p:txBody>
      </p:sp>
      <p:sp>
        <p:nvSpPr>
          <p:cNvPr id="3" name="Picture Placeholder 2"/>
          <p:cNvSpPr>
            <a:spLocks noGrp="1"/>
          </p:cNvSpPr>
          <p:nvPr>
            <p:ph type="pic" idx="1"/>
          </p:nvPr>
        </p:nvSpPr>
        <p:spPr>
          <a:xfrm>
            <a:off x="4664869" y="1053253"/>
            <a:ext cx="5554980" cy="5198533"/>
          </a:xfrm>
        </p:spPr>
        <p:txBody>
          <a:bodyPr/>
          <a:lstStyle>
            <a:lvl1pPr marL="0" indent="0">
              <a:buNone/>
              <a:defRPr sz="3415"/>
            </a:lvl1pPr>
            <a:lvl2pPr marL="487680" indent="0">
              <a:buNone/>
              <a:defRPr sz="2985"/>
            </a:lvl2pPr>
            <a:lvl3pPr marL="975360" indent="0">
              <a:buNone/>
              <a:defRPr sz="2560"/>
            </a:lvl3pPr>
            <a:lvl4pPr marL="1463040" indent="0">
              <a:buNone/>
              <a:defRPr sz="2135"/>
            </a:lvl4pPr>
            <a:lvl5pPr marL="1950720" indent="0">
              <a:buNone/>
              <a:defRPr sz="2135"/>
            </a:lvl5pPr>
            <a:lvl6pPr marL="2438400" indent="0">
              <a:buNone/>
              <a:defRPr sz="2135"/>
            </a:lvl6pPr>
            <a:lvl7pPr marL="2926080" indent="0">
              <a:buNone/>
              <a:defRPr sz="2135"/>
            </a:lvl7pPr>
            <a:lvl8pPr marL="3413760" indent="0">
              <a:buNone/>
              <a:defRPr sz="2135"/>
            </a:lvl8pPr>
            <a:lvl9pPr marL="3901440" indent="0">
              <a:buNone/>
              <a:defRPr sz="2135"/>
            </a:lvl9pPr>
          </a:lstStyle>
          <a:p>
            <a:endParaRPr lang="en-US"/>
          </a:p>
        </p:txBody>
      </p:sp>
      <p:sp>
        <p:nvSpPr>
          <p:cNvPr id="4" name="Text Placeholder 3"/>
          <p:cNvSpPr>
            <a:spLocks noGrp="1"/>
          </p:cNvSpPr>
          <p:nvPr>
            <p:ph type="body" sz="half" idx="2"/>
          </p:nvPr>
        </p:nvSpPr>
        <p:spPr>
          <a:xfrm>
            <a:off x="755809" y="2194560"/>
            <a:ext cx="3539013" cy="4065694"/>
          </a:xfrm>
        </p:spPr>
        <p:txBody>
          <a:bodyPr/>
          <a:lstStyle>
            <a:lvl1pPr marL="0" indent="0">
              <a:buNone/>
              <a:defRPr sz="1705"/>
            </a:lvl1pPr>
            <a:lvl2pPr marL="487680" indent="0">
              <a:buNone/>
              <a:defRPr sz="1495"/>
            </a:lvl2pPr>
            <a:lvl3pPr marL="975360" indent="0">
              <a:buNone/>
              <a:defRPr sz="1280"/>
            </a:lvl3pPr>
            <a:lvl4pPr marL="1463040" indent="0">
              <a:buNone/>
              <a:defRPr sz="1065"/>
            </a:lvl4pPr>
            <a:lvl5pPr marL="1950720" indent="0">
              <a:buNone/>
              <a:defRPr sz="1065"/>
            </a:lvl5pPr>
            <a:lvl6pPr marL="2438400" indent="0">
              <a:buNone/>
              <a:defRPr sz="1065"/>
            </a:lvl6pPr>
            <a:lvl7pPr marL="2926080" indent="0">
              <a:buNone/>
              <a:defRPr sz="1065"/>
            </a:lvl7pPr>
            <a:lvl8pPr marL="3413760" indent="0">
              <a:buNone/>
              <a:defRPr sz="1065"/>
            </a:lvl8pPr>
            <a:lvl9pPr marL="3901440" indent="0">
              <a:buNone/>
              <a:defRPr sz="106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52410" y="389467"/>
            <a:ext cx="2366010" cy="619929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54380" y="389467"/>
            <a:ext cx="6960870" cy="6199294"/>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4380" y="389467"/>
            <a:ext cx="9464040" cy="1413934"/>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754380" y="1947333"/>
            <a:ext cx="9464040" cy="4641427"/>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754380" y="6780107"/>
            <a:ext cx="2468880" cy="389467"/>
          </a:xfrm>
          <a:prstGeom prst="rect">
            <a:avLst/>
          </a:prstGeom>
        </p:spPr>
        <p:txBody>
          <a:bodyPr vert="horz" lIns="91440" tIns="45720" rIns="91440" bIns="45720" rtlCol="0" anchor="ctr"/>
          <a:lstStyle>
            <a:lvl1pPr algn="l">
              <a:defRPr sz="128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3634740" y="6780107"/>
            <a:ext cx="3703320" cy="389467"/>
          </a:xfrm>
          <a:prstGeom prst="rect">
            <a:avLst/>
          </a:prstGeom>
        </p:spPr>
        <p:txBody>
          <a:bodyPr vert="horz" lIns="91440" tIns="45720" rIns="91440" bIns="45720" rtlCol="0" anchor="ctr"/>
          <a:lstStyle>
            <a:lvl1pPr algn="ctr">
              <a:defRPr sz="12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49540" y="6780107"/>
            <a:ext cx="2468880" cy="389467"/>
          </a:xfrm>
          <a:prstGeom prst="rect">
            <a:avLst/>
          </a:prstGeom>
        </p:spPr>
        <p:txBody>
          <a:bodyPr vert="horz" lIns="91440" tIns="45720" rIns="91440" bIns="45720" rtlCol="0" anchor="ctr"/>
          <a:lstStyle>
            <a:lvl1pPr algn="r">
              <a:defRPr sz="128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75360" rtl="0" eaLnBrk="1" latinLnBrk="0" hangingPunct="1">
        <a:lnSpc>
          <a:spcPct val="90000"/>
        </a:lnSpc>
        <a:spcBef>
          <a:spcPct val="0"/>
        </a:spcBef>
        <a:buNone/>
        <a:defRPr sz="4695" kern="1200">
          <a:solidFill>
            <a:schemeClr val="tx1"/>
          </a:solidFill>
          <a:latin typeface="+mj-lt"/>
          <a:ea typeface="+mj-ea"/>
          <a:cs typeface="+mj-cs"/>
        </a:defRPr>
      </a:lvl1pPr>
    </p:titleStyle>
    <p:bodyStyle>
      <a:lvl1pPr marL="243840" indent="-243840" algn="l" defTabSz="975360" rtl="0" eaLnBrk="1" latinLnBrk="0" hangingPunct="1">
        <a:lnSpc>
          <a:spcPct val="90000"/>
        </a:lnSpc>
        <a:spcBef>
          <a:spcPts val="1065"/>
        </a:spcBef>
        <a:buFont typeface="Arial" panose="020B0604020202020204" pitchFamily="34" charset="0"/>
        <a:buChar char="•"/>
        <a:defRPr sz="2985" kern="1200">
          <a:solidFill>
            <a:schemeClr val="tx1"/>
          </a:solidFill>
          <a:latin typeface="+mn-lt"/>
          <a:ea typeface="+mn-ea"/>
          <a:cs typeface="+mn-cs"/>
        </a:defRPr>
      </a:lvl1pPr>
      <a:lvl2pPr marL="731520" indent="-243840" algn="l" defTabSz="975360" rtl="0" eaLnBrk="1" latinLnBrk="0" hangingPunct="1">
        <a:lnSpc>
          <a:spcPct val="90000"/>
        </a:lnSpc>
        <a:spcBef>
          <a:spcPct val="107000"/>
        </a:spcBef>
        <a:buFont typeface="Arial" panose="020B0604020202020204" pitchFamily="34" charset="0"/>
        <a:buChar char="•"/>
        <a:defRPr sz="2560" kern="1200">
          <a:solidFill>
            <a:schemeClr val="tx1"/>
          </a:solidFill>
          <a:latin typeface="+mn-lt"/>
          <a:ea typeface="+mn-ea"/>
          <a:cs typeface="+mn-cs"/>
        </a:defRPr>
      </a:lvl2pPr>
      <a:lvl3pPr marL="1219200" indent="-243840" algn="l" defTabSz="975360" rtl="0" eaLnBrk="1" latinLnBrk="0" hangingPunct="1">
        <a:lnSpc>
          <a:spcPct val="90000"/>
        </a:lnSpc>
        <a:spcBef>
          <a:spcPct val="107000"/>
        </a:spcBef>
        <a:buFont typeface="Arial" panose="020B0604020202020204" pitchFamily="34" charset="0"/>
        <a:buChar char="•"/>
        <a:defRPr sz="2135" kern="1200">
          <a:solidFill>
            <a:schemeClr val="tx1"/>
          </a:solidFill>
          <a:latin typeface="+mn-lt"/>
          <a:ea typeface="+mn-ea"/>
          <a:cs typeface="+mn-cs"/>
        </a:defRPr>
      </a:lvl3pPr>
      <a:lvl4pPr marL="1706880" indent="-243840" algn="l" defTabSz="975360" rtl="0" eaLnBrk="1" latinLnBrk="0" hangingPunct="1">
        <a:lnSpc>
          <a:spcPct val="90000"/>
        </a:lnSpc>
        <a:spcBef>
          <a:spcPct val="107000"/>
        </a:spcBef>
        <a:buFont typeface="Arial" panose="020B0604020202020204" pitchFamily="34" charset="0"/>
        <a:buChar char="•"/>
        <a:defRPr sz="1920" kern="1200">
          <a:solidFill>
            <a:schemeClr val="tx1"/>
          </a:solidFill>
          <a:latin typeface="+mn-lt"/>
          <a:ea typeface="+mn-ea"/>
          <a:cs typeface="+mn-cs"/>
        </a:defRPr>
      </a:lvl4pPr>
      <a:lvl5pPr marL="2194560" indent="-243840" algn="l" defTabSz="975360" rtl="0" eaLnBrk="1" latinLnBrk="0" hangingPunct="1">
        <a:lnSpc>
          <a:spcPct val="90000"/>
        </a:lnSpc>
        <a:spcBef>
          <a:spcPct val="107000"/>
        </a:spcBef>
        <a:buFont typeface="Arial" panose="020B0604020202020204" pitchFamily="34" charset="0"/>
        <a:buChar char="•"/>
        <a:defRPr sz="1920" kern="1200">
          <a:solidFill>
            <a:schemeClr val="tx1"/>
          </a:solidFill>
          <a:latin typeface="+mn-lt"/>
          <a:ea typeface="+mn-ea"/>
          <a:cs typeface="+mn-cs"/>
        </a:defRPr>
      </a:lvl5pPr>
      <a:lvl6pPr marL="2682240" indent="-243840" algn="l" defTabSz="975360" rtl="0" eaLnBrk="1" latinLnBrk="0" hangingPunct="1">
        <a:lnSpc>
          <a:spcPct val="90000"/>
        </a:lnSpc>
        <a:spcBef>
          <a:spcPct val="107000"/>
        </a:spcBef>
        <a:buFont typeface="Arial" panose="020B0604020202020204" pitchFamily="34" charset="0"/>
        <a:buChar char="•"/>
        <a:defRPr sz="1920" kern="1200">
          <a:solidFill>
            <a:schemeClr val="tx1"/>
          </a:solidFill>
          <a:latin typeface="+mn-lt"/>
          <a:ea typeface="+mn-ea"/>
          <a:cs typeface="+mn-cs"/>
        </a:defRPr>
      </a:lvl6pPr>
      <a:lvl7pPr marL="3169920" indent="-243840" algn="l" defTabSz="975360" rtl="0" eaLnBrk="1" latinLnBrk="0" hangingPunct="1">
        <a:lnSpc>
          <a:spcPct val="90000"/>
        </a:lnSpc>
        <a:spcBef>
          <a:spcPct val="107000"/>
        </a:spcBef>
        <a:buFont typeface="Arial" panose="020B0604020202020204" pitchFamily="34" charset="0"/>
        <a:buChar char="•"/>
        <a:defRPr sz="1920" kern="1200">
          <a:solidFill>
            <a:schemeClr val="tx1"/>
          </a:solidFill>
          <a:latin typeface="+mn-lt"/>
          <a:ea typeface="+mn-ea"/>
          <a:cs typeface="+mn-cs"/>
        </a:defRPr>
      </a:lvl7pPr>
      <a:lvl8pPr marL="3657600" indent="-243840" algn="l" defTabSz="975360" rtl="0" eaLnBrk="1" latinLnBrk="0" hangingPunct="1">
        <a:lnSpc>
          <a:spcPct val="90000"/>
        </a:lnSpc>
        <a:spcBef>
          <a:spcPct val="107000"/>
        </a:spcBef>
        <a:buFont typeface="Arial" panose="020B0604020202020204" pitchFamily="34" charset="0"/>
        <a:buChar char="•"/>
        <a:defRPr sz="1920" kern="1200">
          <a:solidFill>
            <a:schemeClr val="tx1"/>
          </a:solidFill>
          <a:latin typeface="+mn-lt"/>
          <a:ea typeface="+mn-ea"/>
          <a:cs typeface="+mn-cs"/>
        </a:defRPr>
      </a:lvl8pPr>
      <a:lvl9pPr marL="4145280" indent="-243840" algn="l" defTabSz="975360" rtl="0" eaLnBrk="1" latinLnBrk="0" hangingPunct="1">
        <a:lnSpc>
          <a:spcPct val="90000"/>
        </a:lnSpc>
        <a:spcBef>
          <a:spcPct val="107000"/>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975360" rtl="0" eaLnBrk="1" latinLnBrk="0" hangingPunct="1">
        <a:defRPr sz="1920" kern="1200">
          <a:solidFill>
            <a:schemeClr val="tx1"/>
          </a:solidFill>
          <a:latin typeface="+mn-lt"/>
          <a:ea typeface="+mn-ea"/>
          <a:cs typeface="+mn-cs"/>
        </a:defRPr>
      </a:lvl1pPr>
      <a:lvl2pPr marL="487680" algn="l" defTabSz="975360" rtl="0" eaLnBrk="1" latinLnBrk="0" hangingPunct="1">
        <a:defRPr sz="1920" kern="1200">
          <a:solidFill>
            <a:schemeClr val="tx1"/>
          </a:solidFill>
          <a:latin typeface="+mn-lt"/>
          <a:ea typeface="+mn-ea"/>
          <a:cs typeface="+mn-cs"/>
        </a:defRPr>
      </a:lvl2pPr>
      <a:lvl3pPr marL="975360" algn="l" defTabSz="975360" rtl="0" eaLnBrk="1" latinLnBrk="0" hangingPunct="1">
        <a:defRPr sz="1920" kern="1200">
          <a:solidFill>
            <a:schemeClr val="tx1"/>
          </a:solidFill>
          <a:latin typeface="+mn-lt"/>
          <a:ea typeface="+mn-ea"/>
          <a:cs typeface="+mn-cs"/>
        </a:defRPr>
      </a:lvl3pPr>
      <a:lvl4pPr marL="1463040" algn="l" defTabSz="975360" rtl="0" eaLnBrk="1" latinLnBrk="0" hangingPunct="1">
        <a:defRPr sz="1920" kern="1200">
          <a:solidFill>
            <a:schemeClr val="tx1"/>
          </a:solidFill>
          <a:latin typeface="+mn-lt"/>
          <a:ea typeface="+mn-ea"/>
          <a:cs typeface="+mn-cs"/>
        </a:defRPr>
      </a:lvl4pPr>
      <a:lvl5pPr marL="1950720" algn="l" defTabSz="975360" rtl="0" eaLnBrk="1" latinLnBrk="0" hangingPunct="1">
        <a:defRPr sz="1920" kern="1200">
          <a:solidFill>
            <a:schemeClr val="tx1"/>
          </a:solidFill>
          <a:latin typeface="+mn-lt"/>
          <a:ea typeface="+mn-ea"/>
          <a:cs typeface="+mn-cs"/>
        </a:defRPr>
      </a:lvl5pPr>
      <a:lvl6pPr marL="2438400" algn="l" defTabSz="975360" rtl="0" eaLnBrk="1" latinLnBrk="0" hangingPunct="1">
        <a:defRPr sz="1920" kern="1200">
          <a:solidFill>
            <a:schemeClr val="tx1"/>
          </a:solidFill>
          <a:latin typeface="+mn-lt"/>
          <a:ea typeface="+mn-ea"/>
          <a:cs typeface="+mn-cs"/>
        </a:defRPr>
      </a:lvl6pPr>
      <a:lvl7pPr marL="2926080" algn="l" defTabSz="975360" rtl="0" eaLnBrk="1" latinLnBrk="0" hangingPunct="1">
        <a:defRPr sz="1920" kern="1200">
          <a:solidFill>
            <a:schemeClr val="tx1"/>
          </a:solidFill>
          <a:latin typeface="+mn-lt"/>
          <a:ea typeface="+mn-ea"/>
          <a:cs typeface="+mn-cs"/>
        </a:defRPr>
      </a:lvl7pPr>
      <a:lvl8pPr marL="3413760" algn="l" defTabSz="975360" rtl="0" eaLnBrk="1" latinLnBrk="0" hangingPunct="1">
        <a:defRPr sz="1920" kern="1200">
          <a:solidFill>
            <a:schemeClr val="tx1"/>
          </a:solidFill>
          <a:latin typeface="+mn-lt"/>
          <a:ea typeface="+mn-ea"/>
          <a:cs typeface="+mn-cs"/>
        </a:defRPr>
      </a:lvl8pPr>
      <a:lvl9pPr marL="3901440" algn="l" defTabSz="97536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slide" Target="slide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ounded Rectangle 3"/>
          <p:cNvSpPr/>
          <p:nvPr/>
        </p:nvSpPr>
        <p:spPr>
          <a:xfrm>
            <a:off x="3206115" y="1828800"/>
            <a:ext cx="4572000" cy="1828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828800" rIns="91440"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Open Most</a:t>
            </a:r>
            <a:endParaRPr lang="en-US">
              <a:solidFill>
                <a:schemeClr val="accent2">
                  <a:lumMod val="40000"/>
                  <a:lumOff val="60000"/>
                </a:schemeClr>
              </a:solidFill>
              <a:sym typeface="+mn-ea"/>
            </a:endParaRPr>
          </a:p>
          <a:p>
            <a:pPr lvl="0" algn="ctr">
              <a:buClrTx/>
              <a:buSzTx/>
              <a:buFontTx/>
            </a:pPr>
            <a:r>
              <a:rPr lang="en-US">
                <a:solidFill>
                  <a:schemeClr val="accent2">
                    <a:lumMod val="40000"/>
                    <a:lumOff val="60000"/>
                  </a:schemeClr>
                </a:solidFill>
                <a:sym typeface="+mn-ea"/>
              </a:rPr>
              <a:t>Recent Project Option</a:t>
            </a:r>
            <a:endParaRPr lang="en-US">
              <a:solidFill>
                <a:schemeClr val="accent2">
                  <a:lumMod val="40000"/>
                  <a:lumOff val="60000"/>
                </a:schemeClr>
              </a:solidFill>
              <a:sym typeface="+mn-ea"/>
            </a:endParaRPr>
          </a:p>
        </p:txBody>
      </p:sp>
      <p:sp>
        <p:nvSpPr>
          <p:cNvPr id="5" name="Rounded Rectangle 4">
            <a:hlinkClick r:id="rId1" action="ppaction://hlinksldjump"/>
          </p:cNvPr>
          <p:cNvSpPr/>
          <p:nvPr/>
        </p:nvSpPr>
        <p:spPr>
          <a:xfrm>
            <a:off x="3206115" y="4632960"/>
            <a:ext cx="1097280" cy="36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40000"/>
                    <a:lumOff val="60000"/>
                  </a:schemeClr>
                </a:solidFill>
                <a:sym typeface="+mn-ea"/>
              </a:rPr>
              <a:t>Archive</a:t>
            </a:r>
            <a:endParaRPr lang="en-US" sz="1000">
              <a:solidFill>
                <a:schemeClr val="accent2">
                  <a:lumMod val="40000"/>
                  <a:lumOff val="60000"/>
                </a:schemeClr>
              </a:solidFill>
              <a:sym typeface="+mn-ea"/>
            </a:endParaRPr>
          </a:p>
        </p:txBody>
      </p:sp>
      <p:sp>
        <p:nvSpPr>
          <p:cNvPr id="6" name="Rounded Rectangle 5"/>
          <p:cNvSpPr/>
          <p:nvPr/>
        </p:nvSpPr>
        <p:spPr>
          <a:xfrm>
            <a:off x="3206115" y="4216400"/>
            <a:ext cx="1097280" cy="36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40000"/>
                    <a:lumOff val="60000"/>
                  </a:schemeClr>
                </a:solidFill>
                <a:sym typeface="+mn-ea"/>
              </a:rPr>
              <a:t>Patterns</a:t>
            </a:r>
            <a:endParaRPr lang="en-US" sz="1000">
              <a:solidFill>
                <a:schemeClr val="accent2">
                  <a:lumMod val="40000"/>
                  <a:lumOff val="60000"/>
                </a:schemeClr>
              </a:solidFill>
              <a:sym typeface="+mn-ea"/>
            </a:endParaRPr>
          </a:p>
        </p:txBody>
      </p:sp>
      <p:sp>
        <p:nvSpPr>
          <p:cNvPr id="7" name="Rounded Rectangle 6"/>
          <p:cNvSpPr/>
          <p:nvPr/>
        </p:nvSpPr>
        <p:spPr>
          <a:xfrm>
            <a:off x="5522595" y="4211955"/>
            <a:ext cx="1097280" cy="36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40000"/>
                    <a:lumOff val="60000"/>
                  </a:schemeClr>
                </a:solidFill>
                <a:sym typeface="+mn-ea"/>
              </a:rPr>
              <a:t>Yarns</a:t>
            </a:r>
            <a:endParaRPr lang="en-US" sz="1000">
              <a:solidFill>
                <a:schemeClr val="accent2">
                  <a:lumMod val="40000"/>
                  <a:lumOff val="60000"/>
                </a:schemeClr>
              </a:solidFill>
              <a:sym typeface="+mn-ea"/>
            </a:endParaRPr>
          </a:p>
        </p:txBody>
      </p:sp>
      <p:sp>
        <p:nvSpPr>
          <p:cNvPr id="8" name="Rounded Rectangle 7"/>
          <p:cNvSpPr/>
          <p:nvPr/>
        </p:nvSpPr>
        <p:spPr>
          <a:xfrm>
            <a:off x="5522595" y="4625340"/>
            <a:ext cx="1097280" cy="36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40000"/>
                    <a:lumOff val="60000"/>
                  </a:schemeClr>
                </a:solidFill>
                <a:sym typeface="+mn-ea"/>
              </a:rPr>
              <a:t>Tools</a:t>
            </a:r>
            <a:endParaRPr lang="en-US" sz="1000">
              <a:solidFill>
                <a:schemeClr val="accent2">
                  <a:lumMod val="40000"/>
                  <a:lumOff val="60000"/>
                </a:schemeClr>
              </a:solidFill>
              <a:sym typeface="+mn-ea"/>
            </a:endParaRPr>
          </a:p>
        </p:txBody>
      </p:sp>
      <p:sp>
        <p:nvSpPr>
          <p:cNvPr id="9" name="Rounded Rectangle 8"/>
          <p:cNvSpPr/>
          <p:nvPr/>
        </p:nvSpPr>
        <p:spPr>
          <a:xfrm>
            <a:off x="6680835" y="4213860"/>
            <a:ext cx="1097280" cy="36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40000"/>
                    <a:lumOff val="60000"/>
                  </a:schemeClr>
                </a:solidFill>
                <a:sym typeface="+mn-ea"/>
              </a:rPr>
              <a:t>Notions</a:t>
            </a:r>
            <a:endParaRPr lang="en-US" sz="1000">
              <a:solidFill>
                <a:schemeClr val="accent2">
                  <a:lumMod val="40000"/>
                  <a:lumOff val="60000"/>
                </a:schemeClr>
              </a:solidFill>
              <a:sym typeface="+mn-ea"/>
            </a:endParaRPr>
          </a:p>
        </p:txBody>
      </p:sp>
      <p:sp>
        <p:nvSpPr>
          <p:cNvPr id="10" name="Rounded Rectangle 9"/>
          <p:cNvSpPr/>
          <p:nvPr/>
        </p:nvSpPr>
        <p:spPr>
          <a:xfrm>
            <a:off x="3206115" y="3708400"/>
            <a:ext cx="226187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Project List</a:t>
            </a:r>
            <a:endParaRPr lang="en-US">
              <a:solidFill>
                <a:schemeClr val="accent2">
                  <a:lumMod val="40000"/>
                  <a:lumOff val="60000"/>
                </a:schemeClr>
              </a:solidFill>
              <a:sym typeface="+mn-ea"/>
            </a:endParaRPr>
          </a:p>
        </p:txBody>
      </p:sp>
      <p:sp>
        <p:nvSpPr>
          <p:cNvPr id="11" name="Rounded Rectangle 10"/>
          <p:cNvSpPr/>
          <p:nvPr/>
        </p:nvSpPr>
        <p:spPr>
          <a:xfrm>
            <a:off x="5522595" y="3707130"/>
            <a:ext cx="226314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New Project</a:t>
            </a:r>
            <a:endParaRPr lang="en-US">
              <a:solidFill>
                <a:schemeClr val="accent2">
                  <a:lumMod val="40000"/>
                  <a:lumOff val="60000"/>
                </a:schemeClr>
              </a:solidFill>
              <a:sym typeface="+mn-ea"/>
            </a:endParaRPr>
          </a:p>
        </p:txBody>
      </p:sp>
      <p:sp>
        <p:nvSpPr>
          <p:cNvPr id="12" name="Rounded Rectangle 11"/>
          <p:cNvSpPr/>
          <p:nvPr/>
        </p:nvSpPr>
        <p:spPr>
          <a:xfrm>
            <a:off x="3288030" y="1908810"/>
            <a:ext cx="1729740" cy="16662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solidFill>
                  <a:schemeClr val="accent2">
                    <a:lumMod val="20000"/>
                    <a:lumOff val="80000"/>
                  </a:schemeClr>
                </a:solidFill>
              </a:rPr>
              <a:t>Image of</a:t>
            </a:r>
            <a:endParaRPr lang="en-US">
              <a:solidFill>
                <a:schemeClr val="accent2">
                  <a:lumMod val="20000"/>
                  <a:lumOff val="80000"/>
                </a:schemeClr>
              </a:solidFill>
            </a:endParaRPr>
          </a:p>
          <a:p>
            <a:pPr algn="ctr"/>
            <a:r>
              <a:rPr lang="en-US">
                <a:solidFill>
                  <a:schemeClr val="accent2">
                    <a:lumMod val="20000"/>
                    <a:lumOff val="80000"/>
                  </a:schemeClr>
                </a:solidFill>
              </a:rPr>
              <a:t>Most Recent</a:t>
            </a:r>
            <a:endParaRPr lang="en-US">
              <a:solidFill>
                <a:schemeClr val="accent2">
                  <a:lumMod val="20000"/>
                  <a:lumOff val="80000"/>
                </a:schemeClr>
              </a:solidFill>
            </a:endParaRPr>
          </a:p>
          <a:p>
            <a:pPr algn="ctr"/>
            <a:r>
              <a:rPr lang="en-US">
                <a:solidFill>
                  <a:schemeClr val="accent2">
                    <a:lumMod val="20000"/>
                    <a:lumOff val="80000"/>
                  </a:schemeClr>
                </a:solidFill>
              </a:rPr>
              <a:t>Project</a:t>
            </a:r>
            <a:endParaRPr lang="en-US">
              <a:solidFill>
                <a:schemeClr val="accent2">
                  <a:lumMod val="20000"/>
                  <a:lumOff val="80000"/>
                </a:schemeClr>
              </a:solidFill>
            </a:endParaRPr>
          </a:p>
        </p:txBody>
      </p:sp>
      <p:sp>
        <p:nvSpPr>
          <p:cNvPr id="13" name="Rounded Rectangle 12"/>
          <p:cNvSpPr/>
          <p:nvPr/>
        </p:nvSpPr>
        <p:spPr>
          <a:xfrm>
            <a:off x="4364355" y="4216400"/>
            <a:ext cx="1097280" cy="36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40000"/>
                    <a:lumOff val="60000"/>
                  </a:schemeClr>
                </a:solidFill>
                <a:sym typeface="+mn-ea"/>
              </a:rPr>
              <a:t>Terms</a:t>
            </a:r>
            <a:endParaRPr lang="en-US" sz="1000">
              <a:solidFill>
                <a:schemeClr val="accent2">
                  <a:lumMod val="40000"/>
                  <a:lumOff val="60000"/>
                </a:schemeClr>
              </a:solidFill>
              <a:sym typeface="+mn-ea"/>
            </a:endParaRPr>
          </a:p>
        </p:txBody>
      </p:sp>
      <p:sp>
        <p:nvSpPr>
          <p:cNvPr id="80" name="Title 79"/>
          <p:cNvSpPr>
            <a:spLocks noGrp="1"/>
          </p:cNvSpPr>
          <p:nvPr>
            <p:ph type="title"/>
          </p:nvPr>
        </p:nvSpPr>
        <p:spPr>
          <a:xfrm>
            <a:off x="822960" y="38100"/>
            <a:ext cx="9464040" cy="822960"/>
          </a:xfrm>
          <a:ln w="28575" cmpd="dbl">
            <a:solidFill>
              <a:schemeClr val="accent1">
                <a:lumMod val="50000"/>
              </a:schemeClr>
            </a:solidFill>
            <a:prstDash val="solid"/>
          </a:ln>
        </p:spPr>
        <p:txBody>
          <a:bodyPr vert="horz" lIns="91440" tIns="45720" rIns="91440" bIns="45720" rtlCol="0" anchor="t" anchorCtr="1">
            <a:normAutofit/>
          </a:bodyPr>
          <a:p>
            <a:pPr lvl="0" algn="l">
              <a:buClrTx/>
              <a:buSzTx/>
              <a:buFontTx/>
            </a:pPr>
            <a:r>
              <a:rPr lang="en-US">
                <a:solidFill>
                  <a:schemeClr val="accent1">
                    <a:lumMod val="50000"/>
                  </a:schemeClr>
                </a:solidFill>
                <a:sym typeface="+mn-ea"/>
              </a:rPr>
              <a:t>Home Screen</a:t>
            </a:r>
            <a:endParaRPr lang="en-US">
              <a:solidFill>
                <a:schemeClr val="accent1">
                  <a:lumMod val="50000"/>
                </a:schemeClr>
              </a:solidFill>
              <a:sym typeface="+mn-ea"/>
            </a:endParaRPr>
          </a:p>
        </p:txBody>
      </p:sp>
      <p:sp>
        <p:nvSpPr>
          <p:cNvPr id="71" name="Text Box 70"/>
          <p:cNvSpPr txBox="1"/>
          <p:nvPr/>
        </p:nvSpPr>
        <p:spPr>
          <a:xfrm>
            <a:off x="8249920" y="1696085"/>
            <a:ext cx="1913255" cy="44831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Shows name of most recently opened project</a:t>
            </a:r>
            <a:endParaRPr lang="en-US" sz="1200">
              <a:solidFill>
                <a:schemeClr val="accent1">
                  <a:lumMod val="50000"/>
                </a:schemeClr>
              </a:solidFill>
              <a:sym typeface="+mn-ea"/>
            </a:endParaRPr>
          </a:p>
        </p:txBody>
      </p:sp>
      <p:cxnSp>
        <p:nvCxnSpPr>
          <p:cNvPr id="40" name="Straight Connector 39"/>
          <p:cNvCxnSpPr>
            <a:stCxn id="4" idx="3"/>
            <a:endCxn id="71" idx="1"/>
          </p:cNvCxnSpPr>
          <p:nvPr/>
        </p:nvCxnSpPr>
        <p:spPr>
          <a:xfrm flipV="1">
            <a:off x="7778115" y="1920240"/>
            <a:ext cx="471805" cy="82296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2" name="Rounded Rectangle 1"/>
          <p:cNvSpPr/>
          <p:nvPr/>
        </p:nvSpPr>
        <p:spPr>
          <a:xfrm>
            <a:off x="6680835" y="4629150"/>
            <a:ext cx="1097280" cy="36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40000"/>
                    <a:lumOff val="60000"/>
                  </a:schemeClr>
                </a:solidFill>
                <a:sym typeface="+mn-ea"/>
              </a:rPr>
              <a:t>Kits</a:t>
            </a:r>
            <a:endParaRPr lang="en-US" sz="1000">
              <a:solidFill>
                <a:schemeClr val="accent2">
                  <a:lumMod val="40000"/>
                  <a:lumOff val="60000"/>
                </a:schemeClr>
              </a:solidFill>
              <a:sym typeface="+mn-ea"/>
            </a:endParaRPr>
          </a:p>
        </p:txBody>
      </p:sp>
      <p:sp>
        <p:nvSpPr>
          <p:cNvPr id="3" name="Rounded Rectangle 2"/>
          <p:cNvSpPr/>
          <p:nvPr/>
        </p:nvSpPr>
        <p:spPr>
          <a:xfrm>
            <a:off x="4364355" y="4625340"/>
            <a:ext cx="1097280" cy="36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40000"/>
                    <a:lumOff val="60000"/>
                  </a:schemeClr>
                </a:solidFill>
                <a:sym typeface="+mn-ea"/>
              </a:rPr>
              <a:t>Settings</a:t>
            </a:r>
            <a:endParaRPr lang="en-US" sz="1000">
              <a:solidFill>
                <a:schemeClr val="accent2">
                  <a:lumMod val="40000"/>
                  <a:lumOff val="60000"/>
                </a:schemeClr>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ph type="title"/>
          </p:nvPr>
        </p:nvSpPr>
        <p:spPr>
          <a:xfrm>
            <a:off x="822960" y="38100"/>
            <a:ext cx="9464040" cy="822960"/>
          </a:xfrm>
          <a:ln w="28575" cmpd="dbl">
            <a:solidFill>
              <a:schemeClr val="accent1">
                <a:lumMod val="50000"/>
              </a:schemeClr>
            </a:solidFill>
            <a:prstDash val="solid"/>
          </a:ln>
        </p:spPr>
        <p:txBody>
          <a:bodyPr vert="horz" lIns="91440" tIns="45720" rIns="91440" bIns="45720" rtlCol="0" anchor="t" anchorCtr="1">
            <a:normAutofit/>
          </a:bodyPr>
          <a:p>
            <a:pPr lvl="0" algn="l">
              <a:buClrTx/>
              <a:buSzTx/>
              <a:buFontTx/>
            </a:pPr>
            <a:r>
              <a:rPr lang="en-US">
                <a:solidFill>
                  <a:schemeClr val="accent1">
                    <a:lumMod val="50000"/>
                  </a:schemeClr>
                </a:solidFill>
                <a:sym typeface="+mn-ea"/>
              </a:rPr>
              <a:t>Settings</a:t>
            </a:r>
            <a:endParaRPr lang="en-US">
              <a:solidFill>
                <a:schemeClr val="accent1">
                  <a:lumMod val="50000"/>
                </a:schemeClr>
              </a:solidFill>
              <a:sym typeface="+mn-ea"/>
            </a:endParaRPr>
          </a:p>
        </p:txBody>
      </p:sp>
      <p:sp>
        <p:nvSpPr>
          <p:cNvPr id="10" name="Rounded Rectangle 9"/>
          <p:cNvSpPr/>
          <p:nvPr/>
        </p:nvSpPr>
        <p:spPr>
          <a:xfrm>
            <a:off x="4457700" y="352806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Themes</a:t>
            </a:r>
            <a:endParaRPr lang="en-US">
              <a:solidFill>
                <a:schemeClr val="accent2">
                  <a:lumMod val="40000"/>
                  <a:lumOff val="60000"/>
                </a:schemeClr>
              </a:solidFill>
              <a:sym typeface="+mn-ea"/>
            </a:endParaRPr>
          </a:p>
        </p:txBody>
      </p:sp>
      <p:sp>
        <p:nvSpPr>
          <p:cNvPr id="3" name="Rounded Rectangle 2"/>
          <p:cNvSpPr/>
          <p:nvPr/>
        </p:nvSpPr>
        <p:spPr>
          <a:xfrm>
            <a:off x="4457700" y="405511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Colors</a:t>
            </a:r>
            <a:endParaRPr lang="en-US">
              <a:solidFill>
                <a:schemeClr val="accent2">
                  <a:lumMod val="40000"/>
                  <a:lumOff val="60000"/>
                </a:schemeClr>
              </a:solidFill>
              <a:sym typeface="+mn-ea"/>
            </a:endParaRPr>
          </a:p>
        </p:txBody>
      </p:sp>
      <p:sp>
        <p:nvSpPr>
          <p:cNvPr id="5" name="Rounded Rectangle 4"/>
          <p:cNvSpPr/>
          <p:nvPr/>
        </p:nvSpPr>
        <p:spPr>
          <a:xfrm>
            <a:off x="4457700" y="300101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Sources</a:t>
            </a:r>
            <a:endParaRPr lang="en-US">
              <a:solidFill>
                <a:schemeClr val="accent2">
                  <a:lumMod val="40000"/>
                  <a:lumOff val="60000"/>
                </a:schemeClr>
              </a:solidFill>
              <a:sym typeface="+mn-ea"/>
            </a:endParaRPr>
          </a:p>
        </p:txBody>
      </p:sp>
      <p:sp>
        <p:nvSpPr>
          <p:cNvPr id="6" name="Rounded Rectangle 5"/>
          <p:cNvSpPr/>
          <p:nvPr/>
        </p:nvSpPr>
        <p:spPr>
          <a:xfrm>
            <a:off x="4457700" y="247396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Brands</a:t>
            </a:r>
            <a:endParaRPr lang="en-US">
              <a:solidFill>
                <a:schemeClr val="accent2">
                  <a:lumMod val="40000"/>
                  <a:lumOff val="60000"/>
                </a:schemeClr>
              </a:solidFill>
              <a:sym typeface="+mn-ea"/>
            </a:endParaRPr>
          </a:p>
        </p:txBody>
      </p:sp>
      <p:sp>
        <p:nvSpPr>
          <p:cNvPr id="8" name="Rounded Rectangle 7"/>
          <p:cNvSpPr/>
          <p:nvPr/>
        </p:nvSpPr>
        <p:spPr>
          <a:xfrm>
            <a:off x="4457700" y="458216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Fiber Type</a:t>
            </a:r>
            <a:endParaRPr lang="en-US">
              <a:solidFill>
                <a:schemeClr val="accent2">
                  <a:lumMod val="40000"/>
                  <a:lumOff val="60000"/>
                </a:schemeClr>
              </a:solidFill>
              <a:sym typeface="+mn-ea"/>
            </a:endParaRPr>
          </a:p>
        </p:txBody>
      </p:sp>
      <p:sp>
        <p:nvSpPr>
          <p:cNvPr id="2" name="Rounded Rectangle 1"/>
          <p:cNvSpPr/>
          <p:nvPr/>
        </p:nvSpPr>
        <p:spPr>
          <a:xfrm>
            <a:off x="4457700" y="510921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Terms</a:t>
            </a:r>
            <a:endParaRPr lang="en-US">
              <a:solidFill>
                <a:schemeClr val="accent2">
                  <a:lumMod val="40000"/>
                  <a:lumOff val="60000"/>
                </a:schemeClr>
              </a:solidFill>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ph type="title"/>
          </p:nvPr>
        </p:nvSpPr>
        <p:spPr>
          <a:xfrm>
            <a:off x="822960" y="38100"/>
            <a:ext cx="9464040" cy="822960"/>
          </a:xfrm>
          <a:ln w="28575" cmpd="dbl">
            <a:solidFill>
              <a:schemeClr val="accent1">
                <a:lumMod val="50000"/>
              </a:schemeClr>
            </a:solidFill>
            <a:prstDash val="solid"/>
          </a:ln>
        </p:spPr>
        <p:txBody>
          <a:bodyPr anchor="t" anchorCtr="1">
            <a:normAutofit/>
          </a:bodyPr>
          <a:p>
            <a:r>
              <a:rPr lang="en-US">
                <a:solidFill>
                  <a:schemeClr val="accent1">
                    <a:lumMod val="50000"/>
                  </a:schemeClr>
                </a:solidFill>
                <a:sym typeface="+mn-ea"/>
              </a:rPr>
              <a:t>Project List Page</a:t>
            </a:r>
            <a:endParaRPr lang="en-US">
              <a:solidFill>
                <a:schemeClr val="accent1">
                  <a:lumMod val="50000"/>
                </a:schemeClr>
              </a:solidFill>
              <a:sym typeface="+mn-ea"/>
            </a:endParaRPr>
          </a:p>
        </p:txBody>
      </p:sp>
      <p:sp>
        <p:nvSpPr>
          <p:cNvPr id="5" name="Rounded Rectangle 4"/>
          <p:cNvSpPr/>
          <p:nvPr/>
        </p:nvSpPr>
        <p:spPr>
          <a:xfrm>
            <a:off x="3251835" y="2579370"/>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6" name="Rounded Rectangle 5"/>
          <p:cNvSpPr/>
          <p:nvPr/>
        </p:nvSpPr>
        <p:spPr>
          <a:xfrm>
            <a:off x="3316605" y="2645410"/>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8" name="Rounded Rectangle 27"/>
          <p:cNvSpPr/>
          <p:nvPr/>
        </p:nvSpPr>
        <p:spPr>
          <a:xfrm>
            <a:off x="3251835" y="3334385"/>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29" name="Rounded Rectangle 28"/>
          <p:cNvSpPr/>
          <p:nvPr/>
        </p:nvSpPr>
        <p:spPr>
          <a:xfrm>
            <a:off x="3316605" y="3400425"/>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1" name="Rounded Rectangle 30"/>
          <p:cNvSpPr/>
          <p:nvPr/>
        </p:nvSpPr>
        <p:spPr>
          <a:xfrm>
            <a:off x="3251835" y="4089400"/>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32" name="Rounded Rectangle 31"/>
          <p:cNvSpPr/>
          <p:nvPr/>
        </p:nvSpPr>
        <p:spPr>
          <a:xfrm>
            <a:off x="3316605" y="4155440"/>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7" name="Rounded Rectangle 36"/>
          <p:cNvSpPr/>
          <p:nvPr/>
        </p:nvSpPr>
        <p:spPr>
          <a:xfrm>
            <a:off x="3251835" y="4844415"/>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38" name="Rounded Rectangle 37"/>
          <p:cNvSpPr/>
          <p:nvPr/>
        </p:nvSpPr>
        <p:spPr>
          <a:xfrm>
            <a:off x="3316605" y="4910455"/>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0" name="Rounded Rectangle 39"/>
          <p:cNvSpPr/>
          <p:nvPr/>
        </p:nvSpPr>
        <p:spPr>
          <a:xfrm>
            <a:off x="3251835" y="5599430"/>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41" name="Rounded Rectangle 40"/>
          <p:cNvSpPr/>
          <p:nvPr/>
        </p:nvSpPr>
        <p:spPr>
          <a:xfrm>
            <a:off x="3316605" y="5665470"/>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3" name="Rounded Rectangle 42"/>
          <p:cNvSpPr/>
          <p:nvPr/>
        </p:nvSpPr>
        <p:spPr>
          <a:xfrm>
            <a:off x="3251835" y="6354445"/>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44" name="Rounded Rectangle 43"/>
          <p:cNvSpPr/>
          <p:nvPr/>
        </p:nvSpPr>
        <p:spPr>
          <a:xfrm>
            <a:off x="3316605" y="6420485"/>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63" name="Text Box 62"/>
          <p:cNvSpPr txBox="1"/>
          <p:nvPr/>
        </p:nvSpPr>
        <p:spPr>
          <a:xfrm>
            <a:off x="294005" y="1318260"/>
            <a:ext cx="2387600" cy="184404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700">
                <a:solidFill>
                  <a:schemeClr val="accent1">
                    <a:lumMod val="50000"/>
                  </a:schemeClr>
                </a:solidFill>
                <a:sym typeface="+mn-ea"/>
              </a:rPr>
              <a:t>Sorted by most recent by default, ability to sort</a:t>
            </a:r>
            <a:r>
              <a:rPr lang="en-US" sz="1700">
                <a:solidFill>
                  <a:schemeClr val="accent1">
                    <a:lumMod val="50000"/>
                  </a:schemeClr>
                </a:solidFill>
                <a:sym typeface="+mn-ea"/>
              </a:rPr>
              <a:t>/filter</a:t>
            </a:r>
            <a:r>
              <a:rPr lang="en-US" sz="1700">
                <a:solidFill>
                  <a:schemeClr val="accent1">
                    <a:lumMod val="50000"/>
                  </a:schemeClr>
                </a:solidFill>
                <a:sym typeface="+mn-ea"/>
              </a:rPr>
              <a:t> by pattern theme, main color, difficulty, completion percentage, whether or not complete</a:t>
            </a:r>
            <a:endParaRPr lang="en-US" sz="1700">
              <a:solidFill>
                <a:schemeClr val="accent1">
                  <a:lumMod val="50000"/>
                </a:schemeClr>
              </a:solidFill>
              <a:sym typeface="+mn-ea"/>
            </a:endParaRPr>
          </a:p>
        </p:txBody>
      </p:sp>
      <p:sp>
        <p:nvSpPr>
          <p:cNvPr id="64" name="Rounded Rectangle 63"/>
          <p:cNvSpPr/>
          <p:nvPr/>
        </p:nvSpPr>
        <p:spPr>
          <a:xfrm>
            <a:off x="3251835" y="1433830"/>
            <a:ext cx="1784985"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Filter </a:t>
            </a:r>
            <a:r>
              <a:rPr lang="en-US">
                <a:solidFill>
                  <a:schemeClr val="accent2">
                    <a:lumMod val="40000"/>
                    <a:lumOff val="60000"/>
                  </a:schemeClr>
                </a:solidFill>
                <a:sym typeface="+mn-ea"/>
              </a:rPr>
              <a:t>By</a:t>
            </a:r>
            <a:endParaRPr lang="en-US">
              <a:solidFill>
                <a:schemeClr val="accent2">
                  <a:lumMod val="40000"/>
                  <a:lumOff val="60000"/>
                </a:schemeClr>
              </a:solidFill>
              <a:sym typeface="+mn-ea"/>
            </a:endParaRPr>
          </a:p>
        </p:txBody>
      </p:sp>
      <p:sp>
        <p:nvSpPr>
          <p:cNvPr id="66" name="Rounded Rectangle 65"/>
          <p:cNvSpPr/>
          <p:nvPr/>
        </p:nvSpPr>
        <p:spPr>
          <a:xfrm>
            <a:off x="6726555" y="1433830"/>
            <a:ext cx="109728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New</a:t>
            </a:r>
            <a:endParaRPr lang="en-US">
              <a:solidFill>
                <a:schemeClr val="accent2">
                  <a:lumMod val="40000"/>
                  <a:lumOff val="60000"/>
                </a:schemeClr>
              </a:solidFill>
              <a:sym typeface="+mn-ea"/>
            </a:endParaRPr>
          </a:p>
        </p:txBody>
      </p:sp>
      <p:sp>
        <p:nvSpPr>
          <p:cNvPr id="69" name="Rounded Rectangle 68"/>
          <p:cNvSpPr/>
          <p:nvPr/>
        </p:nvSpPr>
        <p:spPr>
          <a:xfrm>
            <a:off x="3238500" y="209804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Crochet Patterns</a:t>
            </a:r>
            <a:endParaRPr lang="en-US">
              <a:solidFill>
                <a:schemeClr val="accent2">
                  <a:lumMod val="40000"/>
                  <a:lumOff val="60000"/>
                </a:schemeClr>
              </a:solidFill>
              <a:sym typeface="+mn-ea"/>
            </a:endParaRPr>
          </a:p>
        </p:txBody>
      </p:sp>
      <p:sp>
        <p:nvSpPr>
          <p:cNvPr id="70" name="Rounded Rectangle 69"/>
          <p:cNvSpPr/>
          <p:nvPr/>
        </p:nvSpPr>
        <p:spPr>
          <a:xfrm>
            <a:off x="5629275" y="2098675"/>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Knit Patterns</a:t>
            </a:r>
            <a:endParaRPr lang="en-US">
              <a:solidFill>
                <a:schemeClr val="accent2">
                  <a:lumMod val="40000"/>
                  <a:lumOff val="60000"/>
                </a:schemeClr>
              </a:solidFill>
              <a:sym typeface="+mn-ea"/>
            </a:endParaRPr>
          </a:p>
        </p:txBody>
      </p:sp>
      <p:sp>
        <p:nvSpPr>
          <p:cNvPr id="71" name="Text Box 70"/>
          <p:cNvSpPr txBox="1"/>
          <p:nvPr/>
        </p:nvSpPr>
        <p:spPr>
          <a:xfrm>
            <a:off x="8439150" y="1318260"/>
            <a:ext cx="1080135" cy="75565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Filters by Pattern Type</a:t>
            </a:r>
            <a:r>
              <a:rPr lang="en-US" sz="1200">
                <a:solidFill>
                  <a:schemeClr val="accent1">
                    <a:lumMod val="50000"/>
                  </a:schemeClr>
                </a:solidFill>
                <a:sym typeface="+mn-ea"/>
              </a:rPr>
              <a:t>, toggleable.</a:t>
            </a:r>
            <a:endParaRPr lang="en-US" sz="1200">
              <a:solidFill>
                <a:schemeClr val="accent1">
                  <a:lumMod val="50000"/>
                </a:schemeClr>
              </a:solidFill>
              <a:sym typeface="+mn-ea"/>
            </a:endParaRPr>
          </a:p>
        </p:txBody>
      </p:sp>
      <p:cxnSp>
        <p:nvCxnSpPr>
          <p:cNvPr id="82" name="Straight Connector 81"/>
          <p:cNvCxnSpPr>
            <a:stCxn id="71" idx="1"/>
            <a:endCxn id="69" idx="3"/>
          </p:cNvCxnSpPr>
          <p:nvPr/>
        </p:nvCxnSpPr>
        <p:spPr>
          <a:xfrm flipH="1">
            <a:off x="5433060" y="1696085"/>
            <a:ext cx="3006090" cy="6305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83" name="Straight Connector 82"/>
          <p:cNvCxnSpPr>
            <a:stCxn id="71" idx="1"/>
            <a:endCxn id="70" idx="3"/>
          </p:cNvCxnSpPr>
          <p:nvPr/>
        </p:nvCxnSpPr>
        <p:spPr>
          <a:xfrm flipH="1">
            <a:off x="7823835" y="1696085"/>
            <a:ext cx="615315" cy="63119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5" name="Rounded Rectangle 84"/>
          <p:cNvSpPr/>
          <p:nvPr/>
        </p:nvSpPr>
        <p:spPr>
          <a:xfrm>
            <a:off x="5062855" y="1433830"/>
            <a:ext cx="163703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Sort By</a:t>
            </a:r>
            <a:endParaRPr lang="en-US">
              <a:solidFill>
                <a:schemeClr val="accent2">
                  <a:lumMod val="40000"/>
                  <a:lumOff val="60000"/>
                </a:schemeClr>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Freeform 6"/>
          <p:cNvSpPr/>
          <p:nvPr/>
        </p:nvSpPr>
        <p:spPr>
          <a:xfrm>
            <a:off x="3133725" y="3190875"/>
            <a:ext cx="3009900" cy="3230245"/>
          </a:xfrm>
          <a:custGeom>
            <a:avLst/>
            <a:gdLst>
              <a:gd name="connsiteX0" fmla="*/ 0 w 4740"/>
              <a:gd name="connsiteY0" fmla="*/ 450 h 7200"/>
              <a:gd name="connsiteX1" fmla="*/ 779 w 4740"/>
              <a:gd name="connsiteY1" fmla="*/ 1 h 7200"/>
              <a:gd name="connsiteX2" fmla="*/ 4110 w 4740"/>
              <a:gd name="connsiteY2" fmla="*/ 0 h 7200"/>
              <a:gd name="connsiteX3" fmla="*/ 4740 w 4740"/>
              <a:gd name="connsiteY3" fmla="*/ 540 h 7200"/>
              <a:gd name="connsiteX4" fmla="*/ 4740 w 4740"/>
              <a:gd name="connsiteY4" fmla="*/ 6540 h 7200"/>
              <a:gd name="connsiteX5" fmla="*/ 4200 w 4740"/>
              <a:gd name="connsiteY5" fmla="*/ 7200 h 7200"/>
              <a:gd name="connsiteX6" fmla="*/ 660 w 4740"/>
              <a:gd name="connsiteY6" fmla="*/ 7200 h 7200"/>
              <a:gd name="connsiteX7" fmla="*/ 0 w 4740"/>
              <a:gd name="connsiteY7" fmla="*/ 6660 h 7200"/>
              <a:gd name="connsiteX8" fmla="*/ 0 w 4740"/>
              <a:gd name="connsiteY8" fmla="*/ 450 h 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0" h="7200">
                <a:moveTo>
                  <a:pt x="0" y="450"/>
                </a:moveTo>
                <a:cubicBezTo>
                  <a:pt x="0" y="13"/>
                  <a:pt x="342" y="1"/>
                  <a:pt x="779" y="1"/>
                </a:cubicBezTo>
                <a:lnTo>
                  <a:pt x="4110" y="0"/>
                </a:lnTo>
                <a:cubicBezTo>
                  <a:pt x="4547" y="0"/>
                  <a:pt x="4740" y="103"/>
                  <a:pt x="4740" y="540"/>
                </a:cubicBezTo>
                <a:lnTo>
                  <a:pt x="4740" y="6540"/>
                </a:lnTo>
                <a:cubicBezTo>
                  <a:pt x="4740" y="6977"/>
                  <a:pt x="4637" y="7200"/>
                  <a:pt x="4200" y="7200"/>
                </a:cubicBezTo>
                <a:lnTo>
                  <a:pt x="660" y="7200"/>
                </a:lnTo>
                <a:cubicBezTo>
                  <a:pt x="223" y="7200"/>
                  <a:pt x="0" y="7097"/>
                  <a:pt x="0" y="6660"/>
                </a:cubicBezTo>
                <a:lnTo>
                  <a:pt x="0" y="45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a:t>
            </a:r>
            <a:endParaRPr lang="en-US">
              <a:solidFill>
                <a:schemeClr val="accent2">
                  <a:lumMod val="40000"/>
                  <a:lumOff val="60000"/>
                </a:schemeClr>
              </a:solidFill>
              <a:sym typeface="+mn-ea"/>
            </a:endParaRPr>
          </a:p>
        </p:txBody>
      </p:sp>
      <p:sp>
        <p:nvSpPr>
          <p:cNvPr id="8" name="Text Box 7"/>
          <p:cNvSpPr txBox="1"/>
          <p:nvPr/>
        </p:nvSpPr>
        <p:spPr>
          <a:xfrm>
            <a:off x="510540" y="2131695"/>
            <a:ext cx="1958340" cy="25450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Pattern rows/rounds listed with checkboxes. As the boxes are ticked, the stitch count from each is added to the total completed stitches, and determines completion percentage. Some patterns have rows/rounds that are the same, and are shown in 5-7 format. A box for each row would be nice.</a:t>
            </a:r>
            <a:r>
              <a:rPr lang="en-US" sz="1200">
                <a:solidFill>
                  <a:schemeClr val="accent1">
                    <a:lumMod val="50000"/>
                  </a:schemeClr>
                </a:solidFill>
                <a:sym typeface="+mn-ea"/>
              </a:rPr>
              <a:t> Box expands to show whole pattern if necessary.</a:t>
            </a:r>
            <a:endParaRPr lang="en-US" sz="1200">
              <a:solidFill>
                <a:schemeClr val="accent1">
                  <a:lumMod val="50000"/>
                </a:schemeClr>
              </a:solidFill>
              <a:sym typeface="+mn-ea"/>
            </a:endParaRPr>
          </a:p>
        </p:txBody>
      </p:sp>
      <p:sp>
        <p:nvSpPr>
          <p:cNvPr id="11" name="Text Box 10"/>
          <p:cNvSpPr txBox="1"/>
          <p:nvPr/>
        </p:nvSpPr>
        <p:spPr>
          <a:xfrm>
            <a:off x="8291195" y="2017395"/>
            <a:ext cx="1675130" cy="8712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Timer with</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Play/Pause</a:t>
            </a:r>
            <a:r>
              <a:rPr lang="en-US" sz="1200">
                <a:solidFill>
                  <a:schemeClr val="accent1">
                    <a:lumMod val="50000"/>
                  </a:schemeClr>
                </a:solidFill>
                <a:sym typeface="+mn-ea"/>
              </a:rPr>
              <a:t> </a:t>
            </a:r>
            <a:r>
              <a:rPr lang="en-US" sz="1200">
                <a:solidFill>
                  <a:schemeClr val="accent1">
                    <a:lumMod val="50000"/>
                  </a:schemeClr>
                </a:solidFill>
                <a:sym typeface="+mn-ea"/>
              </a:rPr>
              <a:t>option.</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Shows total time spent on piece.</a:t>
            </a:r>
            <a:endParaRPr lang="en-US" sz="1200">
              <a:solidFill>
                <a:schemeClr val="accent1">
                  <a:lumMod val="50000"/>
                </a:schemeClr>
              </a:solidFill>
              <a:sym typeface="+mn-ea"/>
            </a:endParaRPr>
          </a:p>
        </p:txBody>
      </p:sp>
      <p:grpSp>
        <p:nvGrpSpPr>
          <p:cNvPr id="45" name="Group 44"/>
          <p:cNvGrpSpPr/>
          <p:nvPr/>
        </p:nvGrpSpPr>
        <p:grpSpPr>
          <a:xfrm>
            <a:off x="3125470" y="1623060"/>
            <a:ext cx="4726305" cy="1497965"/>
            <a:chOff x="4922" y="2556"/>
            <a:chExt cx="7443" cy="2359"/>
          </a:xfrm>
        </p:grpSpPr>
        <p:sp>
          <p:nvSpPr>
            <p:cNvPr id="5" name="Rounded Rectangle 4"/>
            <p:cNvSpPr/>
            <p:nvPr/>
          </p:nvSpPr>
          <p:spPr>
            <a:xfrm>
              <a:off x="4922" y="2556"/>
              <a:ext cx="7443" cy="2359"/>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6" name="Rounded Rectangle 5"/>
            <p:cNvSpPr/>
            <p:nvPr/>
          </p:nvSpPr>
          <p:spPr>
            <a:xfrm>
              <a:off x="5064" y="2694"/>
              <a:ext cx="2666" cy="2083"/>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6" name="Rounded Rectangle 25"/>
            <p:cNvSpPr/>
            <p:nvPr/>
          </p:nvSpPr>
          <p:spPr>
            <a:xfrm>
              <a:off x="8015" y="2694"/>
              <a:ext cx="3998"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Title</a:t>
              </a:r>
              <a:endParaRPr lang="en-US">
                <a:solidFill>
                  <a:schemeClr val="accent2">
                    <a:lumMod val="20000"/>
                    <a:lumOff val="80000"/>
                  </a:schemeClr>
                </a:solidFill>
                <a:sym typeface="+mn-ea"/>
              </a:endParaRPr>
            </a:p>
          </p:txBody>
        </p:sp>
        <p:sp>
          <p:nvSpPr>
            <p:cNvPr id="28" name="Rounded Rectangle 27"/>
            <p:cNvSpPr/>
            <p:nvPr/>
          </p:nvSpPr>
          <p:spPr>
            <a:xfrm>
              <a:off x="8015" y="3398"/>
              <a:ext cx="3998"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Theme</a:t>
              </a:r>
              <a:endParaRPr lang="en-US">
                <a:solidFill>
                  <a:schemeClr val="accent2">
                    <a:lumMod val="20000"/>
                    <a:lumOff val="80000"/>
                  </a:schemeClr>
                </a:solidFill>
                <a:sym typeface="+mn-ea"/>
              </a:endParaRPr>
            </a:p>
          </p:txBody>
        </p:sp>
        <p:sp>
          <p:nvSpPr>
            <p:cNvPr id="29" name="Rounded Rectangle 28"/>
            <p:cNvSpPr/>
            <p:nvPr/>
          </p:nvSpPr>
          <p:spPr>
            <a:xfrm>
              <a:off x="8015" y="4102"/>
              <a:ext cx="3998"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Main Color</a:t>
              </a:r>
              <a:endParaRPr lang="en-US">
                <a:solidFill>
                  <a:schemeClr val="accent2">
                    <a:lumMod val="20000"/>
                    <a:lumOff val="80000"/>
                  </a:schemeClr>
                </a:solidFill>
                <a:sym typeface="+mn-ea"/>
              </a:endParaRPr>
            </a:p>
          </p:txBody>
        </p:sp>
      </p:grpSp>
      <p:sp>
        <p:nvSpPr>
          <p:cNvPr id="80" name="Title 79"/>
          <p:cNvSpPr>
            <a:spLocks noGrp="1"/>
          </p:cNvSpPr>
          <p:nvPr>
            <p:ph type="title"/>
          </p:nvPr>
        </p:nvSpPr>
        <p:spPr>
          <a:xfrm>
            <a:off x="822960" y="38100"/>
            <a:ext cx="9464040" cy="822960"/>
          </a:xfrm>
          <a:ln w="28575" cmpd="dbl">
            <a:solidFill>
              <a:schemeClr val="accent1">
                <a:lumMod val="50000"/>
              </a:schemeClr>
            </a:solidFill>
            <a:prstDash val="solid"/>
          </a:ln>
        </p:spPr>
        <p:txBody>
          <a:bodyPr vert="horz" lIns="91440" tIns="45720" rIns="91440" bIns="45720" rtlCol="0" anchor="t" anchorCtr="1">
            <a:normAutofit/>
          </a:bodyPr>
          <a:p>
            <a:pPr lvl="0" algn="l">
              <a:buClrTx/>
              <a:buSzTx/>
              <a:buFontTx/>
            </a:pPr>
            <a:r>
              <a:rPr lang="en-US">
                <a:solidFill>
                  <a:schemeClr val="accent1">
                    <a:lumMod val="50000"/>
                  </a:schemeClr>
                </a:solidFill>
                <a:sym typeface="+mn-ea"/>
              </a:rPr>
              <a:t>View Project</a:t>
            </a:r>
            <a:endParaRPr lang="en-US">
              <a:solidFill>
                <a:schemeClr val="accent1">
                  <a:lumMod val="50000"/>
                </a:schemeClr>
              </a:solidFill>
              <a:sym typeface="+mn-ea"/>
            </a:endParaRPr>
          </a:p>
        </p:txBody>
      </p:sp>
      <p:grpSp>
        <p:nvGrpSpPr>
          <p:cNvPr id="18" name="Group 17"/>
          <p:cNvGrpSpPr/>
          <p:nvPr/>
        </p:nvGrpSpPr>
        <p:grpSpPr>
          <a:xfrm>
            <a:off x="6175375" y="3183890"/>
            <a:ext cx="1645920" cy="1334770"/>
            <a:chOff x="9725" y="5014"/>
            <a:chExt cx="2592" cy="2102"/>
          </a:xfrm>
        </p:grpSpPr>
        <p:sp>
          <p:nvSpPr>
            <p:cNvPr id="10" name="Freeform 9"/>
            <p:cNvSpPr/>
            <p:nvPr/>
          </p:nvSpPr>
          <p:spPr>
            <a:xfrm>
              <a:off x="9725" y="5014"/>
              <a:ext cx="2592" cy="2102"/>
            </a:xfrm>
            <a:custGeom>
              <a:avLst/>
              <a:gdLst>
                <a:gd name="connsiteX0" fmla="*/ 0 w 2593"/>
                <a:gd name="connsiteY0" fmla="*/ 266 h 1590"/>
                <a:gd name="connsiteX1" fmla="*/ 171 w 2593"/>
                <a:gd name="connsiteY1" fmla="*/ 0 h 1590"/>
                <a:gd name="connsiteX2" fmla="*/ 2451 w 2593"/>
                <a:gd name="connsiteY2" fmla="*/ 0 h 1590"/>
                <a:gd name="connsiteX3" fmla="*/ 2593 w 2593"/>
                <a:gd name="connsiteY3" fmla="*/ 266 h 1590"/>
                <a:gd name="connsiteX4" fmla="*/ 2593 w 2593"/>
                <a:gd name="connsiteY4" fmla="*/ 1322 h 1590"/>
                <a:gd name="connsiteX5" fmla="*/ 2421 w 2593"/>
                <a:gd name="connsiteY5" fmla="*/ 1590 h 1590"/>
                <a:gd name="connsiteX6" fmla="*/ 171 w 2593"/>
                <a:gd name="connsiteY6" fmla="*/ 1590 h 1590"/>
                <a:gd name="connsiteX7" fmla="*/ 0 w 2593"/>
                <a:gd name="connsiteY7" fmla="*/ 1322 h 1590"/>
                <a:gd name="connsiteX8" fmla="*/ 0 w 2593"/>
                <a:gd name="connsiteY8" fmla="*/ 266 h 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3" h="1590">
                  <a:moveTo>
                    <a:pt x="0" y="266"/>
                  </a:moveTo>
                  <a:cubicBezTo>
                    <a:pt x="0" y="120"/>
                    <a:pt x="25" y="0"/>
                    <a:pt x="171" y="0"/>
                  </a:cubicBezTo>
                  <a:lnTo>
                    <a:pt x="2451" y="0"/>
                  </a:lnTo>
                  <a:cubicBezTo>
                    <a:pt x="2597" y="0"/>
                    <a:pt x="2593" y="120"/>
                    <a:pt x="2593" y="266"/>
                  </a:cubicBezTo>
                  <a:lnTo>
                    <a:pt x="2593" y="1322"/>
                  </a:lnTo>
                  <a:cubicBezTo>
                    <a:pt x="2593" y="1468"/>
                    <a:pt x="2567" y="1590"/>
                    <a:pt x="2421" y="1590"/>
                  </a:cubicBezTo>
                  <a:lnTo>
                    <a:pt x="171" y="1590"/>
                  </a:lnTo>
                  <a:cubicBezTo>
                    <a:pt x="25" y="1590"/>
                    <a:pt x="0" y="1468"/>
                    <a:pt x="0" y="1322"/>
                  </a:cubicBezTo>
                  <a:lnTo>
                    <a:pt x="0" y="26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tIns="0" rtlCol="0" anchor="t" anchorCtr="1"/>
            <a:p>
              <a:pPr algn="ctr"/>
              <a:r>
                <a:rPr lang="en-US">
                  <a:solidFill>
                    <a:schemeClr val="accent2">
                      <a:lumMod val="40000"/>
                      <a:lumOff val="60000"/>
                    </a:schemeClr>
                  </a:solidFill>
                </a:rPr>
                <a:t>Pattern</a:t>
              </a:r>
              <a:endParaRPr lang="en-US">
                <a:solidFill>
                  <a:schemeClr val="accent2">
                    <a:lumMod val="40000"/>
                    <a:lumOff val="60000"/>
                  </a:schemeClr>
                </a:solidFill>
              </a:endParaRPr>
            </a:p>
          </p:txBody>
        </p:sp>
        <p:grpSp>
          <p:nvGrpSpPr>
            <p:cNvPr id="17" name="Group 16"/>
            <p:cNvGrpSpPr/>
            <p:nvPr/>
          </p:nvGrpSpPr>
          <p:grpSpPr>
            <a:xfrm>
              <a:off x="9863" y="5936"/>
              <a:ext cx="2347" cy="1117"/>
              <a:chOff x="9855" y="6095"/>
              <a:chExt cx="2347" cy="1117"/>
            </a:xfrm>
          </p:grpSpPr>
          <p:sp>
            <p:nvSpPr>
              <p:cNvPr id="30" name="Rounded Rectangle 29"/>
              <p:cNvSpPr/>
              <p:nvPr/>
            </p:nvSpPr>
            <p:spPr>
              <a:xfrm>
                <a:off x="9855" y="6102"/>
                <a:ext cx="962" cy="492"/>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solidFill>
                      <a:schemeClr val="accent2">
                        <a:lumMod val="20000"/>
                        <a:lumOff val="80000"/>
                      </a:schemeClr>
                    </a:solidFill>
                  </a:rPr>
                  <a:t>Completed</a:t>
                </a:r>
                <a:endParaRPr lang="en-US" sz="600">
                  <a:solidFill>
                    <a:schemeClr val="accent2">
                      <a:lumMod val="20000"/>
                      <a:lumOff val="80000"/>
                    </a:schemeClr>
                  </a:solidFill>
                </a:endParaRPr>
              </a:p>
              <a:p>
                <a:pPr algn="ctr"/>
                <a:r>
                  <a:rPr lang="en-US" sz="600">
                    <a:solidFill>
                      <a:schemeClr val="accent2">
                        <a:lumMod val="20000"/>
                        <a:lumOff val="80000"/>
                      </a:schemeClr>
                    </a:solidFill>
                  </a:rPr>
                  <a:t>Stitches</a:t>
                </a:r>
                <a:endParaRPr lang="en-US" sz="600">
                  <a:solidFill>
                    <a:schemeClr val="accent2">
                      <a:lumMod val="20000"/>
                      <a:lumOff val="80000"/>
                    </a:schemeClr>
                  </a:solidFill>
                </a:endParaRPr>
              </a:p>
            </p:txBody>
          </p:sp>
          <p:sp>
            <p:nvSpPr>
              <p:cNvPr id="31" name="Rounded Rectangle 30"/>
              <p:cNvSpPr/>
              <p:nvPr/>
            </p:nvSpPr>
            <p:spPr>
              <a:xfrm>
                <a:off x="11235" y="6102"/>
                <a:ext cx="962" cy="492"/>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solidFill>
                      <a:schemeClr val="accent2">
                        <a:lumMod val="20000"/>
                        <a:lumOff val="80000"/>
                      </a:schemeClr>
                    </a:solidFill>
                  </a:rPr>
                  <a:t>Total</a:t>
                </a:r>
                <a:endParaRPr lang="en-US" sz="600">
                  <a:solidFill>
                    <a:schemeClr val="accent2">
                      <a:lumMod val="20000"/>
                      <a:lumOff val="80000"/>
                    </a:schemeClr>
                  </a:solidFill>
                </a:endParaRPr>
              </a:p>
              <a:p>
                <a:pPr algn="ctr"/>
                <a:r>
                  <a:rPr lang="en-US" sz="600">
                    <a:solidFill>
                      <a:schemeClr val="accent2">
                        <a:lumMod val="20000"/>
                        <a:lumOff val="80000"/>
                      </a:schemeClr>
                    </a:solidFill>
                  </a:rPr>
                  <a:t>Stitches</a:t>
                </a:r>
                <a:endParaRPr lang="en-US" sz="600">
                  <a:solidFill>
                    <a:schemeClr val="accent2">
                      <a:lumMod val="20000"/>
                      <a:lumOff val="80000"/>
                    </a:schemeClr>
                  </a:solidFill>
                </a:endParaRPr>
              </a:p>
            </p:txBody>
          </p:sp>
          <p:cxnSp>
            <p:nvCxnSpPr>
              <p:cNvPr id="32" name="Straight Connector 31"/>
              <p:cNvCxnSpPr/>
              <p:nvPr/>
            </p:nvCxnSpPr>
            <p:spPr>
              <a:xfrm>
                <a:off x="10817" y="6095"/>
                <a:ext cx="419" cy="496"/>
              </a:xfrm>
              <a:prstGeom prst="line">
                <a:avLst/>
              </a:prstGeom>
              <a:ln w="38100">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3" name="Rounded Rectangle 32"/>
              <p:cNvSpPr/>
              <p:nvPr/>
            </p:nvSpPr>
            <p:spPr>
              <a:xfrm>
                <a:off x="9856" y="6652"/>
                <a:ext cx="2347" cy="56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400">
                    <a:solidFill>
                      <a:schemeClr val="accent2">
                        <a:lumMod val="20000"/>
                        <a:lumOff val="80000"/>
                      </a:schemeClr>
                    </a:solidFill>
                  </a:rPr>
                  <a:t>Completion %</a:t>
                </a:r>
                <a:endParaRPr lang="en-US" sz="1400">
                  <a:solidFill>
                    <a:schemeClr val="accent2">
                      <a:lumMod val="20000"/>
                      <a:lumOff val="80000"/>
                    </a:schemeClr>
                  </a:solidFill>
                </a:endParaRPr>
              </a:p>
            </p:txBody>
          </p:sp>
        </p:grpSp>
        <p:grpSp>
          <p:nvGrpSpPr>
            <p:cNvPr id="27" name="Group 26"/>
            <p:cNvGrpSpPr/>
            <p:nvPr/>
          </p:nvGrpSpPr>
          <p:grpSpPr>
            <a:xfrm rot="0">
              <a:off x="9806" y="5367"/>
              <a:ext cx="2448" cy="576"/>
              <a:chOff x="9857" y="5089"/>
              <a:chExt cx="2448" cy="717"/>
            </a:xfrm>
          </p:grpSpPr>
          <p:sp>
            <p:nvSpPr>
              <p:cNvPr id="37" name="Freeform 36"/>
              <p:cNvSpPr/>
              <p:nvPr/>
            </p:nvSpPr>
            <p:spPr>
              <a:xfrm>
                <a:off x="9857" y="5196"/>
                <a:ext cx="2448" cy="510"/>
              </a:xfrm>
              <a:custGeom>
                <a:avLst/>
                <a:gdLst>
                  <a:gd name="connsiteX0" fmla="*/ 0 w 2593"/>
                  <a:gd name="connsiteY0" fmla="*/ 266 h 1590"/>
                  <a:gd name="connsiteX1" fmla="*/ 171 w 2593"/>
                  <a:gd name="connsiteY1" fmla="*/ 0 h 1590"/>
                  <a:gd name="connsiteX2" fmla="*/ 2451 w 2593"/>
                  <a:gd name="connsiteY2" fmla="*/ 0 h 1590"/>
                  <a:gd name="connsiteX3" fmla="*/ 2593 w 2593"/>
                  <a:gd name="connsiteY3" fmla="*/ 266 h 1590"/>
                  <a:gd name="connsiteX4" fmla="*/ 2593 w 2593"/>
                  <a:gd name="connsiteY4" fmla="*/ 1322 h 1590"/>
                  <a:gd name="connsiteX5" fmla="*/ 2421 w 2593"/>
                  <a:gd name="connsiteY5" fmla="*/ 1590 h 1590"/>
                  <a:gd name="connsiteX6" fmla="*/ 171 w 2593"/>
                  <a:gd name="connsiteY6" fmla="*/ 1590 h 1590"/>
                  <a:gd name="connsiteX7" fmla="*/ 0 w 2593"/>
                  <a:gd name="connsiteY7" fmla="*/ 1322 h 1590"/>
                  <a:gd name="connsiteX8" fmla="*/ 0 w 2593"/>
                  <a:gd name="connsiteY8" fmla="*/ 266 h 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3" h="1590">
                    <a:moveTo>
                      <a:pt x="0" y="266"/>
                    </a:moveTo>
                    <a:cubicBezTo>
                      <a:pt x="0" y="120"/>
                      <a:pt x="25" y="0"/>
                      <a:pt x="171" y="0"/>
                    </a:cubicBezTo>
                    <a:lnTo>
                      <a:pt x="2451" y="0"/>
                    </a:lnTo>
                    <a:cubicBezTo>
                      <a:pt x="2597" y="0"/>
                      <a:pt x="2593" y="120"/>
                      <a:pt x="2593" y="266"/>
                    </a:cubicBezTo>
                    <a:lnTo>
                      <a:pt x="2593" y="1322"/>
                    </a:lnTo>
                    <a:cubicBezTo>
                      <a:pt x="2593" y="1468"/>
                      <a:pt x="2567" y="1590"/>
                      <a:pt x="2421" y="1590"/>
                    </a:cubicBezTo>
                    <a:lnTo>
                      <a:pt x="171" y="1590"/>
                    </a:lnTo>
                    <a:cubicBezTo>
                      <a:pt x="25" y="1590"/>
                      <a:pt x="0" y="1468"/>
                      <a:pt x="0" y="1322"/>
                    </a:cubicBezTo>
                    <a:lnTo>
                      <a:pt x="0" y="266"/>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640080" bIns="0"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00:00:00</a:t>
                </a:r>
                <a:endParaRPr lang="en-US">
                  <a:solidFill>
                    <a:schemeClr val="accent2">
                      <a:lumMod val="40000"/>
                      <a:lumOff val="60000"/>
                    </a:schemeClr>
                  </a:solidFill>
                  <a:sym typeface="+mn-ea"/>
                </a:endParaRPr>
              </a:p>
            </p:txBody>
          </p:sp>
          <p:grpSp>
            <p:nvGrpSpPr>
              <p:cNvPr id="46" name="Group 45"/>
              <p:cNvGrpSpPr/>
              <p:nvPr/>
            </p:nvGrpSpPr>
            <p:grpSpPr>
              <a:xfrm rot="0">
                <a:off x="11477" y="5089"/>
                <a:ext cx="795" cy="717"/>
                <a:chOff x="10222" y="5727"/>
                <a:chExt cx="795" cy="717"/>
              </a:xfrm>
            </p:grpSpPr>
            <p:sp>
              <p:nvSpPr>
                <p:cNvPr id="14" name="Rounded Rectangle 13"/>
                <p:cNvSpPr/>
                <p:nvPr/>
              </p:nvSpPr>
              <p:spPr>
                <a:xfrm>
                  <a:off x="10275" y="5774"/>
                  <a:ext cx="740" cy="61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600">
                    <a:solidFill>
                      <a:schemeClr val="accent2">
                        <a:lumMod val="20000"/>
                        <a:lumOff val="80000"/>
                      </a:schemeClr>
                    </a:solidFill>
                    <a:sym typeface="+mn-ea"/>
                  </a:endParaRPr>
                </a:p>
              </p:txBody>
            </p:sp>
            <p:sp>
              <p:nvSpPr>
                <p:cNvPr id="12" name="Equal 11"/>
                <p:cNvSpPr/>
                <p:nvPr/>
              </p:nvSpPr>
              <p:spPr>
                <a:xfrm rot="5400000">
                  <a:off x="10374" y="5801"/>
                  <a:ext cx="717" cy="569"/>
                </a:xfrm>
                <a:prstGeom prst="mathEqual">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13" name="Right Triangle 12"/>
                <p:cNvSpPr/>
                <p:nvPr/>
              </p:nvSpPr>
              <p:spPr>
                <a:xfrm rot="13560000">
                  <a:off x="10186" y="5943"/>
                  <a:ext cx="359" cy="288"/>
                </a:xfrm>
                <a:prstGeom prst="rtTriangl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grpSp>
        </p:grpSp>
      </p:grpSp>
      <p:cxnSp>
        <p:nvCxnSpPr>
          <p:cNvPr id="39" name="Straight Connector 38"/>
          <p:cNvCxnSpPr>
            <a:stCxn id="8" idx="3"/>
            <a:endCxn id="7" idx="0"/>
          </p:cNvCxnSpPr>
          <p:nvPr/>
        </p:nvCxnSpPr>
        <p:spPr>
          <a:xfrm flipV="1">
            <a:off x="2468880" y="3392805"/>
            <a:ext cx="664845" cy="1143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 name="Text Box 2"/>
          <p:cNvSpPr txBox="1"/>
          <p:nvPr/>
        </p:nvSpPr>
        <p:spPr>
          <a:xfrm>
            <a:off x="335915" y="5156835"/>
            <a:ext cx="2072640" cy="15671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pattern has multiple parts to be assembled, this box should show the name of the parts, and allow the pattern window to show the currently selected part. Order of pieces should be determined by order used when creating pattern.</a:t>
            </a:r>
            <a:endParaRPr lang="en-US" sz="1200">
              <a:solidFill>
                <a:schemeClr val="accent1">
                  <a:lumMod val="50000"/>
                </a:schemeClr>
              </a:solidFill>
              <a:sym typeface="+mn-ea"/>
            </a:endParaRPr>
          </a:p>
        </p:txBody>
      </p:sp>
      <p:cxnSp>
        <p:nvCxnSpPr>
          <p:cNvPr id="4" name="Straight Connector 3"/>
          <p:cNvCxnSpPr>
            <a:stCxn id="2" idx="0"/>
            <a:endCxn id="3" idx="3"/>
          </p:cNvCxnSpPr>
          <p:nvPr/>
        </p:nvCxnSpPr>
        <p:spPr>
          <a:xfrm flipH="1" flipV="1">
            <a:off x="2408555" y="5940425"/>
            <a:ext cx="797560" cy="69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49" name="Group 48"/>
          <p:cNvGrpSpPr/>
          <p:nvPr/>
        </p:nvGrpSpPr>
        <p:grpSpPr>
          <a:xfrm>
            <a:off x="3206115" y="5921375"/>
            <a:ext cx="2876550" cy="415290"/>
            <a:chOff x="5064" y="9325"/>
            <a:chExt cx="4530" cy="654"/>
          </a:xfrm>
        </p:grpSpPr>
        <p:sp>
          <p:nvSpPr>
            <p:cNvPr id="2" name="Freeform 1"/>
            <p:cNvSpPr/>
            <p:nvPr/>
          </p:nvSpPr>
          <p:spPr>
            <a:xfrm>
              <a:off x="5064" y="9325"/>
              <a:ext cx="4531" cy="654"/>
            </a:xfrm>
            <a:custGeom>
              <a:avLst/>
              <a:gdLst>
                <a:gd name="connsiteX0" fmla="*/ 0 w 4740"/>
                <a:gd name="connsiteY0" fmla="*/ 450 h 7200"/>
                <a:gd name="connsiteX1" fmla="*/ 779 w 4740"/>
                <a:gd name="connsiteY1" fmla="*/ 1 h 7200"/>
                <a:gd name="connsiteX2" fmla="*/ 4110 w 4740"/>
                <a:gd name="connsiteY2" fmla="*/ 0 h 7200"/>
                <a:gd name="connsiteX3" fmla="*/ 4740 w 4740"/>
                <a:gd name="connsiteY3" fmla="*/ 540 h 7200"/>
                <a:gd name="connsiteX4" fmla="*/ 4740 w 4740"/>
                <a:gd name="connsiteY4" fmla="*/ 6540 h 7200"/>
                <a:gd name="connsiteX5" fmla="*/ 4200 w 4740"/>
                <a:gd name="connsiteY5" fmla="*/ 7200 h 7200"/>
                <a:gd name="connsiteX6" fmla="*/ 660 w 4740"/>
                <a:gd name="connsiteY6" fmla="*/ 7200 h 7200"/>
                <a:gd name="connsiteX7" fmla="*/ 0 w 4740"/>
                <a:gd name="connsiteY7" fmla="*/ 6660 h 7200"/>
                <a:gd name="connsiteX8" fmla="*/ 0 w 4740"/>
                <a:gd name="connsiteY8" fmla="*/ 450 h 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0" h="7200">
                  <a:moveTo>
                    <a:pt x="0" y="450"/>
                  </a:moveTo>
                  <a:cubicBezTo>
                    <a:pt x="0" y="13"/>
                    <a:pt x="342" y="1"/>
                    <a:pt x="779" y="1"/>
                  </a:cubicBezTo>
                  <a:lnTo>
                    <a:pt x="4110" y="0"/>
                  </a:lnTo>
                  <a:cubicBezTo>
                    <a:pt x="4547" y="0"/>
                    <a:pt x="4740" y="103"/>
                    <a:pt x="4740" y="540"/>
                  </a:cubicBezTo>
                  <a:lnTo>
                    <a:pt x="4740" y="6540"/>
                  </a:lnTo>
                  <a:cubicBezTo>
                    <a:pt x="4740" y="6977"/>
                    <a:pt x="4637" y="7200"/>
                    <a:pt x="4200" y="7200"/>
                  </a:cubicBezTo>
                  <a:lnTo>
                    <a:pt x="660" y="7200"/>
                  </a:lnTo>
                  <a:cubicBezTo>
                    <a:pt x="223" y="7200"/>
                    <a:pt x="0" y="7097"/>
                    <a:pt x="0" y="6660"/>
                  </a:cubicBezTo>
                  <a:lnTo>
                    <a:pt x="0" y="450"/>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 Piece</a:t>
              </a:r>
              <a:endParaRPr lang="en-US">
                <a:solidFill>
                  <a:schemeClr val="accent2">
                    <a:lumMod val="40000"/>
                    <a:lumOff val="60000"/>
                  </a:schemeClr>
                </a:solidFill>
                <a:sym typeface="+mn-ea"/>
              </a:endParaRPr>
            </a:p>
          </p:txBody>
        </p:sp>
        <p:sp>
          <p:nvSpPr>
            <p:cNvPr id="9" name="Right Triangle 8"/>
            <p:cNvSpPr/>
            <p:nvPr/>
          </p:nvSpPr>
          <p:spPr>
            <a:xfrm rot="2580000">
              <a:off x="5184" y="9469"/>
              <a:ext cx="325" cy="347"/>
            </a:xfrm>
            <a:prstGeom prst="rtTriangl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15" name="Right Triangle 14"/>
            <p:cNvSpPr/>
            <p:nvPr/>
          </p:nvSpPr>
          <p:spPr>
            <a:xfrm rot="13440000">
              <a:off x="9150" y="9469"/>
              <a:ext cx="325" cy="347"/>
            </a:xfrm>
            <a:prstGeom prst="rtTriangl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grpSp>
      <p:sp>
        <p:nvSpPr>
          <p:cNvPr id="43" name="Text Box 42"/>
          <p:cNvSpPr txBox="1"/>
          <p:nvPr/>
        </p:nvSpPr>
        <p:spPr>
          <a:xfrm>
            <a:off x="8465185" y="3881755"/>
            <a:ext cx="1876425" cy="83439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Gives completion percentage of pattern/currently selected pattern piece.</a:t>
            </a:r>
            <a:endParaRPr lang="en-US" sz="1200">
              <a:solidFill>
                <a:schemeClr val="accent1">
                  <a:lumMod val="50000"/>
                </a:schemeClr>
              </a:solidFill>
              <a:sym typeface="+mn-ea"/>
            </a:endParaRPr>
          </a:p>
        </p:txBody>
      </p:sp>
      <p:cxnSp>
        <p:nvCxnSpPr>
          <p:cNvPr id="44" name="Straight Connector 43"/>
          <p:cNvCxnSpPr>
            <a:stCxn id="53" idx="3"/>
            <a:endCxn id="43" idx="1"/>
          </p:cNvCxnSpPr>
          <p:nvPr/>
        </p:nvCxnSpPr>
        <p:spPr>
          <a:xfrm flipV="1">
            <a:off x="7820660" y="4298950"/>
            <a:ext cx="644525" cy="6813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8" name="Straight Connector 47"/>
          <p:cNvCxnSpPr>
            <a:stCxn id="10" idx="3"/>
            <a:endCxn id="43" idx="1"/>
          </p:cNvCxnSpPr>
          <p:nvPr/>
        </p:nvCxnSpPr>
        <p:spPr>
          <a:xfrm>
            <a:off x="7821295" y="3407410"/>
            <a:ext cx="643890" cy="8915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64" name="Text Box 63"/>
          <p:cNvSpPr txBox="1"/>
          <p:nvPr/>
        </p:nvSpPr>
        <p:spPr>
          <a:xfrm>
            <a:off x="8465185" y="4872355"/>
            <a:ext cx="1876425" cy="83439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Shows time spent on individual piece</a:t>
            </a:r>
            <a:endParaRPr lang="en-US" sz="1200">
              <a:solidFill>
                <a:schemeClr val="accent1">
                  <a:lumMod val="50000"/>
                </a:schemeClr>
              </a:solidFill>
              <a:sym typeface="+mn-ea"/>
            </a:endParaRPr>
          </a:p>
        </p:txBody>
      </p:sp>
      <p:cxnSp>
        <p:nvCxnSpPr>
          <p:cNvPr id="65" name="Straight Connector 64"/>
          <p:cNvCxnSpPr>
            <a:stCxn id="59" idx="3"/>
            <a:endCxn id="64" idx="1"/>
          </p:cNvCxnSpPr>
          <p:nvPr/>
        </p:nvCxnSpPr>
        <p:spPr>
          <a:xfrm>
            <a:off x="7776845" y="5107940"/>
            <a:ext cx="688340" cy="18161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0" name="Straight Connector 39"/>
          <p:cNvCxnSpPr>
            <a:stCxn id="14" idx="0"/>
            <a:endCxn id="11" idx="1"/>
          </p:cNvCxnSpPr>
          <p:nvPr/>
        </p:nvCxnSpPr>
        <p:spPr>
          <a:xfrm flipV="1">
            <a:off x="7524115" y="2453005"/>
            <a:ext cx="767080" cy="9791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19" name="Group 18"/>
          <p:cNvGrpSpPr/>
          <p:nvPr/>
        </p:nvGrpSpPr>
        <p:grpSpPr>
          <a:xfrm>
            <a:off x="6175375" y="4543425"/>
            <a:ext cx="1645920" cy="1334770"/>
            <a:chOff x="9725" y="5014"/>
            <a:chExt cx="2592" cy="2102"/>
          </a:xfrm>
        </p:grpSpPr>
        <p:sp>
          <p:nvSpPr>
            <p:cNvPr id="20" name="Freeform 19"/>
            <p:cNvSpPr/>
            <p:nvPr/>
          </p:nvSpPr>
          <p:spPr>
            <a:xfrm>
              <a:off x="9725" y="5014"/>
              <a:ext cx="2592" cy="2102"/>
            </a:xfrm>
            <a:custGeom>
              <a:avLst/>
              <a:gdLst>
                <a:gd name="connsiteX0" fmla="*/ 0 w 2593"/>
                <a:gd name="connsiteY0" fmla="*/ 266 h 1590"/>
                <a:gd name="connsiteX1" fmla="*/ 171 w 2593"/>
                <a:gd name="connsiteY1" fmla="*/ 0 h 1590"/>
                <a:gd name="connsiteX2" fmla="*/ 2451 w 2593"/>
                <a:gd name="connsiteY2" fmla="*/ 0 h 1590"/>
                <a:gd name="connsiteX3" fmla="*/ 2593 w 2593"/>
                <a:gd name="connsiteY3" fmla="*/ 266 h 1590"/>
                <a:gd name="connsiteX4" fmla="*/ 2593 w 2593"/>
                <a:gd name="connsiteY4" fmla="*/ 1322 h 1590"/>
                <a:gd name="connsiteX5" fmla="*/ 2421 w 2593"/>
                <a:gd name="connsiteY5" fmla="*/ 1590 h 1590"/>
                <a:gd name="connsiteX6" fmla="*/ 171 w 2593"/>
                <a:gd name="connsiteY6" fmla="*/ 1590 h 1590"/>
                <a:gd name="connsiteX7" fmla="*/ 0 w 2593"/>
                <a:gd name="connsiteY7" fmla="*/ 1322 h 1590"/>
                <a:gd name="connsiteX8" fmla="*/ 0 w 2593"/>
                <a:gd name="connsiteY8" fmla="*/ 266 h 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3" h="1590">
                  <a:moveTo>
                    <a:pt x="0" y="266"/>
                  </a:moveTo>
                  <a:cubicBezTo>
                    <a:pt x="0" y="120"/>
                    <a:pt x="25" y="0"/>
                    <a:pt x="171" y="0"/>
                  </a:cubicBezTo>
                  <a:lnTo>
                    <a:pt x="2451" y="0"/>
                  </a:lnTo>
                  <a:cubicBezTo>
                    <a:pt x="2597" y="0"/>
                    <a:pt x="2593" y="120"/>
                    <a:pt x="2593" y="266"/>
                  </a:cubicBezTo>
                  <a:lnTo>
                    <a:pt x="2593" y="1322"/>
                  </a:lnTo>
                  <a:cubicBezTo>
                    <a:pt x="2593" y="1468"/>
                    <a:pt x="2567" y="1590"/>
                    <a:pt x="2421" y="1590"/>
                  </a:cubicBezTo>
                  <a:lnTo>
                    <a:pt x="171" y="1590"/>
                  </a:lnTo>
                  <a:cubicBezTo>
                    <a:pt x="25" y="1590"/>
                    <a:pt x="0" y="1468"/>
                    <a:pt x="0" y="1322"/>
                  </a:cubicBezTo>
                  <a:lnTo>
                    <a:pt x="0" y="26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tIns="0" rtlCol="0" anchor="t" anchorCtr="1"/>
            <a:p>
              <a:pPr algn="ctr"/>
              <a:r>
                <a:rPr lang="en-US">
                  <a:solidFill>
                    <a:schemeClr val="accent2">
                      <a:lumMod val="40000"/>
                      <a:lumOff val="60000"/>
                    </a:schemeClr>
                  </a:solidFill>
                </a:rPr>
                <a:t>Pattern</a:t>
              </a:r>
              <a:endParaRPr lang="en-US">
                <a:solidFill>
                  <a:schemeClr val="accent2">
                    <a:lumMod val="40000"/>
                    <a:lumOff val="60000"/>
                  </a:schemeClr>
                </a:solidFill>
              </a:endParaRPr>
            </a:p>
          </p:txBody>
        </p:sp>
        <p:grpSp>
          <p:nvGrpSpPr>
            <p:cNvPr id="21" name="Group 20"/>
            <p:cNvGrpSpPr/>
            <p:nvPr/>
          </p:nvGrpSpPr>
          <p:grpSpPr>
            <a:xfrm>
              <a:off x="9863" y="5936"/>
              <a:ext cx="2347" cy="1117"/>
              <a:chOff x="9855" y="6095"/>
              <a:chExt cx="2347" cy="1117"/>
            </a:xfrm>
          </p:grpSpPr>
          <p:sp>
            <p:nvSpPr>
              <p:cNvPr id="22" name="Rounded Rectangle 21"/>
              <p:cNvSpPr/>
              <p:nvPr/>
            </p:nvSpPr>
            <p:spPr>
              <a:xfrm>
                <a:off x="9855" y="6102"/>
                <a:ext cx="962" cy="492"/>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solidFill>
                      <a:schemeClr val="accent2">
                        <a:lumMod val="20000"/>
                        <a:lumOff val="80000"/>
                      </a:schemeClr>
                    </a:solidFill>
                  </a:rPr>
                  <a:t>Completed</a:t>
                </a:r>
                <a:endParaRPr lang="en-US" sz="600">
                  <a:solidFill>
                    <a:schemeClr val="accent2">
                      <a:lumMod val="20000"/>
                      <a:lumOff val="80000"/>
                    </a:schemeClr>
                  </a:solidFill>
                </a:endParaRPr>
              </a:p>
              <a:p>
                <a:pPr algn="ctr"/>
                <a:r>
                  <a:rPr lang="en-US" sz="600">
                    <a:solidFill>
                      <a:schemeClr val="accent2">
                        <a:lumMod val="20000"/>
                        <a:lumOff val="80000"/>
                      </a:schemeClr>
                    </a:solidFill>
                  </a:rPr>
                  <a:t>Stitches</a:t>
                </a:r>
                <a:endParaRPr lang="en-US" sz="600">
                  <a:solidFill>
                    <a:schemeClr val="accent2">
                      <a:lumMod val="20000"/>
                      <a:lumOff val="80000"/>
                    </a:schemeClr>
                  </a:solidFill>
                </a:endParaRPr>
              </a:p>
            </p:txBody>
          </p:sp>
          <p:sp>
            <p:nvSpPr>
              <p:cNvPr id="23" name="Rounded Rectangle 22"/>
              <p:cNvSpPr/>
              <p:nvPr/>
            </p:nvSpPr>
            <p:spPr>
              <a:xfrm>
                <a:off x="11235" y="6102"/>
                <a:ext cx="962" cy="492"/>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solidFill>
                      <a:schemeClr val="accent2">
                        <a:lumMod val="20000"/>
                        <a:lumOff val="80000"/>
                      </a:schemeClr>
                    </a:solidFill>
                  </a:rPr>
                  <a:t>Total</a:t>
                </a:r>
                <a:endParaRPr lang="en-US" sz="600">
                  <a:solidFill>
                    <a:schemeClr val="accent2">
                      <a:lumMod val="20000"/>
                      <a:lumOff val="80000"/>
                    </a:schemeClr>
                  </a:solidFill>
                </a:endParaRPr>
              </a:p>
              <a:p>
                <a:pPr algn="ctr"/>
                <a:r>
                  <a:rPr lang="en-US" sz="600">
                    <a:solidFill>
                      <a:schemeClr val="accent2">
                        <a:lumMod val="20000"/>
                        <a:lumOff val="80000"/>
                      </a:schemeClr>
                    </a:solidFill>
                  </a:rPr>
                  <a:t>Stitches</a:t>
                </a:r>
                <a:endParaRPr lang="en-US" sz="600">
                  <a:solidFill>
                    <a:schemeClr val="accent2">
                      <a:lumMod val="20000"/>
                      <a:lumOff val="80000"/>
                    </a:schemeClr>
                  </a:solidFill>
                </a:endParaRPr>
              </a:p>
            </p:txBody>
          </p:sp>
          <p:cxnSp>
            <p:nvCxnSpPr>
              <p:cNvPr id="25" name="Straight Connector 24"/>
              <p:cNvCxnSpPr/>
              <p:nvPr/>
            </p:nvCxnSpPr>
            <p:spPr>
              <a:xfrm>
                <a:off x="10817" y="6095"/>
                <a:ext cx="419" cy="496"/>
              </a:xfrm>
              <a:prstGeom prst="line">
                <a:avLst/>
              </a:prstGeom>
              <a:ln w="38100">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4" name="Rounded Rectangle 33"/>
              <p:cNvSpPr/>
              <p:nvPr/>
            </p:nvSpPr>
            <p:spPr>
              <a:xfrm>
                <a:off x="9856" y="6652"/>
                <a:ext cx="2347" cy="56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400">
                    <a:solidFill>
                      <a:schemeClr val="accent2">
                        <a:lumMod val="20000"/>
                        <a:lumOff val="80000"/>
                      </a:schemeClr>
                    </a:solidFill>
                  </a:rPr>
                  <a:t>Completion %</a:t>
                </a:r>
                <a:endParaRPr lang="en-US" sz="1400">
                  <a:solidFill>
                    <a:schemeClr val="accent2">
                      <a:lumMod val="20000"/>
                      <a:lumOff val="80000"/>
                    </a:schemeClr>
                  </a:solidFill>
                </a:endParaRPr>
              </a:p>
            </p:txBody>
          </p:sp>
        </p:grpSp>
        <p:grpSp>
          <p:nvGrpSpPr>
            <p:cNvPr id="35" name="Group 34"/>
            <p:cNvGrpSpPr/>
            <p:nvPr/>
          </p:nvGrpSpPr>
          <p:grpSpPr>
            <a:xfrm rot="0">
              <a:off x="9806" y="5367"/>
              <a:ext cx="2448" cy="576"/>
              <a:chOff x="9857" y="5089"/>
              <a:chExt cx="2448" cy="717"/>
            </a:xfrm>
          </p:grpSpPr>
          <p:sp>
            <p:nvSpPr>
              <p:cNvPr id="36" name="Freeform 35"/>
              <p:cNvSpPr/>
              <p:nvPr/>
            </p:nvSpPr>
            <p:spPr>
              <a:xfrm>
                <a:off x="9857" y="5196"/>
                <a:ext cx="2448" cy="510"/>
              </a:xfrm>
              <a:custGeom>
                <a:avLst/>
                <a:gdLst>
                  <a:gd name="connsiteX0" fmla="*/ 0 w 2593"/>
                  <a:gd name="connsiteY0" fmla="*/ 266 h 1590"/>
                  <a:gd name="connsiteX1" fmla="*/ 171 w 2593"/>
                  <a:gd name="connsiteY1" fmla="*/ 0 h 1590"/>
                  <a:gd name="connsiteX2" fmla="*/ 2451 w 2593"/>
                  <a:gd name="connsiteY2" fmla="*/ 0 h 1590"/>
                  <a:gd name="connsiteX3" fmla="*/ 2593 w 2593"/>
                  <a:gd name="connsiteY3" fmla="*/ 266 h 1590"/>
                  <a:gd name="connsiteX4" fmla="*/ 2593 w 2593"/>
                  <a:gd name="connsiteY4" fmla="*/ 1322 h 1590"/>
                  <a:gd name="connsiteX5" fmla="*/ 2421 w 2593"/>
                  <a:gd name="connsiteY5" fmla="*/ 1590 h 1590"/>
                  <a:gd name="connsiteX6" fmla="*/ 171 w 2593"/>
                  <a:gd name="connsiteY6" fmla="*/ 1590 h 1590"/>
                  <a:gd name="connsiteX7" fmla="*/ 0 w 2593"/>
                  <a:gd name="connsiteY7" fmla="*/ 1322 h 1590"/>
                  <a:gd name="connsiteX8" fmla="*/ 0 w 2593"/>
                  <a:gd name="connsiteY8" fmla="*/ 266 h 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3" h="1590">
                    <a:moveTo>
                      <a:pt x="0" y="266"/>
                    </a:moveTo>
                    <a:cubicBezTo>
                      <a:pt x="0" y="120"/>
                      <a:pt x="25" y="0"/>
                      <a:pt x="171" y="0"/>
                    </a:cubicBezTo>
                    <a:lnTo>
                      <a:pt x="2451" y="0"/>
                    </a:lnTo>
                    <a:cubicBezTo>
                      <a:pt x="2597" y="0"/>
                      <a:pt x="2593" y="120"/>
                      <a:pt x="2593" y="266"/>
                    </a:cubicBezTo>
                    <a:lnTo>
                      <a:pt x="2593" y="1322"/>
                    </a:lnTo>
                    <a:cubicBezTo>
                      <a:pt x="2593" y="1468"/>
                      <a:pt x="2567" y="1590"/>
                      <a:pt x="2421" y="1590"/>
                    </a:cubicBezTo>
                    <a:lnTo>
                      <a:pt x="171" y="1590"/>
                    </a:lnTo>
                    <a:cubicBezTo>
                      <a:pt x="25" y="1590"/>
                      <a:pt x="0" y="1468"/>
                      <a:pt x="0" y="1322"/>
                    </a:cubicBezTo>
                    <a:lnTo>
                      <a:pt x="0" y="266"/>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640080" bIns="0"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00:00:00</a:t>
                </a:r>
                <a:endParaRPr lang="en-US">
                  <a:solidFill>
                    <a:schemeClr val="accent2">
                      <a:lumMod val="40000"/>
                      <a:lumOff val="60000"/>
                    </a:schemeClr>
                  </a:solidFill>
                  <a:sym typeface="+mn-ea"/>
                </a:endParaRPr>
              </a:p>
            </p:txBody>
          </p:sp>
          <p:grpSp>
            <p:nvGrpSpPr>
              <p:cNvPr id="38" name="Group 37"/>
              <p:cNvGrpSpPr/>
              <p:nvPr/>
            </p:nvGrpSpPr>
            <p:grpSpPr>
              <a:xfrm rot="0">
                <a:off x="11477" y="5089"/>
                <a:ext cx="795" cy="717"/>
                <a:chOff x="10222" y="5727"/>
                <a:chExt cx="795" cy="717"/>
              </a:xfrm>
            </p:grpSpPr>
            <p:sp>
              <p:nvSpPr>
                <p:cNvPr id="41" name="Rounded Rectangle 40"/>
                <p:cNvSpPr/>
                <p:nvPr/>
              </p:nvSpPr>
              <p:spPr>
                <a:xfrm>
                  <a:off x="10275" y="5774"/>
                  <a:ext cx="740" cy="61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600">
                    <a:solidFill>
                      <a:schemeClr val="accent2">
                        <a:lumMod val="20000"/>
                        <a:lumOff val="80000"/>
                      </a:schemeClr>
                    </a:solidFill>
                    <a:sym typeface="+mn-ea"/>
                  </a:endParaRPr>
                </a:p>
              </p:txBody>
            </p:sp>
            <p:sp>
              <p:nvSpPr>
                <p:cNvPr id="42" name="Equal 41"/>
                <p:cNvSpPr/>
                <p:nvPr/>
              </p:nvSpPr>
              <p:spPr>
                <a:xfrm rot="5400000">
                  <a:off x="10374" y="5801"/>
                  <a:ext cx="717" cy="569"/>
                </a:xfrm>
                <a:prstGeom prst="mathEqual">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47" name="Right Triangle 46"/>
                <p:cNvSpPr/>
                <p:nvPr/>
              </p:nvSpPr>
              <p:spPr>
                <a:xfrm rot="13560000">
                  <a:off x="10186" y="5943"/>
                  <a:ext cx="359" cy="288"/>
                </a:xfrm>
                <a:prstGeom prst="rtTriangl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grpSp>
        </p:grpSp>
      </p:grpSp>
      <p:sp>
        <p:nvSpPr>
          <p:cNvPr id="60" name="Freeform 59"/>
          <p:cNvSpPr/>
          <p:nvPr/>
        </p:nvSpPr>
        <p:spPr>
          <a:xfrm>
            <a:off x="6178550" y="5942330"/>
            <a:ext cx="1637665" cy="410845"/>
          </a:xfrm>
          <a:custGeom>
            <a:avLst/>
            <a:gdLst>
              <a:gd name="connsiteX0" fmla="*/ 0 w 4740"/>
              <a:gd name="connsiteY0" fmla="*/ 450 h 7200"/>
              <a:gd name="connsiteX1" fmla="*/ 779 w 4740"/>
              <a:gd name="connsiteY1" fmla="*/ 1 h 7200"/>
              <a:gd name="connsiteX2" fmla="*/ 4110 w 4740"/>
              <a:gd name="connsiteY2" fmla="*/ 0 h 7200"/>
              <a:gd name="connsiteX3" fmla="*/ 4740 w 4740"/>
              <a:gd name="connsiteY3" fmla="*/ 540 h 7200"/>
              <a:gd name="connsiteX4" fmla="*/ 4740 w 4740"/>
              <a:gd name="connsiteY4" fmla="*/ 6540 h 7200"/>
              <a:gd name="connsiteX5" fmla="*/ 4200 w 4740"/>
              <a:gd name="connsiteY5" fmla="*/ 7200 h 7200"/>
              <a:gd name="connsiteX6" fmla="*/ 660 w 4740"/>
              <a:gd name="connsiteY6" fmla="*/ 7200 h 7200"/>
              <a:gd name="connsiteX7" fmla="*/ 0 w 4740"/>
              <a:gd name="connsiteY7" fmla="*/ 6660 h 7200"/>
              <a:gd name="connsiteX8" fmla="*/ 0 w 4740"/>
              <a:gd name="connsiteY8" fmla="*/ 450 h 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0" h="7200">
                <a:moveTo>
                  <a:pt x="0" y="450"/>
                </a:moveTo>
                <a:cubicBezTo>
                  <a:pt x="0" y="13"/>
                  <a:pt x="342" y="1"/>
                  <a:pt x="779" y="1"/>
                </a:cubicBezTo>
                <a:lnTo>
                  <a:pt x="4110" y="0"/>
                </a:lnTo>
                <a:cubicBezTo>
                  <a:pt x="4547" y="0"/>
                  <a:pt x="4740" y="103"/>
                  <a:pt x="4740" y="540"/>
                </a:cubicBezTo>
                <a:lnTo>
                  <a:pt x="4740" y="6540"/>
                </a:lnTo>
                <a:cubicBezTo>
                  <a:pt x="4740" y="6977"/>
                  <a:pt x="4637" y="7200"/>
                  <a:pt x="4200" y="7200"/>
                </a:cubicBezTo>
                <a:lnTo>
                  <a:pt x="660" y="7200"/>
                </a:lnTo>
                <a:cubicBezTo>
                  <a:pt x="223" y="7200"/>
                  <a:pt x="0" y="7097"/>
                  <a:pt x="0" y="6660"/>
                </a:cubicBezTo>
                <a:lnTo>
                  <a:pt x="0" y="45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Complete</a:t>
            </a:r>
            <a:endParaRPr lang="en-US">
              <a:solidFill>
                <a:schemeClr val="accent2">
                  <a:lumMod val="40000"/>
                  <a:lumOff val="60000"/>
                </a:schemeClr>
              </a:solidFill>
              <a:sym typeface="+mn-ea"/>
            </a:endParaRPr>
          </a:p>
        </p:txBody>
      </p:sp>
      <p:sp>
        <p:nvSpPr>
          <p:cNvPr id="52" name="Text Box 51"/>
          <p:cNvSpPr txBox="1"/>
          <p:nvPr/>
        </p:nvSpPr>
        <p:spPr>
          <a:xfrm>
            <a:off x="8410575" y="5972175"/>
            <a:ext cx="1876425" cy="83439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Moves project to archive list, even if not complete. Does not close page.</a:t>
            </a:r>
            <a:endParaRPr lang="en-US" sz="1200">
              <a:solidFill>
                <a:schemeClr val="accent1">
                  <a:lumMod val="50000"/>
                </a:schemeClr>
              </a:solidFill>
              <a:sym typeface="+mn-ea"/>
            </a:endParaRPr>
          </a:p>
        </p:txBody>
      </p:sp>
      <p:cxnSp>
        <p:nvCxnSpPr>
          <p:cNvPr id="53" name="Straight Connector 52"/>
          <p:cNvCxnSpPr>
            <a:stCxn id="60" idx="4"/>
            <a:endCxn id="52" idx="1"/>
          </p:cNvCxnSpPr>
          <p:nvPr/>
        </p:nvCxnSpPr>
        <p:spPr>
          <a:xfrm>
            <a:off x="7816215" y="6315710"/>
            <a:ext cx="594360" cy="7366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Project</a:t>
            </a:r>
            <a:r>
              <a:rPr lang="en-US">
                <a:solidFill>
                  <a:schemeClr val="accent1">
                    <a:lumMod val="50000"/>
                  </a:schemeClr>
                </a:solidFill>
                <a:sym typeface="+mn-ea"/>
              </a:rPr>
              <a:t>: Step 1</a:t>
            </a:r>
            <a:endParaRPr lang="en-US">
              <a:solidFill>
                <a:schemeClr val="accent1">
                  <a:lumMod val="50000"/>
                </a:schemeClr>
              </a:solidFill>
              <a:sym typeface="+mn-ea"/>
            </a:endParaRPr>
          </a:p>
        </p:txBody>
      </p:sp>
      <p:sp>
        <p:nvSpPr>
          <p:cNvPr id="19" name="Rounded Rectangle 18"/>
          <p:cNvSpPr/>
          <p:nvPr/>
        </p:nvSpPr>
        <p:spPr>
          <a:xfrm>
            <a:off x="5476240" y="3638550"/>
            <a:ext cx="230759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400">
                <a:solidFill>
                  <a:schemeClr val="accent2">
                    <a:lumMod val="40000"/>
                    <a:lumOff val="60000"/>
                  </a:schemeClr>
                </a:solidFill>
                <a:sym typeface="+mn-ea"/>
              </a:rPr>
              <a:t>Pattern Selection Dropdown</a:t>
            </a:r>
            <a:endParaRPr lang="en-US" sz="1400">
              <a:solidFill>
                <a:schemeClr val="accent2">
                  <a:lumMod val="40000"/>
                  <a:lumOff val="60000"/>
                </a:schemeClr>
              </a:solidFill>
              <a:sym typeface="+mn-ea"/>
            </a:endParaRPr>
          </a:p>
        </p:txBody>
      </p:sp>
      <p:sp>
        <p:nvSpPr>
          <p:cNvPr id="20" name="Rounded Rectangle 19"/>
          <p:cNvSpPr/>
          <p:nvPr/>
        </p:nvSpPr>
        <p:spPr>
          <a:xfrm>
            <a:off x="3049270" y="3103880"/>
            <a:ext cx="230441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400">
                <a:solidFill>
                  <a:schemeClr val="accent2">
                    <a:lumMod val="40000"/>
                    <a:lumOff val="60000"/>
                  </a:schemeClr>
                </a:solidFill>
              </a:rPr>
              <a:t>Pattern Type Selection</a:t>
            </a:r>
            <a:endParaRPr lang="en-US" sz="1400">
              <a:solidFill>
                <a:schemeClr val="accent2">
                  <a:lumMod val="40000"/>
                  <a:lumOff val="60000"/>
                </a:schemeClr>
              </a:solidFill>
            </a:endParaRPr>
          </a:p>
        </p:txBody>
      </p:sp>
      <p:sp>
        <p:nvSpPr>
          <p:cNvPr id="21" name="Text Box 20"/>
          <p:cNvSpPr txBox="1"/>
          <p:nvPr/>
        </p:nvSpPr>
        <p:spPr>
          <a:xfrm>
            <a:off x="426085" y="2127885"/>
            <a:ext cx="1715135" cy="10744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offers Crochet/Knit options. Filters what patterns are available in the pattern selection box</a:t>
            </a:r>
            <a:endParaRPr lang="en-US" sz="1200">
              <a:solidFill>
                <a:schemeClr val="accent1">
                  <a:lumMod val="50000"/>
                </a:schemeClr>
              </a:solidFill>
              <a:sym typeface="+mn-ea"/>
            </a:endParaRPr>
          </a:p>
        </p:txBody>
      </p:sp>
      <p:sp>
        <p:nvSpPr>
          <p:cNvPr id="23" name="Text Box 22"/>
          <p:cNvSpPr txBox="1"/>
          <p:nvPr/>
        </p:nvSpPr>
        <p:spPr>
          <a:xfrm>
            <a:off x="8482013" y="3967480"/>
            <a:ext cx="1715135" cy="78994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offers pattern list with search box</a:t>
            </a:r>
            <a:r>
              <a:rPr lang="en-US" sz="1200">
                <a:solidFill>
                  <a:schemeClr val="accent1">
                    <a:lumMod val="50000"/>
                  </a:schemeClr>
                </a:solidFill>
                <a:sym typeface="+mn-ea"/>
              </a:rPr>
              <a:t> and “Add New”</a:t>
            </a:r>
            <a:r>
              <a:rPr lang="en-US" sz="1200">
                <a:solidFill>
                  <a:schemeClr val="accent1">
                    <a:lumMod val="50000"/>
                  </a:schemeClr>
                </a:solidFill>
                <a:sym typeface="+mn-ea"/>
              </a:rPr>
              <a:t> option</a:t>
            </a:r>
            <a:r>
              <a:rPr lang="en-US" sz="1200">
                <a:solidFill>
                  <a:schemeClr val="accent1">
                    <a:lumMod val="50000"/>
                  </a:schemeClr>
                </a:solidFill>
                <a:sym typeface="+mn-ea"/>
              </a:rPr>
              <a:t>s</a:t>
            </a:r>
            <a:r>
              <a:rPr lang="en-US" sz="1200">
                <a:solidFill>
                  <a:schemeClr val="accent1">
                    <a:lumMod val="50000"/>
                  </a:schemeClr>
                </a:solidFill>
                <a:sym typeface="+mn-ea"/>
              </a:rPr>
              <a:t>.</a:t>
            </a:r>
            <a:endParaRPr lang="en-US" sz="1200">
              <a:solidFill>
                <a:schemeClr val="accent1">
                  <a:lumMod val="50000"/>
                </a:schemeClr>
              </a:solidFill>
              <a:sym typeface="+mn-ea"/>
            </a:endParaRPr>
          </a:p>
        </p:txBody>
      </p:sp>
      <p:sp>
        <p:nvSpPr>
          <p:cNvPr id="27" name="Rounded Rectangle 26"/>
          <p:cNvSpPr/>
          <p:nvPr/>
        </p:nvSpPr>
        <p:spPr>
          <a:xfrm>
            <a:off x="5467985" y="3103880"/>
            <a:ext cx="230759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400">
                <a:solidFill>
                  <a:schemeClr val="accent2">
                    <a:lumMod val="40000"/>
                    <a:lumOff val="60000"/>
                  </a:schemeClr>
                </a:solidFill>
                <a:sym typeface="+mn-ea"/>
              </a:rPr>
              <a:t>Pattern </a:t>
            </a:r>
            <a:r>
              <a:rPr lang="en-US" sz="1400">
                <a:solidFill>
                  <a:schemeClr val="accent2">
                    <a:lumMod val="40000"/>
                    <a:lumOff val="60000"/>
                  </a:schemeClr>
                </a:solidFill>
                <a:sym typeface="+mn-ea"/>
              </a:rPr>
              <a:t>Form </a:t>
            </a:r>
            <a:r>
              <a:rPr lang="en-US" sz="1400">
                <a:solidFill>
                  <a:schemeClr val="accent2">
                    <a:lumMod val="40000"/>
                    <a:lumOff val="60000"/>
                  </a:schemeClr>
                </a:solidFill>
                <a:sym typeface="+mn-ea"/>
              </a:rPr>
              <a:t>Selection</a:t>
            </a:r>
            <a:endParaRPr lang="en-US" sz="1400">
              <a:solidFill>
                <a:schemeClr val="accent2">
                  <a:lumMod val="40000"/>
                  <a:lumOff val="60000"/>
                </a:schemeClr>
              </a:solidFill>
              <a:sym typeface="+mn-ea"/>
            </a:endParaRPr>
          </a:p>
        </p:txBody>
      </p:sp>
      <p:sp>
        <p:nvSpPr>
          <p:cNvPr id="30" name="Text Box 29"/>
          <p:cNvSpPr txBox="1"/>
          <p:nvPr/>
        </p:nvSpPr>
        <p:spPr>
          <a:xfrm>
            <a:off x="8476933" y="2486660"/>
            <a:ext cx="1715135" cy="10744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offers 2D/3D options. Filters what patterns are available in the pattern selection box</a:t>
            </a:r>
            <a:endParaRPr lang="en-US" sz="1200">
              <a:solidFill>
                <a:schemeClr val="accent1">
                  <a:lumMod val="50000"/>
                </a:schemeClr>
              </a:solidFill>
              <a:sym typeface="+mn-ea"/>
            </a:endParaRPr>
          </a:p>
        </p:txBody>
      </p:sp>
      <p:sp>
        <p:nvSpPr>
          <p:cNvPr id="32" name="Rounded Rectangle 31"/>
          <p:cNvSpPr/>
          <p:nvPr/>
        </p:nvSpPr>
        <p:spPr>
          <a:xfrm>
            <a:off x="3049270" y="3638550"/>
            <a:ext cx="230378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400">
                <a:solidFill>
                  <a:schemeClr val="accent2">
                    <a:lumMod val="40000"/>
                    <a:lumOff val="60000"/>
                  </a:schemeClr>
                </a:solidFill>
                <a:sym typeface="+mn-ea"/>
              </a:rPr>
              <a:t>Pattern Theme Selection</a:t>
            </a:r>
            <a:endParaRPr lang="en-US" sz="1400">
              <a:solidFill>
                <a:schemeClr val="accent2">
                  <a:lumMod val="40000"/>
                  <a:lumOff val="60000"/>
                </a:schemeClr>
              </a:solidFill>
              <a:sym typeface="+mn-ea"/>
            </a:endParaRPr>
          </a:p>
        </p:txBody>
      </p:sp>
      <p:sp>
        <p:nvSpPr>
          <p:cNvPr id="33" name="Text Box 32"/>
          <p:cNvSpPr txBox="1"/>
          <p:nvPr/>
        </p:nvSpPr>
        <p:spPr>
          <a:xfrm>
            <a:off x="426085" y="3764280"/>
            <a:ext cx="1715135" cy="20897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offers Theme options. Filters what patterns are available in the pattern selection box. Has search box</a:t>
            </a:r>
            <a:r>
              <a:rPr lang="en-US" sz="1200">
                <a:solidFill>
                  <a:schemeClr val="accent1">
                    <a:lumMod val="50000"/>
                  </a:schemeClr>
                </a:solidFill>
                <a:sym typeface="+mn-ea"/>
              </a:rPr>
              <a:t> and add new</a:t>
            </a:r>
            <a:r>
              <a:rPr lang="en-US" sz="1200">
                <a:solidFill>
                  <a:schemeClr val="accent1">
                    <a:lumMod val="50000"/>
                  </a:schemeClr>
                </a:solidFill>
                <a:sym typeface="+mn-ea"/>
              </a:rPr>
              <a:t> option</a:t>
            </a:r>
            <a:r>
              <a:rPr lang="en-US" sz="1200">
                <a:solidFill>
                  <a:schemeClr val="accent1">
                    <a:lumMod val="50000"/>
                  </a:schemeClr>
                </a:solidFill>
                <a:sym typeface="+mn-ea"/>
              </a:rPr>
              <a:t>s</a:t>
            </a:r>
            <a:r>
              <a:rPr lang="en-US" sz="1200">
                <a:solidFill>
                  <a:schemeClr val="accent1">
                    <a:lumMod val="50000"/>
                  </a:schemeClr>
                </a:solidFill>
                <a:sym typeface="+mn-ea"/>
              </a:rPr>
              <a:t> at top. If “Add New” is selected, opens type box for entering new theme. New theme is added to theme list.</a:t>
            </a:r>
            <a:endParaRPr lang="en-US" sz="1200">
              <a:solidFill>
                <a:schemeClr val="accent1">
                  <a:lumMod val="50000"/>
                </a:schemeClr>
              </a:solidFill>
              <a:sym typeface="+mn-ea"/>
            </a:endParaRPr>
          </a:p>
        </p:txBody>
      </p:sp>
      <p:cxnSp>
        <p:nvCxnSpPr>
          <p:cNvPr id="37" name="Straight Connector 36"/>
          <p:cNvCxnSpPr>
            <a:stCxn id="23" idx="1"/>
            <a:endCxn id="19" idx="3"/>
          </p:cNvCxnSpPr>
          <p:nvPr/>
        </p:nvCxnSpPr>
        <p:spPr>
          <a:xfrm flipH="1" flipV="1">
            <a:off x="7783830" y="3867150"/>
            <a:ext cx="698500" cy="4953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38" name="Straight Connector 37"/>
          <p:cNvCxnSpPr>
            <a:stCxn id="21" idx="3"/>
            <a:endCxn id="20" idx="1"/>
          </p:cNvCxnSpPr>
          <p:nvPr/>
        </p:nvCxnSpPr>
        <p:spPr>
          <a:xfrm>
            <a:off x="2141220" y="2665095"/>
            <a:ext cx="908050" cy="6673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39" name="Straight Connector 38"/>
          <p:cNvCxnSpPr>
            <a:stCxn id="27" idx="3"/>
            <a:endCxn id="30" idx="1"/>
          </p:cNvCxnSpPr>
          <p:nvPr/>
        </p:nvCxnSpPr>
        <p:spPr>
          <a:xfrm flipV="1">
            <a:off x="7775575" y="3023870"/>
            <a:ext cx="701675" cy="30861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0" name="Straight Connector 39"/>
          <p:cNvCxnSpPr>
            <a:stCxn id="32" idx="1"/>
            <a:endCxn id="33" idx="3"/>
          </p:cNvCxnSpPr>
          <p:nvPr/>
        </p:nvCxnSpPr>
        <p:spPr>
          <a:xfrm flipH="1">
            <a:off x="2141220" y="3867150"/>
            <a:ext cx="908050" cy="9423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44" name="Rounded Rectangle 43"/>
          <p:cNvSpPr/>
          <p:nvPr/>
        </p:nvSpPr>
        <p:spPr>
          <a:xfrm>
            <a:off x="3057525" y="4728210"/>
            <a:ext cx="472630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Continue</a:t>
            </a:r>
            <a:endParaRPr lang="en-US">
              <a:solidFill>
                <a:schemeClr val="accent2">
                  <a:lumMod val="40000"/>
                  <a:lumOff val="60000"/>
                </a:schemeClr>
              </a:solidFill>
              <a:sym typeface="+mn-ea"/>
            </a:endParaRPr>
          </a:p>
        </p:txBody>
      </p:sp>
      <p:sp>
        <p:nvSpPr>
          <p:cNvPr id="53" name="Rounded Rectangle 52"/>
          <p:cNvSpPr/>
          <p:nvPr/>
        </p:nvSpPr>
        <p:spPr>
          <a:xfrm>
            <a:off x="3057525" y="4183380"/>
            <a:ext cx="472630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Project Name</a:t>
            </a:r>
            <a:endParaRPr lang="en-US">
              <a:solidFill>
                <a:schemeClr val="accent2">
                  <a:lumMod val="40000"/>
                  <a:lumOff val="60000"/>
                </a:schemeClr>
              </a:solidFill>
              <a:sym typeface="+mn-ea"/>
            </a:endParaRPr>
          </a:p>
        </p:txBody>
      </p:sp>
      <p:grpSp>
        <p:nvGrpSpPr>
          <p:cNvPr id="4" name="Group 3"/>
          <p:cNvGrpSpPr/>
          <p:nvPr/>
        </p:nvGrpSpPr>
        <p:grpSpPr>
          <a:xfrm>
            <a:off x="8115300" y="5255260"/>
            <a:ext cx="2270760" cy="1873250"/>
            <a:chOff x="12482" y="8276"/>
            <a:chExt cx="3576" cy="2950"/>
          </a:xfrm>
        </p:grpSpPr>
        <p:sp>
          <p:nvSpPr>
            <p:cNvPr id="17" name="Freeform 16"/>
            <p:cNvSpPr/>
            <p:nvPr/>
          </p:nvSpPr>
          <p:spPr>
            <a:xfrm>
              <a:off x="12482" y="8276"/>
              <a:ext cx="3577" cy="2950"/>
            </a:xfrm>
            <a:custGeom>
              <a:avLst/>
              <a:gdLst>
                <a:gd name="connsiteX0" fmla="*/ 0 w 3577"/>
                <a:gd name="connsiteY0" fmla="*/ 387 h 2950"/>
                <a:gd name="connsiteX1" fmla="*/ 269 w 3577"/>
                <a:gd name="connsiteY1" fmla="*/ 0 h 2950"/>
                <a:gd name="connsiteX2" fmla="*/ 3279 w 3577"/>
                <a:gd name="connsiteY2" fmla="*/ 0 h 2950"/>
                <a:gd name="connsiteX3" fmla="*/ 3577 w 3577"/>
                <a:gd name="connsiteY3" fmla="*/ 268 h 2950"/>
                <a:gd name="connsiteX4" fmla="*/ 3577 w 3577"/>
                <a:gd name="connsiteY4" fmla="*/ 2652 h 2950"/>
                <a:gd name="connsiteX5" fmla="*/ 3279 w 3577"/>
                <a:gd name="connsiteY5" fmla="*/ 2950 h 2950"/>
                <a:gd name="connsiteX6" fmla="*/ 298 w 3577"/>
                <a:gd name="connsiteY6" fmla="*/ 2950 h 2950"/>
                <a:gd name="connsiteX7" fmla="*/ 0 w 3577"/>
                <a:gd name="connsiteY7" fmla="*/ 2652 h 2950"/>
                <a:gd name="connsiteX8" fmla="*/ 0 w 3577"/>
                <a:gd name="connsiteY8" fmla="*/ 387 h 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7" h="2950">
                  <a:moveTo>
                    <a:pt x="0" y="387"/>
                  </a:moveTo>
                  <a:cubicBezTo>
                    <a:pt x="0" y="114"/>
                    <a:pt x="-4" y="0"/>
                    <a:pt x="269" y="0"/>
                  </a:cubicBezTo>
                  <a:lnTo>
                    <a:pt x="3279" y="0"/>
                  </a:lnTo>
                  <a:cubicBezTo>
                    <a:pt x="3552" y="0"/>
                    <a:pt x="3577" y="-5"/>
                    <a:pt x="3577" y="268"/>
                  </a:cubicBezTo>
                  <a:lnTo>
                    <a:pt x="3577" y="2652"/>
                  </a:lnTo>
                  <a:cubicBezTo>
                    <a:pt x="3577" y="2925"/>
                    <a:pt x="3552" y="2950"/>
                    <a:pt x="3279" y="2950"/>
                  </a:cubicBezTo>
                  <a:lnTo>
                    <a:pt x="298" y="2950"/>
                  </a:lnTo>
                  <a:cubicBezTo>
                    <a:pt x="25" y="2950"/>
                    <a:pt x="0" y="2925"/>
                    <a:pt x="0" y="2652"/>
                  </a:cubicBezTo>
                  <a:lnTo>
                    <a:pt x="0" y="387"/>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20000"/>
                    <a:lumOff val="80000"/>
                  </a:schemeClr>
                </a:solidFill>
                <a:sym typeface="+mn-ea"/>
              </a:endParaRPr>
            </a:p>
          </p:txBody>
        </p:sp>
        <p:sp>
          <p:nvSpPr>
            <p:cNvPr id="18" name="Freeform 17"/>
            <p:cNvSpPr/>
            <p:nvPr/>
          </p:nvSpPr>
          <p:spPr>
            <a:xfrm>
              <a:off x="12583" y="8895"/>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 New</a:t>
              </a:r>
              <a:endParaRPr lang="en-US">
                <a:solidFill>
                  <a:schemeClr val="accent2">
                    <a:lumMod val="40000"/>
                    <a:lumOff val="60000"/>
                  </a:schemeClr>
                </a:solidFill>
                <a:sym typeface="+mn-ea"/>
              </a:endParaRPr>
            </a:p>
          </p:txBody>
        </p:sp>
        <p:sp>
          <p:nvSpPr>
            <p:cNvPr id="2" name="Freeform 1"/>
            <p:cNvSpPr/>
            <p:nvPr/>
          </p:nvSpPr>
          <p:spPr>
            <a:xfrm>
              <a:off x="12583" y="8384"/>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0" rIns="9144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Search</a:t>
              </a:r>
              <a:endParaRPr lang="en-US">
                <a:solidFill>
                  <a:schemeClr val="accent2">
                    <a:lumMod val="40000"/>
                    <a:lumOff val="60000"/>
                  </a:schemeClr>
                </a:solidFill>
                <a:sym typeface="+mn-ea"/>
              </a:endParaRPr>
            </a:p>
          </p:txBody>
        </p:sp>
      </p:grpSp>
      <p:cxnSp>
        <p:nvCxnSpPr>
          <p:cNvPr id="3" name="Straight Connector 2"/>
          <p:cNvCxnSpPr>
            <a:stCxn id="17" idx="2"/>
            <a:endCxn id="23" idx="2"/>
          </p:cNvCxnSpPr>
          <p:nvPr/>
        </p:nvCxnSpPr>
        <p:spPr>
          <a:xfrm flipH="1" flipV="1">
            <a:off x="9340215" y="4757420"/>
            <a:ext cx="857250" cy="4978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Project</a:t>
            </a:r>
            <a:r>
              <a:rPr lang="en-US">
                <a:solidFill>
                  <a:schemeClr val="accent1">
                    <a:lumMod val="50000"/>
                  </a:schemeClr>
                </a:solidFill>
                <a:sym typeface="+mn-ea"/>
              </a:rPr>
              <a:t>: Step 2</a:t>
            </a:r>
            <a:endParaRPr lang="en-US">
              <a:solidFill>
                <a:schemeClr val="accent1">
                  <a:lumMod val="50000"/>
                </a:schemeClr>
              </a:solidFill>
              <a:sym typeface="+mn-ea"/>
            </a:endParaRPr>
          </a:p>
        </p:txBody>
      </p:sp>
      <p:sp>
        <p:nvSpPr>
          <p:cNvPr id="51" name="Text Box 50"/>
          <p:cNvSpPr txBox="1"/>
          <p:nvPr/>
        </p:nvSpPr>
        <p:spPr>
          <a:xfrm>
            <a:off x="8476933" y="2486660"/>
            <a:ext cx="1715135" cy="10744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When selected, adds new row for next step, and a stich count box. Moves to end of new row.</a:t>
            </a:r>
            <a:endParaRPr lang="en-US" sz="1200">
              <a:solidFill>
                <a:schemeClr val="accent1">
                  <a:lumMod val="50000"/>
                </a:schemeClr>
              </a:solidFill>
              <a:sym typeface="+mn-ea"/>
            </a:endParaRPr>
          </a:p>
        </p:txBody>
      </p:sp>
      <p:cxnSp>
        <p:nvCxnSpPr>
          <p:cNvPr id="52" name="Straight Connector 51"/>
          <p:cNvCxnSpPr/>
          <p:nvPr/>
        </p:nvCxnSpPr>
        <p:spPr>
          <a:xfrm flipH="1" flipV="1">
            <a:off x="7692390" y="2051685"/>
            <a:ext cx="784860" cy="9721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17" name="Group 16"/>
          <p:cNvGrpSpPr/>
          <p:nvPr/>
        </p:nvGrpSpPr>
        <p:grpSpPr>
          <a:xfrm>
            <a:off x="3054350" y="1478915"/>
            <a:ext cx="4724400" cy="5671820"/>
            <a:chOff x="4810" y="2329"/>
            <a:chExt cx="7440" cy="8932"/>
          </a:xfrm>
        </p:grpSpPr>
        <p:sp>
          <p:nvSpPr>
            <p:cNvPr id="5" name="Freeform 4"/>
            <p:cNvSpPr/>
            <p:nvPr/>
          </p:nvSpPr>
          <p:spPr>
            <a:xfrm>
              <a:off x="4810" y="2329"/>
              <a:ext cx="7440" cy="893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Pattern Steps</a:t>
              </a:r>
              <a:endParaRPr lang="en-US">
                <a:solidFill>
                  <a:schemeClr val="accent2">
                    <a:lumMod val="40000"/>
                    <a:lumOff val="60000"/>
                  </a:schemeClr>
                </a:solidFill>
                <a:sym typeface="+mn-ea"/>
              </a:endParaRPr>
            </a:p>
          </p:txBody>
        </p:sp>
        <p:sp>
          <p:nvSpPr>
            <p:cNvPr id="48" name="Rounded Rectangle 47"/>
            <p:cNvSpPr/>
            <p:nvPr/>
          </p:nvSpPr>
          <p:spPr>
            <a:xfrm>
              <a:off x="4948" y="2888"/>
              <a:ext cx="429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Row/Rnd One</a:t>
              </a:r>
              <a:endParaRPr lang="en-US">
                <a:solidFill>
                  <a:schemeClr val="accent2">
                    <a:lumMod val="20000"/>
                    <a:lumOff val="80000"/>
                  </a:schemeClr>
                </a:solidFill>
                <a:sym typeface="+mn-ea"/>
              </a:endParaRPr>
            </a:p>
          </p:txBody>
        </p:sp>
        <p:sp>
          <p:nvSpPr>
            <p:cNvPr id="49" name="Rounded Rectangle 48"/>
            <p:cNvSpPr/>
            <p:nvPr/>
          </p:nvSpPr>
          <p:spPr>
            <a:xfrm>
              <a:off x="9330" y="2889"/>
              <a:ext cx="992"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Stitch Count</a:t>
              </a:r>
              <a:endParaRPr lang="en-US" sz="1000">
                <a:solidFill>
                  <a:schemeClr val="accent2">
                    <a:lumMod val="20000"/>
                    <a:lumOff val="80000"/>
                  </a:schemeClr>
                </a:solidFill>
                <a:sym typeface="+mn-ea"/>
              </a:endParaRPr>
            </a:p>
          </p:txBody>
        </p:sp>
        <p:sp>
          <p:nvSpPr>
            <p:cNvPr id="50" name="Rounded Rectangle 49"/>
            <p:cNvSpPr/>
            <p:nvPr/>
          </p:nvSpPr>
          <p:spPr>
            <a:xfrm>
              <a:off x="10408" y="2890"/>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Add Row/Rnd</a:t>
              </a:r>
              <a:endParaRPr lang="en-US" sz="1000">
                <a:solidFill>
                  <a:schemeClr val="accent2">
                    <a:lumMod val="20000"/>
                    <a:lumOff val="80000"/>
                  </a:schemeClr>
                </a:solidFill>
                <a:sym typeface="+mn-ea"/>
              </a:endParaRPr>
            </a:p>
          </p:txBody>
        </p:sp>
        <p:sp>
          <p:nvSpPr>
            <p:cNvPr id="2" name="Rounded Rectangle 1"/>
            <p:cNvSpPr/>
            <p:nvPr/>
          </p:nvSpPr>
          <p:spPr>
            <a:xfrm>
              <a:off x="4948" y="9913"/>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New Piece</a:t>
              </a:r>
              <a:endParaRPr lang="en-US" sz="1000">
                <a:solidFill>
                  <a:schemeClr val="accent2">
                    <a:lumMod val="20000"/>
                    <a:lumOff val="80000"/>
                  </a:schemeClr>
                </a:solidFill>
                <a:sym typeface="+mn-ea"/>
              </a:endParaRPr>
            </a:p>
          </p:txBody>
        </p:sp>
        <p:sp>
          <p:nvSpPr>
            <p:cNvPr id="3" name="Rounded Rectangle 2"/>
            <p:cNvSpPr/>
            <p:nvPr/>
          </p:nvSpPr>
          <p:spPr>
            <a:xfrm>
              <a:off x="10408" y="9913"/>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Next Step</a:t>
              </a:r>
              <a:endParaRPr lang="en-US" sz="1000">
                <a:solidFill>
                  <a:schemeClr val="accent2">
                    <a:lumMod val="20000"/>
                    <a:lumOff val="80000"/>
                  </a:schemeClr>
                </a:solidFill>
                <a:sym typeface="+mn-ea"/>
              </a:endParaRPr>
            </a:p>
          </p:txBody>
        </p:sp>
      </p:grpSp>
      <p:sp>
        <p:nvSpPr>
          <p:cNvPr id="4" name="Text Box 3"/>
          <p:cNvSpPr txBox="1"/>
          <p:nvPr/>
        </p:nvSpPr>
        <p:spPr>
          <a:xfrm>
            <a:off x="570865" y="5330825"/>
            <a:ext cx="1715135" cy="117983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Should save current pattern piece, and pull up clean pattern entry screen. If clicked, should pull up screen to name the pattern piece.</a:t>
            </a:r>
            <a:endParaRPr lang="en-US" sz="1200">
              <a:solidFill>
                <a:schemeClr val="accent1">
                  <a:lumMod val="50000"/>
                </a:schemeClr>
              </a:solidFill>
              <a:sym typeface="+mn-ea"/>
            </a:endParaRPr>
          </a:p>
        </p:txBody>
      </p:sp>
      <p:cxnSp>
        <p:nvCxnSpPr>
          <p:cNvPr id="6" name="Straight Connector 5"/>
          <p:cNvCxnSpPr>
            <a:stCxn id="2" idx="1"/>
            <a:endCxn id="4" idx="3"/>
          </p:cNvCxnSpPr>
          <p:nvPr/>
        </p:nvCxnSpPr>
        <p:spPr>
          <a:xfrm flipH="1" flipV="1">
            <a:off x="2286000" y="5920740"/>
            <a:ext cx="855980" cy="5905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16" name="Group 15"/>
          <p:cNvGrpSpPr/>
          <p:nvPr/>
        </p:nvGrpSpPr>
        <p:grpSpPr>
          <a:xfrm>
            <a:off x="171450" y="3328035"/>
            <a:ext cx="2647950" cy="853440"/>
            <a:chOff x="270" y="5241"/>
            <a:chExt cx="4170" cy="1344"/>
          </a:xfrm>
        </p:grpSpPr>
        <p:sp>
          <p:nvSpPr>
            <p:cNvPr id="10" name="Freeform 9"/>
            <p:cNvSpPr/>
            <p:nvPr/>
          </p:nvSpPr>
          <p:spPr>
            <a:xfrm>
              <a:off x="270" y="5241"/>
              <a:ext cx="4171" cy="1344"/>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Enter Name</a:t>
              </a:r>
              <a:endParaRPr lang="en-US">
                <a:solidFill>
                  <a:schemeClr val="accent2">
                    <a:lumMod val="40000"/>
                    <a:lumOff val="60000"/>
                  </a:schemeClr>
                </a:solidFill>
                <a:sym typeface="+mn-ea"/>
              </a:endParaRPr>
            </a:p>
          </p:txBody>
        </p:sp>
        <p:sp>
          <p:nvSpPr>
            <p:cNvPr id="11" name="Rounded Rectangle 10"/>
            <p:cNvSpPr/>
            <p:nvPr/>
          </p:nvSpPr>
          <p:spPr>
            <a:xfrm>
              <a:off x="390" y="5799"/>
              <a:ext cx="393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20000"/>
                    <a:lumOff val="80000"/>
                  </a:schemeClr>
                </a:solidFill>
                <a:sym typeface="+mn-ea"/>
              </a:endParaRPr>
            </a:p>
          </p:txBody>
        </p:sp>
      </p:grpSp>
      <p:cxnSp>
        <p:nvCxnSpPr>
          <p:cNvPr id="12" name="Straight Connector 11"/>
          <p:cNvCxnSpPr>
            <a:stCxn id="10" idx="5"/>
            <a:endCxn id="4" idx="0"/>
          </p:cNvCxnSpPr>
          <p:nvPr/>
        </p:nvCxnSpPr>
        <p:spPr>
          <a:xfrm flipH="1">
            <a:off x="1428750" y="4181475"/>
            <a:ext cx="1209675" cy="11493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3" name="Text Box 12"/>
          <p:cNvSpPr txBox="1"/>
          <p:nvPr/>
        </p:nvSpPr>
        <p:spPr>
          <a:xfrm>
            <a:off x="8604250" y="5440680"/>
            <a:ext cx="1715135" cy="128651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multiple pieces are entered, should show Enter Name box for last pattern piece before progressing to the next step</a:t>
            </a:r>
            <a:endParaRPr lang="en-US" sz="1200">
              <a:solidFill>
                <a:schemeClr val="accent1">
                  <a:lumMod val="50000"/>
                </a:schemeClr>
              </a:solidFill>
              <a:sym typeface="+mn-ea"/>
            </a:endParaRPr>
          </a:p>
        </p:txBody>
      </p:sp>
      <p:cxnSp>
        <p:nvCxnSpPr>
          <p:cNvPr id="14" name="Straight Connector 13"/>
          <p:cNvCxnSpPr>
            <a:stCxn id="13" idx="1"/>
            <a:endCxn id="10" idx="4"/>
          </p:cNvCxnSpPr>
          <p:nvPr/>
        </p:nvCxnSpPr>
        <p:spPr>
          <a:xfrm flipH="1" flipV="1">
            <a:off x="2809240" y="4074160"/>
            <a:ext cx="5795010" cy="200977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5" name="Straight Connector 14"/>
          <p:cNvCxnSpPr>
            <a:stCxn id="3" idx="3"/>
            <a:endCxn id="13" idx="1"/>
          </p:cNvCxnSpPr>
          <p:nvPr/>
        </p:nvCxnSpPr>
        <p:spPr>
          <a:xfrm flipV="1">
            <a:off x="7692390" y="6083935"/>
            <a:ext cx="911860" cy="4273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Freeform 4"/>
          <p:cNvSpPr/>
          <p:nvPr/>
        </p:nvSpPr>
        <p:spPr>
          <a:xfrm>
            <a:off x="3054350" y="2059940"/>
            <a:ext cx="4724400" cy="431355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Supplies</a:t>
            </a:r>
            <a:endParaRPr lang="en-US">
              <a:solidFill>
                <a:schemeClr val="accent2">
                  <a:lumMod val="40000"/>
                  <a:lumOff val="60000"/>
                </a:schemeClr>
              </a:solidFill>
              <a:sym typeface="+mn-ea"/>
            </a:endParaRPr>
          </a:p>
        </p:txBody>
      </p: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Project</a:t>
            </a:r>
            <a:r>
              <a:rPr lang="en-US">
                <a:solidFill>
                  <a:schemeClr val="accent1">
                    <a:lumMod val="50000"/>
                  </a:schemeClr>
                </a:solidFill>
                <a:sym typeface="+mn-ea"/>
              </a:rPr>
              <a:t>: Step 3</a:t>
            </a:r>
            <a:endParaRPr lang="en-US">
              <a:solidFill>
                <a:schemeClr val="accent1">
                  <a:lumMod val="50000"/>
                </a:schemeClr>
              </a:solidFill>
              <a:sym typeface="+mn-ea"/>
            </a:endParaRPr>
          </a:p>
        </p:txBody>
      </p:sp>
      <p:sp>
        <p:nvSpPr>
          <p:cNvPr id="3" name="Rounded Rectangle 2"/>
          <p:cNvSpPr/>
          <p:nvPr/>
        </p:nvSpPr>
        <p:spPr>
          <a:xfrm>
            <a:off x="5437505" y="4433570"/>
            <a:ext cx="2272030" cy="188150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Notions</a:t>
            </a:r>
            <a:endParaRPr lang="en-US">
              <a:solidFill>
                <a:schemeClr val="accent2">
                  <a:lumMod val="20000"/>
                  <a:lumOff val="80000"/>
                </a:schemeClr>
              </a:solidFill>
              <a:sym typeface="+mn-ea"/>
            </a:endParaRPr>
          </a:p>
        </p:txBody>
      </p:sp>
      <p:grpSp>
        <p:nvGrpSpPr>
          <p:cNvPr id="11" name="Group 10"/>
          <p:cNvGrpSpPr/>
          <p:nvPr/>
        </p:nvGrpSpPr>
        <p:grpSpPr>
          <a:xfrm>
            <a:off x="3121025" y="2552065"/>
            <a:ext cx="2272030" cy="3751580"/>
            <a:chOff x="4915" y="4019"/>
            <a:chExt cx="3578" cy="5908"/>
          </a:xfrm>
        </p:grpSpPr>
        <p:sp>
          <p:nvSpPr>
            <p:cNvPr id="26" name="Rounded Rectangle 25"/>
            <p:cNvSpPr/>
            <p:nvPr/>
          </p:nvSpPr>
          <p:spPr>
            <a:xfrm>
              <a:off x="4915" y="4019"/>
              <a:ext cx="3578" cy="5909"/>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Yarns</a:t>
              </a:r>
              <a:endParaRPr lang="en-US">
                <a:solidFill>
                  <a:schemeClr val="accent2">
                    <a:lumMod val="20000"/>
                    <a:lumOff val="80000"/>
                  </a:schemeClr>
                </a:solidFill>
                <a:sym typeface="+mn-ea"/>
              </a:endParaRPr>
            </a:p>
          </p:txBody>
        </p:sp>
        <p:sp>
          <p:nvSpPr>
            <p:cNvPr id="4" name="Freeform 3"/>
            <p:cNvSpPr/>
            <p:nvPr/>
          </p:nvSpPr>
          <p:spPr>
            <a:xfrm>
              <a:off x="5010" y="4679"/>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a:t>
              </a:r>
              <a:endParaRPr lang="en-US">
                <a:solidFill>
                  <a:schemeClr val="accent2">
                    <a:lumMod val="40000"/>
                    <a:lumOff val="60000"/>
                  </a:schemeClr>
                </a:solidFill>
                <a:sym typeface="+mn-ea"/>
              </a:endParaRPr>
            </a:p>
          </p:txBody>
        </p:sp>
      </p:grpSp>
      <p:sp>
        <p:nvSpPr>
          <p:cNvPr id="6" name="Freeform 5"/>
          <p:cNvSpPr/>
          <p:nvPr/>
        </p:nvSpPr>
        <p:spPr>
          <a:xfrm>
            <a:off x="5501005" y="4855845"/>
            <a:ext cx="2155190" cy="287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a:t>
            </a:r>
            <a:endParaRPr lang="en-US">
              <a:solidFill>
                <a:schemeClr val="accent2">
                  <a:lumMod val="40000"/>
                  <a:lumOff val="60000"/>
                </a:schemeClr>
              </a:solidFill>
              <a:sym typeface="+mn-ea"/>
            </a:endParaRPr>
          </a:p>
        </p:txBody>
      </p:sp>
      <p:grpSp>
        <p:nvGrpSpPr>
          <p:cNvPr id="15" name="Group 14"/>
          <p:cNvGrpSpPr/>
          <p:nvPr/>
        </p:nvGrpSpPr>
        <p:grpSpPr>
          <a:xfrm>
            <a:off x="5437505" y="2552065"/>
            <a:ext cx="2272030" cy="1880870"/>
            <a:chOff x="8563" y="4019"/>
            <a:chExt cx="3578" cy="2962"/>
          </a:xfrm>
        </p:grpSpPr>
        <p:sp>
          <p:nvSpPr>
            <p:cNvPr id="2" name="Rounded Rectangle 1"/>
            <p:cNvSpPr/>
            <p:nvPr/>
          </p:nvSpPr>
          <p:spPr>
            <a:xfrm>
              <a:off x="8563" y="4019"/>
              <a:ext cx="3578" cy="2963"/>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Tools</a:t>
              </a:r>
              <a:endParaRPr lang="en-US">
                <a:solidFill>
                  <a:schemeClr val="accent2">
                    <a:lumMod val="20000"/>
                    <a:lumOff val="80000"/>
                  </a:schemeClr>
                </a:solidFill>
                <a:sym typeface="+mn-ea"/>
              </a:endParaRPr>
            </a:p>
          </p:txBody>
        </p:sp>
        <p:sp>
          <p:nvSpPr>
            <p:cNvPr id="7" name="Freeform 6"/>
            <p:cNvSpPr/>
            <p:nvPr/>
          </p:nvSpPr>
          <p:spPr>
            <a:xfrm>
              <a:off x="8663" y="4679"/>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a:t>
              </a:r>
              <a:endParaRPr lang="en-US">
                <a:solidFill>
                  <a:schemeClr val="accent2">
                    <a:lumMod val="40000"/>
                    <a:lumOff val="60000"/>
                  </a:schemeClr>
                </a:solidFill>
                <a:sym typeface="+mn-ea"/>
              </a:endParaRPr>
            </a:p>
          </p:txBody>
        </p:sp>
      </p:grpSp>
      <p:sp>
        <p:nvSpPr>
          <p:cNvPr id="45" name="Text Box 44"/>
          <p:cNvSpPr txBox="1"/>
          <p:nvPr/>
        </p:nvSpPr>
        <p:spPr>
          <a:xfrm>
            <a:off x="8503285" y="3743325"/>
            <a:ext cx="1715135" cy="6902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boxes with Correlating items and “Add New” options.</a:t>
            </a:r>
            <a:endParaRPr lang="en-US" sz="1200">
              <a:solidFill>
                <a:schemeClr val="accent1">
                  <a:lumMod val="50000"/>
                </a:schemeClr>
              </a:solidFill>
              <a:sym typeface="+mn-ea"/>
            </a:endParaRPr>
          </a:p>
        </p:txBody>
      </p:sp>
      <p:cxnSp>
        <p:nvCxnSpPr>
          <p:cNvPr id="8" name="Straight Connector 7"/>
          <p:cNvCxnSpPr>
            <a:stCxn id="4" idx="4"/>
            <a:endCxn id="45" idx="1"/>
          </p:cNvCxnSpPr>
          <p:nvPr/>
        </p:nvCxnSpPr>
        <p:spPr>
          <a:xfrm>
            <a:off x="5327650" y="3221990"/>
            <a:ext cx="3175635" cy="86677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9" name="Straight Connector 8"/>
          <p:cNvCxnSpPr>
            <a:stCxn id="6" idx="3"/>
            <a:endCxn id="45" idx="1"/>
          </p:cNvCxnSpPr>
          <p:nvPr/>
        </p:nvCxnSpPr>
        <p:spPr>
          <a:xfrm flipV="1">
            <a:off x="7656195" y="4088765"/>
            <a:ext cx="847090" cy="8013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0" name="Straight Connector 9"/>
          <p:cNvCxnSpPr>
            <a:stCxn id="7" idx="5"/>
            <a:endCxn id="45" idx="1"/>
          </p:cNvCxnSpPr>
          <p:nvPr/>
        </p:nvCxnSpPr>
        <p:spPr>
          <a:xfrm>
            <a:off x="7508240" y="3258185"/>
            <a:ext cx="995045" cy="83058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7" name="Freeform 16"/>
          <p:cNvSpPr/>
          <p:nvPr/>
        </p:nvSpPr>
        <p:spPr>
          <a:xfrm>
            <a:off x="626108" y="1722100"/>
            <a:ext cx="2271397" cy="1873254"/>
          </a:xfrm>
          <a:custGeom>
            <a:avLst/>
            <a:gdLst>
              <a:gd name="connsiteX0" fmla="*/ 0 w 3577"/>
              <a:gd name="connsiteY0" fmla="*/ 387 h 2950"/>
              <a:gd name="connsiteX1" fmla="*/ 269 w 3577"/>
              <a:gd name="connsiteY1" fmla="*/ 0 h 2950"/>
              <a:gd name="connsiteX2" fmla="*/ 3279 w 3577"/>
              <a:gd name="connsiteY2" fmla="*/ 0 h 2950"/>
              <a:gd name="connsiteX3" fmla="*/ 3577 w 3577"/>
              <a:gd name="connsiteY3" fmla="*/ 268 h 2950"/>
              <a:gd name="connsiteX4" fmla="*/ 3577 w 3577"/>
              <a:gd name="connsiteY4" fmla="*/ 2652 h 2950"/>
              <a:gd name="connsiteX5" fmla="*/ 3279 w 3577"/>
              <a:gd name="connsiteY5" fmla="*/ 2950 h 2950"/>
              <a:gd name="connsiteX6" fmla="*/ 298 w 3577"/>
              <a:gd name="connsiteY6" fmla="*/ 2950 h 2950"/>
              <a:gd name="connsiteX7" fmla="*/ 0 w 3577"/>
              <a:gd name="connsiteY7" fmla="*/ 2652 h 2950"/>
              <a:gd name="connsiteX8" fmla="*/ 0 w 3577"/>
              <a:gd name="connsiteY8" fmla="*/ 387 h 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7" h="2950">
                <a:moveTo>
                  <a:pt x="0" y="387"/>
                </a:moveTo>
                <a:cubicBezTo>
                  <a:pt x="0" y="114"/>
                  <a:pt x="-4" y="0"/>
                  <a:pt x="269" y="0"/>
                </a:cubicBezTo>
                <a:lnTo>
                  <a:pt x="3279" y="0"/>
                </a:lnTo>
                <a:cubicBezTo>
                  <a:pt x="3552" y="0"/>
                  <a:pt x="3577" y="-5"/>
                  <a:pt x="3577" y="268"/>
                </a:cubicBezTo>
                <a:lnTo>
                  <a:pt x="3577" y="2652"/>
                </a:lnTo>
                <a:cubicBezTo>
                  <a:pt x="3577" y="2925"/>
                  <a:pt x="3552" y="2950"/>
                  <a:pt x="3279" y="2950"/>
                </a:cubicBezTo>
                <a:lnTo>
                  <a:pt x="298" y="2950"/>
                </a:lnTo>
                <a:cubicBezTo>
                  <a:pt x="25" y="2950"/>
                  <a:pt x="0" y="2925"/>
                  <a:pt x="0" y="2652"/>
                </a:cubicBezTo>
                <a:lnTo>
                  <a:pt x="0" y="387"/>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20000"/>
                  <a:lumOff val="80000"/>
                </a:schemeClr>
              </a:solidFill>
              <a:sym typeface="+mn-ea"/>
            </a:endParaRPr>
          </a:p>
        </p:txBody>
      </p:sp>
      <p:sp>
        <p:nvSpPr>
          <p:cNvPr id="18" name="Freeform 17"/>
          <p:cNvSpPr/>
          <p:nvPr/>
        </p:nvSpPr>
        <p:spPr>
          <a:xfrm>
            <a:off x="690245" y="2115185"/>
            <a:ext cx="2155190" cy="287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 New</a:t>
            </a:r>
            <a:endParaRPr lang="en-US">
              <a:solidFill>
                <a:schemeClr val="accent2">
                  <a:lumMod val="40000"/>
                  <a:lumOff val="60000"/>
                </a:schemeClr>
              </a:solidFill>
              <a:sym typeface="+mn-ea"/>
            </a:endParaRPr>
          </a:p>
        </p:txBody>
      </p:sp>
      <p:sp>
        <p:nvSpPr>
          <p:cNvPr id="19" name="Freeform 18"/>
          <p:cNvSpPr/>
          <p:nvPr/>
        </p:nvSpPr>
        <p:spPr>
          <a:xfrm>
            <a:off x="690245" y="1790700"/>
            <a:ext cx="2155190" cy="287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0" rIns="9144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Search</a:t>
            </a:r>
            <a:endParaRPr lang="en-US">
              <a:solidFill>
                <a:schemeClr val="accent2">
                  <a:lumMod val="40000"/>
                  <a:lumOff val="60000"/>
                </a:schemeClr>
              </a:solidFill>
              <a:sym typeface="+mn-ea"/>
            </a:endParaRPr>
          </a:p>
        </p:txBody>
      </p:sp>
      <p:sp>
        <p:nvSpPr>
          <p:cNvPr id="20" name="Text Box 19"/>
          <p:cNvSpPr txBox="1"/>
          <p:nvPr/>
        </p:nvSpPr>
        <p:spPr>
          <a:xfrm>
            <a:off x="822960" y="4574540"/>
            <a:ext cx="1715135" cy="6902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a:t>
            </a:r>
            <a:endParaRPr lang="en-US" sz="1200">
              <a:solidFill>
                <a:schemeClr val="accent1">
                  <a:lumMod val="50000"/>
                </a:schemeClr>
              </a:solidFill>
              <a:sym typeface="+mn-ea"/>
            </a:endParaRPr>
          </a:p>
        </p:txBody>
      </p:sp>
      <p:cxnSp>
        <p:nvCxnSpPr>
          <p:cNvPr id="22" name="Straight Connector 21"/>
          <p:cNvCxnSpPr>
            <a:stCxn id="17" idx="6"/>
            <a:endCxn id="20" idx="0"/>
          </p:cNvCxnSpPr>
          <p:nvPr/>
        </p:nvCxnSpPr>
        <p:spPr>
          <a:xfrm>
            <a:off x="815340" y="3595370"/>
            <a:ext cx="865505" cy="9791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Project</a:t>
            </a:r>
            <a:r>
              <a:rPr lang="en-US">
                <a:solidFill>
                  <a:schemeClr val="accent1">
                    <a:lumMod val="50000"/>
                  </a:schemeClr>
                </a:solidFill>
                <a:sym typeface="+mn-ea"/>
              </a:rPr>
              <a:t>: Step 4</a:t>
            </a:r>
            <a:endParaRPr lang="en-US">
              <a:solidFill>
                <a:schemeClr val="accent1">
                  <a:lumMod val="50000"/>
                </a:schemeClr>
              </a:solidFill>
              <a:sym typeface="+mn-ea"/>
            </a:endParaRPr>
          </a:p>
        </p:txBody>
      </p:sp>
      <p:sp>
        <p:nvSpPr>
          <p:cNvPr id="5" name="Freeform 4"/>
          <p:cNvSpPr/>
          <p:nvPr/>
        </p:nvSpPr>
        <p:spPr>
          <a:xfrm>
            <a:off x="3054350" y="2059940"/>
            <a:ext cx="4724400" cy="345757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15" name="Rounded Rectangle 14"/>
          <p:cNvSpPr/>
          <p:nvPr/>
        </p:nvSpPr>
        <p:spPr>
          <a:xfrm>
            <a:off x="3143885" y="3513455"/>
            <a:ext cx="2272030" cy="19151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 name="Rounded Rectangle 1"/>
          <p:cNvSpPr/>
          <p:nvPr/>
        </p:nvSpPr>
        <p:spPr>
          <a:xfrm>
            <a:off x="3143885" y="2223135"/>
            <a:ext cx="4528185" cy="47498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 Project Title</a:t>
            </a:r>
            <a:endParaRPr lang="en-US">
              <a:solidFill>
                <a:schemeClr val="accent2">
                  <a:lumMod val="20000"/>
                  <a:lumOff val="80000"/>
                </a:schemeClr>
              </a:solidFill>
              <a:sym typeface="+mn-ea"/>
            </a:endParaRPr>
          </a:p>
        </p:txBody>
      </p:sp>
      <p:sp>
        <p:nvSpPr>
          <p:cNvPr id="3" name="Rounded Rectangle 2"/>
          <p:cNvSpPr/>
          <p:nvPr/>
        </p:nvSpPr>
        <p:spPr>
          <a:xfrm>
            <a:off x="3143885" y="2825115"/>
            <a:ext cx="4528185" cy="47498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Pattern Name</a:t>
            </a:r>
            <a:endParaRPr lang="en-US">
              <a:solidFill>
                <a:schemeClr val="accent2">
                  <a:lumMod val="20000"/>
                  <a:lumOff val="80000"/>
                </a:schemeClr>
              </a:solidFill>
              <a:sym typeface="+mn-ea"/>
            </a:endParaRPr>
          </a:p>
        </p:txBody>
      </p:sp>
      <p:sp>
        <p:nvSpPr>
          <p:cNvPr id="4" name="Rounded Rectangle 3"/>
          <p:cNvSpPr/>
          <p:nvPr/>
        </p:nvSpPr>
        <p:spPr>
          <a:xfrm>
            <a:off x="5544820" y="3513455"/>
            <a:ext cx="2019300" cy="8356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Difficulty</a:t>
            </a:r>
            <a:endParaRPr lang="en-US">
              <a:solidFill>
                <a:schemeClr val="accent2">
                  <a:lumMod val="20000"/>
                  <a:lumOff val="80000"/>
                </a:schemeClr>
              </a:solidFill>
              <a:sym typeface="+mn-ea"/>
            </a:endParaRPr>
          </a:p>
        </p:txBody>
      </p:sp>
      <p:sp>
        <p:nvSpPr>
          <p:cNvPr id="6" name="Freeform 5"/>
          <p:cNvSpPr/>
          <p:nvPr/>
        </p:nvSpPr>
        <p:spPr>
          <a:xfrm>
            <a:off x="5772785" y="3881120"/>
            <a:ext cx="1564005" cy="2743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7" name="Rectangles 6"/>
          <p:cNvSpPr/>
          <p:nvPr/>
        </p:nvSpPr>
        <p:spPr>
          <a:xfrm>
            <a:off x="5824855" y="3924935"/>
            <a:ext cx="182880" cy="182880"/>
          </a:xfrm>
          <a:prstGeom prst="rect">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6079490" y="3924935"/>
            <a:ext cx="182245" cy="18288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Rectangles 8"/>
          <p:cNvSpPr/>
          <p:nvPr/>
        </p:nvSpPr>
        <p:spPr>
          <a:xfrm>
            <a:off x="6333490" y="3924935"/>
            <a:ext cx="182245" cy="182880"/>
          </a:xfrm>
          <a:prstGeom prst="rect">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Rectangles 9"/>
          <p:cNvSpPr/>
          <p:nvPr/>
        </p:nvSpPr>
        <p:spPr>
          <a:xfrm>
            <a:off x="6587490" y="3924935"/>
            <a:ext cx="182245" cy="18288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Rectangles 10"/>
          <p:cNvSpPr/>
          <p:nvPr/>
        </p:nvSpPr>
        <p:spPr>
          <a:xfrm>
            <a:off x="6841490" y="3924935"/>
            <a:ext cx="182245" cy="18288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Text Box 13"/>
          <p:cNvSpPr txBox="1"/>
          <p:nvPr/>
        </p:nvSpPr>
        <p:spPr>
          <a:xfrm>
            <a:off x="8258175" y="3719830"/>
            <a:ext cx="2338705" cy="194881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Highlights selected box, each color translates to a word for difficulty on finalization page and view project page</a:t>
            </a:r>
            <a:r>
              <a:rPr lang="en-US" sz="1200">
                <a:solidFill>
                  <a:schemeClr val="accent1">
                    <a:lumMod val="50000"/>
                  </a:schemeClr>
                </a:solidFill>
                <a:sym typeface="+mn-ea"/>
              </a:rPr>
              <a:t>:</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Beginner</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Beginner+</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Intermediate</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Intermediate+</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Advanced</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Advanced+</a:t>
            </a:r>
            <a:endParaRPr lang="en-US" sz="1200">
              <a:solidFill>
                <a:schemeClr val="accent1">
                  <a:lumMod val="50000"/>
                </a:schemeClr>
              </a:solidFill>
              <a:sym typeface="+mn-ea"/>
            </a:endParaRPr>
          </a:p>
        </p:txBody>
      </p:sp>
      <p:cxnSp>
        <p:nvCxnSpPr>
          <p:cNvPr id="16" name="Straight Connector 15"/>
          <p:cNvCxnSpPr/>
          <p:nvPr/>
        </p:nvCxnSpPr>
        <p:spPr>
          <a:xfrm>
            <a:off x="7311390" y="4214495"/>
            <a:ext cx="927735" cy="69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7" name="Rectangles 16"/>
          <p:cNvSpPr/>
          <p:nvPr/>
        </p:nvSpPr>
        <p:spPr>
          <a:xfrm>
            <a:off x="7095490" y="3924935"/>
            <a:ext cx="182880" cy="182880"/>
          </a:xfrm>
          <a:prstGeom prst="rect">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Project</a:t>
            </a:r>
            <a:r>
              <a:rPr lang="en-US">
                <a:solidFill>
                  <a:schemeClr val="accent1">
                    <a:lumMod val="50000"/>
                  </a:schemeClr>
                </a:solidFill>
                <a:sym typeface="+mn-ea"/>
              </a:rPr>
              <a:t>: Finalizing</a:t>
            </a:r>
            <a:endParaRPr lang="en-US">
              <a:solidFill>
                <a:schemeClr val="accent1">
                  <a:lumMod val="50000"/>
                </a:schemeClr>
              </a:solidFill>
              <a:sym typeface="+mn-ea"/>
            </a:endParaRPr>
          </a:p>
        </p:txBody>
      </p:sp>
      <p:sp>
        <p:nvSpPr>
          <p:cNvPr id="5" name="Freeform 4"/>
          <p:cNvSpPr/>
          <p:nvPr/>
        </p:nvSpPr>
        <p:spPr>
          <a:xfrm>
            <a:off x="3054350" y="1887855"/>
            <a:ext cx="4724400" cy="483171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rtlCol="0" anchor="t" anchorCtr="1"/>
          <a:p>
            <a:pPr algn="ctr"/>
            <a:endParaRPr lang="en-US"/>
          </a:p>
        </p:txBody>
      </p:sp>
      <p:sp>
        <p:nvSpPr>
          <p:cNvPr id="6" name="Rounded Rectangle 5"/>
          <p:cNvSpPr/>
          <p:nvPr/>
        </p:nvSpPr>
        <p:spPr>
          <a:xfrm>
            <a:off x="3154045" y="1965960"/>
            <a:ext cx="1692910" cy="132270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6" name="Rounded Rectangle 25"/>
          <p:cNvSpPr/>
          <p:nvPr/>
        </p:nvSpPr>
        <p:spPr>
          <a:xfrm>
            <a:off x="5010150" y="1965960"/>
            <a:ext cx="2631440"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Title</a:t>
            </a:r>
            <a:endParaRPr lang="en-US">
              <a:solidFill>
                <a:schemeClr val="accent2">
                  <a:lumMod val="20000"/>
                  <a:lumOff val="80000"/>
                </a:schemeClr>
              </a:solidFill>
              <a:sym typeface="+mn-ea"/>
            </a:endParaRPr>
          </a:p>
        </p:txBody>
      </p:sp>
      <p:sp>
        <p:nvSpPr>
          <p:cNvPr id="28" name="Rounded Rectangle 27"/>
          <p:cNvSpPr/>
          <p:nvPr/>
        </p:nvSpPr>
        <p:spPr>
          <a:xfrm>
            <a:off x="5010150" y="2413000"/>
            <a:ext cx="2631440"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Theme</a:t>
            </a:r>
            <a:endParaRPr lang="en-US">
              <a:solidFill>
                <a:schemeClr val="accent2">
                  <a:lumMod val="20000"/>
                  <a:lumOff val="80000"/>
                </a:schemeClr>
              </a:solidFill>
              <a:sym typeface="+mn-ea"/>
            </a:endParaRPr>
          </a:p>
        </p:txBody>
      </p:sp>
      <p:sp>
        <p:nvSpPr>
          <p:cNvPr id="29" name="Rounded Rectangle 28"/>
          <p:cNvSpPr/>
          <p:nvPr/>
        </p:nvSpPr>
        <p:spPr>
          <a:xfrm>
            <a:off x="5010150" y="2860040"/>
            <a:ext cx="2631440"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Main Color</a:t>
            </a:r>
            <a:endParaRPr lang="en-US">
              <a:solidFill>
                <a:schemeClr val="accent2">
                  <a:lumMod val="20000"/>
                  <a:lumOff val="80000"/>
                </a:schemeClr>
              </a:solidFill>
              <a:sym typeface="+mn-ea"/>
            </a:endParaRPr>
          </a:p>
        </p:txBody>
      </p:sp>
      <p:sp>
        <p:nvSpPr>
          <p:cNvPr id="41" name="Rounded Rectangle 40"/>
          <p:cNvSpPr/>
          <p:nvPr/>
        </p:nvSpPr>
        <p:spPr>
          <a:xfrm>
            <a:off x="3154045" y="3768090"/>
            <a:ext cx="2177415" cy="290639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Pattern</a:t>
            </a:r>
            <a:endParaRPr lang="en-US">
              <a:solidFill>
                <a:schemeClr val="accent2">
                  <a:lumMod val="20000"/>
                  <a:lumOff val="80000"/>
                </a:schemeClr>
              </a:solidFill>
              <a:sym typeface="+mn-ea"/>
            </a:endParaRPr>
          </a:p>
        </p:txBody>
      </p:sp>
      <p:sp>
        <p:nvSpPr>
          <p:cNvPr id="42" name="Rounded Rectangle 41"/>
          <p:cNvSpPr/>
          <p:nvPr/>
        </p:nvSpPr>
        <p:spPr>
          <a:xfrm>
            <a:off x="5388610" y="3807460"/>
            <a:ext cx="2252345"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Difficulty</a:t>
            </a:r>
            <a:endParaRPr lang="en-US">
              <a:solidFill>
                <a:schemeClr val="accent2">
                  <a:lumMod val="20000"/>
                  <a:lumOff val="80000"/>
                </a:schemeClr>
              </a:solidFill>
              <a:sym typeface="+mn-ea"/>
            </a:endParaRPr>
          </a:p>
        </p:txBody>
      </p:sp>
      <p:sp>
        <p:nvSpPr>
          <p:cNvPr id="43" name="Rounded Rectangle 42"/>
          <p:cNvSpPr/>
          <p:nvPr/>
        </p:nvSpPr>
        <p:spPr>
          <a:xfrm>
            <a:off x="5388610" y="4330065"/>
            <a:ext cx="2252345" cy="233235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Needed Supplies</a:t>
            </a:r>
            <a:endParaRPr lang="en-US">
              <a:solidFill>
                <a:schemeClr val="accent2">
                  <a:lumMod val="20000"/>
                  <a:lumOff val="80000"/>
                </a:schemeClr>
              </a:solidFill>
              <a:sym typeface="+mn-ea"/>
            </a:endParaRPr>
          </a:p>
        </p:txBody>
      </p:sp>
      <p:sp>
        <p:nvSpPr>
          <p:cNvPr id="44" name="Rounded Rectangle 43"/>
          <p:cNvSpPr/>
          <p:nvPr/>
        </p:nvSpPr>
        <p:spPr>
          <a:xfrm>
            <a:off x="3054350" y="6791325"/>
            <a:ext cx="472630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Start Project Button</a:t>
            </a:r>
            <a:endParaRPr lang="en-US">
              <a:solidFill>
                <a:schemeClr val="accent2">
                  <a:lumMod val="40000"/>
                  <a:lumOff val="60000"/>
                </a:schemeClr>
              </a:solidFill>
              <a:sym typeface="+mn-ea"/>
            </a:endParaRPr>
          </a:p>
        </p:txBody>
      </p:sp>
      <p:sp>
        <p:nvSpPr>
          <p:cNvPr id="45" name="Text Box 44"/>
          <p:cNvSpPr txBox="1"/>
          <p:nvPr/>
        </p:nvSpPr>
        <p:spPr>
          <a:xfrm>
            <a:off x="822960" y="4800600"/>
            <a:ext cx="1755140" cy="13912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Box does not expand, scrolls to show pattern steps/supply list. Offers check mark boxes on supply list.</a:t>
            </a:r>
            <a:endParaRPr lang="en-US" sz="1200">
              <a:solidFill>
                <a:schemeClr val="accent1">
                  <a:lumMod val="50000"/>
                </a:schemeClr>
              </a:solidFill>
              <a:sym typeface="+mn-ea"/>
            </a:endParaRPr>
          </a:p>
        </p:txBody>
      </p:sp>
      <p:cxnSp>
        <p:nvCxnSpPr>
          <p:cNvPr id="46" name="Straight Connector 45"/>
          <p:cNvCxnSpPr>
            <a:stCxn id="45" idx="3"/>
            <a:endCxn id="41" idx="1"/>
          </p:cNvCxnSpPr>
          <p:nvPr/>
        </p:nvCxnSpPr>
        <p:spPr>
          <a:xfrm flipV="1">
            <a:off x="2578100" y="5221605"/>
            <a:ext cx="575945" cy="2749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 name="Rounded Rectangle 2"/>
          <p:cNvSpPr/>
          <p:nvPr/>
        </p:nvSpPr>
        <p:spPr>
          <a:xfrm>
            <a:off x="3049270" y="1355725"/>
            <a:ext cx="472630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Project Name</a:t>
            </a:r>
            <a:endParaRPr lang="en-US">
              <a:solidFill>
                <a:schemeClr val="accent2">
                  <a:lumMod val="40000"/>
                  <a:lumOff val="60000"/>
                </a:schemeClr>
              </a:solidFill>
              <a:sym typeface="+mn-ea"/>
            </a:endParaRPr>
          </a:p>
        </p:txBody>
      </p:sp>
      <p:cxnSp>
        <p:nvCxnSpPr>
          <p:cNvPr id="4" name="Straight Connector 3"/>
          <p:cNvCxnSpPr>
            <a:stCxn id="45" idx="3"/>
            <a:endCxn id="43" idx="1"/>
          </p:cNvCxnSpPr>
          <p:nvPr/>
        </p:nvCxnSpPr>
        <p:spPr>
          <a:xfrm>
            <a:off x="2578100" y="5496560"/>
            <a:ext cx="2810510" cy="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8571865" y="1878330"/>
            <a:ext cx="1715135" cy="52006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Title is name of pattern</a:t>
            </a:r>
            <a:endParaRPr lang="en-US" sz="1200">
              <a:solidFill>
                <a:schemeClr val="accent1">
                  <a:lumMod val="50000"/>
                </a:schemeClr>
              </a:solidFill>
              <a:sym typeface="+mn-ea"/>
            </a:endParaRPr>
          </a:p>
        </p:txBody>
      </p:sp>
      <p:cxnSp>
        <p:nvCxnSpPr>
          <p:cNvPr id="8" name="Straight Connector 7"/>
          <p:cNvCxnSpPr>
            <a:stCxn id="7" idx="1"/>
            <a:endCxn id="26" idx="3"/>
          </p:cNvCxnSpPr>
          <p:nvPr/>
        </p:nvCxnSpPr>
        <p:spPr>
          <a:xfrm flipH="1">
            <a:off x="7641590" y="2138680"/>
            <a:ext cx="930275" cy="4381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9" name="Rounded Rectangle 8"/>
          <p:cNvSpPr/>
          <p:nvPr/>
        </p:nvSpPr>
        <p:spPr>
          <a:xfrm>
            <a:off x="3154045" y="3314700"/>
            <a:ext cx="4491990"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Date Started</a:t>
            </a:r>
            <a:endParaRPr lang="en-US">
              <a:solidFill>
                <a:schemeClr val="accent2">
                  <a:lumMod val="20000"/>
                  <a:lumOff val="80000"/>
                </a:schemeClr>
              </a:solidFill>
              <a:sym typeface="+mn-ea"/>
            </a:endParaRPr>
          </a:p>
        </p:txBody>
      </p:sp>
      <p:sp>
        <p:nvSpPr>
          <p:cNvPr id="10" name="Text Box 9"/>
          <p:cNvSpPr txBox="1"/>
          <p:nvPr/>
        </p:nvSpPr>
        <p:spPr>
          <a:xfrm>
            <a:off x="1017270" y="3288665"/>
            <a:ext cx="1715135" cy="6019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Autofill option from system info, or manual add.</a:t>
            </a:r>
            <a:endParaRPr lang="en-US" sz="1200">
              <a:solidFill>
                <a:schemeClr val="accent1">
                  <a:lumMod val="50000"/>
                </a:schemeClr>
              </a:solidFill>
              <a:sym typeface="+mn-ea"/>
            </a:endParaRPr>
          </a:p>
        </p:txBody>
      </p:sp>
      <p:cxnSp>
        <p:nvCxnSpPr>
          <p:cNvPr id="11" name="Straight Connector 10"/>
          <p:cNvCxnSpPr>
            <a:stCxn id="10" idx="3"/>
            <a:endCxn id="9" idx="1"/>
          </p:cNvCxnSpPr>
          <p:nvPr/>
        </p:nvCxnSpPr>
        <p:spPr>
          <a:xfrm flipV="1">
            <a:off x="2732405" y="3531235"/>
            <a:ext cx="421640" cy="5842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Pattern Inventory Page</a:t>
            </a:r>
            <a:endParaRPr lang="en-US">
              <a:solidFill>
                <a:schemeClr val="accent1">
                  <a:lumMod val="50000"/>
                </a:schemeClr>
              </a:solidFill>
              <a:sym typeface="+mn-ea"/>
            </a:endParaRPr>
          </a:p>
        </p:txBody>
      </p:sp>
      <p:grpSp>
        <p:nvGrpSpPr>
          <p:cNvPr id="2" name="Group 1"/>
          <p:cNvGrpSpPr/>
          <p:nvPr/>
        </p:nvGrpSpPr>
        <p:grpSpPr>
          <a:xfrm>
            <a:off x="3251835" y="2579370"/>
            <a:ext cx="4572000" cy="4506595"/>
            <a:chOff x="5121" y="4062"/>
            <a:chExt cx="7200" cy="7097"/>
          </a:xfrm>
        </p:grpSpPr>
        <p:sp>
          <p:nvSpPr>
            <p:cNvPr id="5" name="Rounded Rectangle 4"/>
            <p:cNvSpPr/>
            <p:nvPr/>
          </p:nvSpPr>
          <p:spPr>
            <a:xfrm>
              <a:off x="5121" y="4062"/>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 Name</a:t>
              </a:r>
              <a:endParaRPr lang="en-US">
                <a:solidFill>
                  <a:schemeClr val="accent2">
                    <a:lumMod val="40000"/>
                    <a:lumOff val="60000"/>
                  </a:schemeClr>
                </a:solidFill>
                <a:sym typeface="+mn-ea"/>
              </a:endParaRPr>
            </a:p>
          </p:txBody>
        </p:sp>
        <p:sp>
          <p:nvSpPr>
            <p:cNvPr id="6" name="Rounded Rectangle 5"/>
            <p:cNvSpPr/>
            <p:nvPr/>
          </p:nvSpPr>
          <p:spPr>
            <a:xfrm>
              <a:off x="5223" y="4166"/>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8" name="Rounded Rectangle 27"/>
            <p:cNvSpPr/>
            <p:nvPr/>
          </p:nvSpPr>
          <p:spPr>
            <a:xfrm>
              <a:off x="5121" y="5251"/>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 Name</a:t>
              </a:r>
              <a:endParaRPr lang="en-US">
                <a:solidFill>
                  <a:schemeClr val="accent2">
                    <a:lumMod val="40000"/>
                    <a:lumOff val="60000"/>
                  </a:schemeClr>
                </a:solidFill>
                <a:sym typeface="+mn-ea"/>
              </a:endParaRPr>
            </a:p>
          </p:txBody>
        </p:sp>
        <p:sp>
          <p:nvSpPr>
            <p:cNvPr id="29" name="Rounded Rectangle 28"/>
            <p:cNvSpPr/>
            <p:nvPr/>
          </p:nvSpPr>
          <p:spPr>
            <a:xfrm>
              <a:off x="5223" y="5355"/>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1" name="Rounded Rectangle 30"/>
            <p:cNvSpPr/>
            <p:nvPr/>
          </p:nvSpPr>
          <p:spPr>
            <a:xfrm>
              <a:off x="5121" y="6440"/>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 Name</a:t>
              </a:r>
              <a:endParaRPr lang="en-US">
                <a:solidFill>
                  <a:schemeClr val="accent2">
                    <a:lumMod val="40000"/>
                    <a:lumOff val="60000"/>
                  </a:schemeClr>
                </a:solidFill>
                <a:sym typeface="+mn-ea"/>
              </a:endParaRPr>
            </a:p>
          </p:txBody>
        </p:sp>
        <p:sp>
          <p:nvSpPr>
            <p:cNvPr id="32" name="Rounded Rectangle 31"/>
            <p:cNvSpPr/>
            <p:nvPr/>
          </p:nvSpPr>
          <p:spPr>
            <a:xfrm>
              <a:off x="5223" y="6544"/>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7" name="Rounded Rectangle 36"/>
            <p:cNvSpPr/>
            <p:nvPr/>
          </p:nvSpPr>
          <p:spPr>
            <a:xfrm>
              <a:off x="5121" y="7629"/>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 Name</a:t>
              </a:r>
              <a:endParaRPr lang="en-US">
                <a:solidFill>
                  <a:schemeClr val="accent2">
                    <a:lumMod val="40000"/>
                    <a:lumOff val="60000"/>
                  </a:schemeClr>
                </a:solidFill>
                <a:sym typeface="+mn-ea"/>
              </a:endParaRPr>
            </a:p>
          </p:txBody>
        </p:sp>
        <p:sp>
          <p:nvSpPr>
            <p:cNvPr id="38" name="Rounded Rectangle 37"/>
            <p:cNvSpPr/>
            <p:nvPr/>
          </p:nvSpPr>
          <p:spPr>
            <a:xfrm>
              <a:off x="5223" y="7733"/>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0" name="Rounded Rectangle 39"/>
            <p:cNvSpPr/>
            <p:nvPr/>
          </p:nvSpPr>
          <p:spPr>
            <a:xfrm>
              <a:off x="5121" y="8818"/>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 Name</a:t>
              </a:r>
              <a:endParaRPr lang="en-US">
                <a:solidFill>
                  <a:schemeClr val="accent2">
                    <a:lumMod val="40000"/>
                    <a:lumOff val="60000"/>
                  </a:schemeClr>
                </a:solidFill>
                <a:sym typeface="+mn-ea"/>
              </a:endParaRPr>
            </a:p>
          </p:txBody>
        </p:sp>
        <p:sp>
          <p:nvSpPr>
            <p:cNvPr id="41" name="Rounded Rectangle 40"/>
            <p:cNvSpPr/>
            <p:nvPr/>
          </p:nvSpPr>
          <p:spPr>
            <a:xfrm>
              <a:off x="5223" y="8922"/>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3" name="Rounded Rectangle 42"/>
            <p:cNvSpPr/>
            <p:nvPr/>
          </p:nvSpPr>
          <p:spPr>
            <a:xfrm>
              <a:off x="5121" y="10007"/>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 Name</a:t>
              </a:r>
              <a:endParaRPr lang="en-US">
                <a:solidFill>
                  <a:schemeClr val="accent2">
                    <a:lumMod val="40000"/>
                    <a:lumOff val="60000"/>
                  </a:schemeClr>
                </a:solidFill>
                <a:sym typeface="+mn-ea"/>
              </a:endParaRPr>
            </a:p>
          </p:txBody>
        </p:sp>
        <p:sp>
          <p:nvSpPr>
            <p:cNvPr id="44" name="Rounded Rectangle 43"/>
            <p:cNvSpPr/>
            <p:nvPr/>
          </p:nvSpPr>
          <p:spPr>
            <a:xfrm>
              <a:off x="5223" y="10111"/>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grpSp>
      <p:sp>
        <p:nvSpPr>
          <p:cNvPr id="64" name="Rounded Rectangle 63"/>
          <p:cNvSpPr/>
          <p:nvPr/>
        </p:nvSpPr>
        <p:spPr>
          <a:xfrm>
            <a:off x="3251835" y="1433830"/>
            <a:ext cx="1784985"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Filter </a:t>
            </a:r>
            <a:r>
              <a:rPr lang="en-US">
                <a:solidFill>
                  <a:schemeClr val="accent2">
                    <a:lumMod val="40000"/>
                    <a:lumOff val="60000"/>
                  </a:schemeClr>
                </a:solidFill>
                <a:sym typeface="+mn-ea"/>
              </a:rPr>
              <a:t>By</a:t>
            </a:r>
            <a:endParaRPr lang="en-US">
              <a:solidFill>
                <a:schemeClr val="accent2">
                  <a:lumMod val="40000"/>
                  <a:lumOff val="60000"/>
                </a:schemeClr>
              </a:solidFill>
              <a:sym typeface="+mn-ea"/>
            </a:endParaRPr>
          </a:p>
        </p:txBody>
      </p:sp>
      <p:sp>
        <p:nvSpPr>
          <p:cNvPr id="66" name="Rounded Rectangle 65"/>
          <p:cNvSpPr/>
          <p:nvPr/>
        </p:nvSpPr>
        <p:spPr>
          <a:xfrm>
            <a:off x="6726555" y="1433830"/>
            <a:ext cx="109728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New</a:t>
            </a:r>
            <a:endParaRPr lang="en-US">
              <a:solidFill>
                <a:schemeClr val="accent2">
                  <a:lumMod val="40000"/>
                  <a:lumOff val="60000"/>
                </a:schemeClr>
              </a:solidFill>
              <a:sym typeface="+mn-ea"/>
            </a:endParaRPr>
          </a:p>
        </p:txBody>
      </p:sp>
      <p:sp>
        <p:nvSpPr>
          <p:cNvPr id="69" name="Rounded Rectangle 68"/>
          <p:cNvSpPr/>
          <p:nvPr/>
        </p:nvSpPr>
        <p:spPr>
          <a:xfrm>
            <a:off x="3251835" y="209804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Crochet Patterns</a:t>
            </a:r>
            <a:endParaRPr lang="en-US">
              <a:solidFill>
                <a:schemeClr val="accent2">
                  <a:lumMod val="40000"/>
                  <a:lumOff val="60000"/>
                </a:schemeClr>
              </a:solidFill>
              <a:sym typeface="+mn-ea"/>
            </a:endParaRPr>
          </a:p>
        </p:txBody>
      </p:sp>
      <p:sp>
        <p:nvSpPr>
          <p:cNvPr id="70" name="Rounded Rectangle 69"/>
          <p:cNvSpPr/>
          <p:nvPr/>
        </p:nvSpPr>
        <p:spPr>
          <a:xfrm>
            <a:off x="5629275" y="2098675"/>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Knit Patterns</a:t>
            </a:r>
            <a:endParaRPr lang="en-US">
              <a:solidFill>
                <a:schemeClr val="accent2">
                  <a:lumMod val="40000"/>
                  <a:lumOff val="60000"/>
                </a:schemeClr>
              </a:solidFill>
              <a:sym typeface="+mn-ea"/>
            </a:endParaRPr>
          </a:p>
        </p:txBody>
      </p:sp>
      <p:sp>
        <p:nvSpPr>
          <p:cNvPr id="85" name="Rounded Rectangle 84"/>
          <p:cNvSpPr/>
          <p:nvPr/>
        </p:nvSpPr>
        <p:spPr>
          <a:xfrm>
            <a:off x="5062855" y="1433830"/>
            <a:ext cx="163703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Sort By</a:t>
            </a:r>
            <a:endParaRPr lang="en-US">
              <a:solidFill>
                <a:schemeClr val="accent2">
                  <a:lumMod val="40000"/>
                  <a:lumOff val="60000"/>
                </a:schemeClr>
              </a:solidFill>
              <a:sym typeface="+mn-ea"/>
            </a:endParaRPr>
          </a:p>
        </p:txBody>
      </p:sp>
      <p:sp>
        <p:nvSpPr>
          <p:cNvPr id="63" name="Text Box 62"/>
          <p:cNvSpPr txBox="1"/>
          <p:nvPr/>
        </p:nvSpPr>
        <p:spPr>
          <a:xfrm>
            <a:off x="294005" y="1318260"/>
            <a:ext cx="2216785" cy="110363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Sorted by order added by default, options to sort/filter by theme, color, source, or difficulty</a:t>
            </a:r>
            <a:endParaRPr lang="en-US" sz="1200">
              <a:solidFill>
                <a:schemeClr val="accent1">
                  <a:lumMod val="50000"/>
                </a:schemeClr>
              </a:solidFill>
              <a:sym typeface="+mn-ea"/>
            </a:endParaRPr>
          </a:p>
        </p:txBody>
      </p:sp>
      <p:sp>
        <p:nvSpPr>
          <p:cNvPr id="3" name="Text Box 2"/>
          <p:cNvSpPr txBox="1"/>
          <p:nvPr/>
        </p:nvSpPr>
        <p:spPr>
          <a:xfrm>
            <a:off x="8069580" y="2645410"/>
            <a:ext cx="2387600" cy="42291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Filter options, toggleable</a:t>
            </a:r>
            <a:endParaRPr lang="en-US" sz="1200">
              <a:solidFill>
                <a:schemeClr val="accent1">
                  <a:lumMod val="50000"/>
                </a:schemeClr>
              </a:solidFill>
              <a:sym typeface="+mn-ea"/>
            </a:endParaRPr>
          </a:p>
        </p:txBody>
      </p:sp>
      <p:cxnSp>
        <p:nvCxnSpPr>
          <p:cNvPr id="4" name="Straight Connector 3"/>
          <p:cNvCxnSpPr>
            <a:stCxn id="70" idx="3"/>
            <a:endCxn id="3" idx="1"/>
          </p:cNvCxnSpPr>
          <p:nvPr/>
        </p:nvCxnSpPr>
        <p:spPr>
          <a:xfrm>
            <a:off x="7823835" y="2327275"/>
            <a:ext cx="245745" cy="52959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7" name="Straight Connector 6"/>
          <p:cNvCxnSpPr>
            <a:stCxn id="69" idx="3"/>
            <a:endCxn id="3" idx="1"/>
          </p:cNvCxnSpPr>
          <p:nvPr/>
        </p:nvCxnSpPr>
        <p:spPr>
          <a:xfrm>
            <a:off x="5446395" y="2326640"/>
            <a:ext cx="2623185" cy="5302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View Pattern Page</a:t>
            </a:r>
            <a:endParaRPr lang="en-US">
              <a:solidFill>
                <a:schemeClr val="accent1">
                  <a:lumMod val="50000"/>
                </a:schemeClr>
              </a:solidFill>
              <a:sym typeface="+mn-ea"/>
            </a:endParaRPr>
          </a:p>
        </p:txBody>
      </p:sp>
      <p:sp>
        <p:nvSpPr>
          <p:cNvPr id="64" name="Freeform 63"/>
          <p:cNvSpPr/>
          <p:nvPr/>
        </p:nvSpPr>
        <p:spPr>
          <a:xfrm>
            <a:off x="3228207" y="1438910"/>
            <a:ext cx="4653848" cy="5369560"/>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6" name="Rounded Rectangle 5"/>
          <p:cNvSpPr/>
          <p:nvPr/>
        </p:nvSpPr>
        <p:spPr>
          <a:xfrm>
            <a:off x="3404870" y="1546225"/>
            <a:ext cx="430149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Pattern Name</a:t>
            </a:r>
            <a:endParaRPr lang="en-US">
              <a:solidFill>
                <a:schemeClr val="accent2">
                  <a:lumMod val="20000"/>
                  <a:lumOff val="80000"/>
                </a:schemeClr>
              </a:solidFill>
              <a:sym typeface="+mn-ea"/>
            </a:endParaRPr>
          </a:p>
        </p:txBody>
      </p:sp>
      <p:sp>
        <p:nvSpPr>
          <p:cNvPr id="2" name="Freeform 1"/>
          <p:cNvSpPr/>
          <p:nvPr/>
        </p:nvSpPr>
        <p:spPr>
          <a:xfrm>
            <a:off x="3317240" y="2273300"/>
            <a:ext cx="2106930" cy="2638425"/>
          </a:xfrm>
          <a:custGeom>
            <a:avLst/>
            <a:gdLst>
              <a:gd name="connsiteX0" fmla="*/ 0 w 3318"/>
              <a:gd name="connsiteY0" fmla="*/ 310 h 4155"/>
              <a:gd name="connsiteX1" fmla="*/ 341 w 3318"/>
              <a:gd name="connsiteY1" fmla="*/ 0 h 4155"/>
              <a:gd name="connsiteX2" fmla="*/ 3008 w 3318"/>
              <a:gd name="connsiteY2" fmla="*/ 0 h 4155"/>
              <a:gd name="connsiteX3" fmla="*/ 3318 w 3318"/>
              <a:gd name="connsiteY3" fmla="*/ 310 h 4155"/>
              <a:gd name="connsiteX4" fmla="*/ 3318 w 3318"/>
              <a:gd name="connsiteY4" fmla="*/ 3814 h 4155"/>
              <a:gd name="connsiteX5" fmla="*/ 3008 w 3318"/>
              <a:gd name="connsiteY5" fmla="*/ 4155 h 4155"/>
              <a:gd name="connsiteX6" fmla="*/ 341 w 3318"/>
              <a:gd name="connsiteY6" fmla="*/ 4155 h 4155"/>
              <a:gd name="connsiteX7" fmla="*/ 31 w 3318"/>
              <a:gd name="connsiteY7" fmla="*/ 3814 h 4155"/>
              <a:gd name="connsiteX8" fmla="*/ 0 w 3318"/>
              <a:gd name="connsiteY8" fmla="*/ 31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 h="4155">
                <a:moveTo>
                  <a:pt x="0" y="310"/>
                </a:moveTo>
                <a:cubicBezTo>
                  <a:pt x="0" y="8"/>
                  <a:pt x="39" y="0"/>
                  <a:pt x="341" y="0"/>
                </a:cubicBezTo>
                <a:lnTo>
                  <a:pt x="3008" y="0"/>
                </a:lnTo>
                <a:cubicBezTo>
                  <a:pt x="3310" y="0"/>
                  <a:pt x="3318" y="8"/>
                  <a:pt x="3318" y="310"/>
                </a:cubicBezTo>
                <a:lnTo>
                  <a:pt x="3318" y="3814"/>
                </a:lnTo>
                <a:cubicBezTo>
                  <a:pt x="3318" y="4116"/>
                  <a:pt x="3310" y="4155"/>
                  <a:pt x="3008" y="4155"/>
                </a:cubicBezTo>
                <a:lnTo>
                  <a:pt x="341" y="4155"/>
                </a:lnTo>
                <a:cubicBezTo>
                  <a:pt x="39" y="4155"/>
                  <a:pt x="31" y="4116"/>
                  <a:pt x="31" y="3814"/>
                </a:cubicBezTo>
                <a:lnTo>
                  <a:pt x="0" y="310"/>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Pattern Steps</a:t>
            </a:r>
            <a:endParaRPr lang="en-US">
              <a:solidFill>
                <a:schemeClr val="accent2">
                  <a:lumMod val="20000"/>
                  <a:lumOff val="80000"/>
                </a:schemeClr>
              </a:solidFill>
              <a:sym typeface="+mn-ea"/>
            </a:endParaRPr>
          </a:p>
        </p:txBody>
      </p:sp>
      <p:sp>
        <p:nvSpPr>
          <p:cNvPr id="3" name="Rounded Rectangle 2"/>
          <p:cNvSpPr/>
          <p:nvPr/>
        </p:nvSpPr>
        <p:spPr>
          <a:xfrm>
            <a:off x="5511800" y="3803015"/>
            <a:ext cx="2194560" cy="45720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Suggested </a:t>
            </a:r>
            <a:endParaRPr lang="en-US" sz="1000">
              <a:solidFill>
                <a:schemeClr val="accent2">
                  <a:lumMod val="20000"/>
                  <a:lumOff val="80000"/>
                </a:schemeClr>
              </a:solidFill>
              <a:sym typeface="+mn-ea"/>
            </a:endParaRPr>
          </a:p>
          <a:p>
            <a:pPr lvl="0" algn="ctr">
              <a:buClrTx/>
              <a:buSzTx/>
              <a:buFontTx/>
            </a:pPr>
            <a:r>
              <a:rPr lang="en-US" sz="1000">
                <a:solidFill>
                  <a:schemeClr val="accent2">
                    <a:lumMod val="20000"/>
                    <a:lumOff val="80000"/>
                  </a:schemeClr>
                </a:solidFill>
                <a:sym typeface="+mn-ea"/>
              </a:rPr>
              <a:t>Yarn Weight</a:t>
            </a:r>
            <a:endParaRPr lang="en-US" sz="1000">
              <a:solidFill>
                <a:schemeClr val="accent2">
                  <a:lumMod val="20000"/>
                  <a:lumOff val="80000"/>
                </a:schemeClr>
              </a:solidFill>
              <a:sym typeface="+mn-ea"/>
            </a:endParaRPr>
          </a:p>
        </p:txBody>
      </p:sp>
      <p:sp>
        <p:nvSpPr>
          <p:cNvPr id="4" name="Rounded Rectangle 3"/>
          <p:cNvSpPr/>
          <p:nvPr/>
        </p:nvSpPr>
        <p:spPr>
          <a:xfrm>
            <a:off x="5511800" y="4418330"/>
            <a:ext cx="2194560" cy="45720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Suggested </a:t>
            </a:r>
            <a:endParaRPr lang="en-US" sz="1000">
              <a:solidFill>
                <a:schemeClr val="accent2">
                  <a:lumMod val="20000"/>
                  <a:lumOff val="80000"/>
                </a:schemeClr>
              </a:solidFill>
              <a:sym typeface="+mn-ea"/>
            </a:endParaRPr>
          </a:p>
          <a:p>
            <a:pPr lvl="0" algn="ctr">
              <a:buClrTx/>
              <a:buSzTx/>
              <a:buFontTx/>
            </a:pPr>
            <a:r>
              <a:rPr lang="en-US" sz="1000">
                <a:solidFill>
                  <a:schemeClr val="accent2">
                    <a:lumMod val="20000"/>
                    <a:lumOff val="80000"/>
                  </a:schemeClr>
                </a:solidFill>
                <a:sym typeface="+mn-ea"/>
              </a:rPr>
              <a:t>Needle/Hook</a:t>
            </a:r>
            <a:endParaRPr lang="en-US" sz="1000">
              <a:solidFill>
                <a:schemeClr val="accent2">
                  <a:lumMod val="20000"/>
                  <a:lumOff val="80000"/>
                </a:schemeClr>
              </a:solidFill>
              <a:sym typeface="+mn-ea"/>
            </a:endParaRPr>
          </a:p>
          <a:p>
            <a:pPr lvl="0" algn="ctr">
              <a:buClrTx/>
              <a:buSzTx/>
              <a:buFontTx/>
            </a:pPr>
            <a:r>
              <a:rPr lang="en-US" sz="1000">
                <a:solidFill>
                  <a:schemeClr val="accent2">
                    <a:lumMod val="20000"/>
                    <a:lumOff val="80000"/>
                  </a:schemeClr>
                </a:solidFill>
                <a:sym typeface="+mn-ea"/>
              </a:rPr>
              <a:t>Sizes</a:t>
            </a:r>
            <a:endParaRPr lang="en-US" sz="1000">
              <a:solidFill>
                <a:schemeClr val="accent2">
                  <a:lumMod val="20000"/>
                  <a:lumOff val="80000"/>
                </a:schemeClr>
              </a:solidFill>
              <a:sym typeface="+mn-ea"/>
            </a:endParaRPr>
          </a:p>
        </p:txBody>
      </p:sp>
      <p:sp>
        <p:nvSpPr>
          <p:cNvPr id="5" name="Rounded Rectangle 4"/>
          <p:cNvSpPr/>
          <p:nvPr/>
        </p:nvSpPr>
        <p:spPr>
          <a:xfrm>
            <a:off x="5511800" y="2273300"/>
            <a:ext cx="2194560" cy="137160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1371600"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Required</a:t>
            </a:r>
            <a:endParaRPr lang="en-US" sz="1000">
              <a:solidFill>
                <a:schemeClr val="accent2">
                  <a:lumMod val="20000"/>
                  <a:lumOff val="80000"/>
                </a:schemeClr>
              </a:solidFill>
              <a:sym typeface="+mn-ea"/>
            </a:endParaRPr>
          </a:p>
          <a:p>
            <a:pPr lvl="0" algn="ctr">
              <a:buClrTx/>
              <a:buSzTx/>
              <a:buFontTx/>
            </a:pPr>
            <a:r>
              <a:rPr lang="en-US" sz="1000">
                <a:solidFill>
                  <a:schemeClr val="accent2">
                    <a:lumMod val="20000"/>
                    <a:lumOff val="80000"/>
                  </a:schemeClr>
                </a:solidFill>
                <a:sym typeface="+mn-ea"/>
              </a:rPr>
              <a:t>Notions</a:t>
            </a:r>
            <a:endParaRPr lang="en-US" sz="1000">
              <a:solidFill>
                <a:schemeClr val="accent2">
                  <a:lumMod val="20000"/>
                  <a:lumOff val="80000"/>
                </a:schemeClr>
              </a:solidFill>
              <a:sym typeface="+mn-ea"/>
            </a:endParaRPr>
          </a:p>
        </p:txBody>
      </p:sp>
      <p:sp>
        <p:nvSpPr>
          <p:cNvPr id="8" name="Rounded Rectangle 7"/>
          <p:cNvSpPr/>
          <p:nvPr/>
        </p:nvSpPr>
        <p:spPr>
          <a:xfrm>
            <a:off x="3317240" y="4985385"/>
            <a:ext cx="2106930" cy="17373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9" name="Rounded Rectangle 8"/>
          <p:cNvSpPr/>
          <p:nvPr/>
        </p:nvSpPr>
        <p:spPr>
          <a:xfrm>
            <a:off x="5511800" y="5033645"/>
            <a:ext cx="2194560" cy="45720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Source</a:t>
            </a:r>
            <a:endParaRPr lang="en-US" sz="1000">
              <a:solidFill>
                <a:schemeClr val="accent2">
                  <a:lumMod val="20000"/>
                  <a:lumOff val="80000"/>
                </a:schemeClr>
              </a:solidFill>
              <a:sym typeface="+mn-ea"/>
            </a:endParaRPr>
          </a:p>
        </p:txBody>
      </p:sp>
      <p:sp>
        <p:nvSpPr>
          <p:cNvPr id="10" name="Rounded Rectangle 9"/>
          <p:cNvSpPr/>
          <p:nvPr/>
        </p:nvSpPr>
        <p:spPr>
          <a:xfrm>
            <a:off x="5511800" y="5648960"/>
            <a:ext cx="2194560" cy="45720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Theme</a:t>
            </a:r>
            <a:endParaRPr lang="en-US" sz="1000">
              <a:solidFill>
                <a:schemeClr val="accent2">
                  <a:lumMod val="20000"/>
                  <a:lumOff val="80000"/>
                </a:schemeClr>
              </a:solidFill>
              <a:sym typeface="+mn-ea"/>
            </a:endParaRPr>
          </a:p>
        </p:txBody>
      </p:sp>
      <p:sp>
        <p:nvSpPr>
          <p:cNvPr id="11" name="Rounded Rectangle 10"/>
          <p:cNvSpPr/>
          <p:nvPr/>
        </p:nvSpPr>
        <p:spPr>
          <a:xfrm>
            <a:off x="5511800" y="6264275"/>
            <a:ext cx="2194560" cy="45720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Difficulty</a:t>
            </a:r>
            <a:endParaRPr lang="en-US" sz="1000">
              <a:solidFill>
                <a:schemeClr val="accent2">
                  <a:lumMod val="20000"/>
                  <a:lumOff val="80000"/>
                </a:schemeClr>
              </a:solidFill>
              <a:sym typeface="+mn-ea"/>
            </a:endParaRPr>
          </a:p>
        </p:txBody>
      </p:sp>
      <p:sp>
        <p:nvSpPr>
          <p:cNvPr id="63" name="Text Box 62"/>
          <p:cNvSpPr txBox="1"/>
          <p:nvPr/>
        </p:nvSpPr>
        <p:spPr>
          <a:xfrm>
            <a:off x="713740" y="4725670"/>
            <a:ext cx="1200785" cy="30797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Scrollable box</a:t>
            </a:r>
            <a:endParaRPr lang="en-US" sz="1200">
              <a:solidFill>
                <a:schemeClr val="accent1">
                  <a:lumMod val="50000"/>
                </a:schemeClr>
              </a:solidFill>
              <a:sym typeface="+mn-ea"/>
            </a:endParaRPr>
          </a:p>
        </p:txBody>
      </p:sp>
      <p:cxnSp>
        <p:nvCxnSpPr>
          <p:cNvPr id="12" name="Straight Connector 11"/>
          <p:cNvCxnSpPr>
            <a:stCxn id="63" idx="3"/>
            <a:endCxn id="7" idx="7"/>
          </p:cNvCxnSpPr>
          <p:nvPr/>
        </p:nvCxnSpPr>
        <p:spPr>
          <a:xfrm flipV="1">
            <a:off x="1914525" y="4655185"/>
            <a:ext cx="1481455" cy="22479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7" name="Freeform 6"/>
          <p:cNvSpPr/>
          <p:nvPr/>
        </p:nvSpPr>
        <p:spPr>
          <a:xfrm>
            <a:off x="3395345" y="2929255"/>
            <a:ext cx="1956435" cy="1913255"/>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14" name="Freeform 13"/>
          <p:cNvSpPr/>
          <p:nvPr/>
        </p:nvSpPr>
        <p:spPr>
          <a:xfrm>
            <a:off x="3395345" y="2590165"/>
            <a:ext cx="1484630" cy="274320"/>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15" name="Text Box 14"/>
          <p:cNvSpPr txBox="1"/>
          <p:nvPr/>
        </p:nvSpPr>
        <p:spPr>
          <a:xfrm>
            <a:off x="497205" y="1612900"/>
            <a:ext cx="2146935" cy="12522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there are multiple pattern pieces, this box should be on the pattern page, and show a drop down to change which piece’s pattern is shown in pattern box.</a:t>
            </a:r>
            <a:endParaRPr lang="en-US" sz="1200">
              <a:solidFill>
                <a:schemeClr val="accent1">
                  <a:lumMod val="50000"/>
                </a:schemeClr>
              </a:solidFill>
              <a:sym typeface="+mn-ea"/>
            </a:endParaRPr>
          </a:p>
        </p:txBody>
      </p:sp>
      <p:cxnSp>
        <p:nvCxnSpPr>
          <p:cNvPr id="16" name="Straight Connector 15"/>
          <p:cNvCxnSpPr>
            <a:stCxn id="15" idx="3"/>
            <a:endCxn id="14" idx="0"/>
          </p:cNvCxnSpPr>
          <p:nvPr/>
        </p:nvCxnSpPr>
        <p:spPr>
          <a:xfrm>
            <a:off x="2644140" y="2239010"/>
            <a:ext cx="753110" cy="39116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7" name="Text Box 16"/>
          <p:cNvSpPr txBox="1"/>
          <p:nvPr/>
        </p:nvSpPr>
        <p:spPr>
          <a:xfrm>
            <a:off x="497205" y="3139440"/>
            <a:ext cx="2146935" cy="141033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there are multiple pattern pieces, this box should be on the pattern page, and show X/X number of pieces, number associated with piece should be determined by order of pieces entered when adding pattern.</a:t>
            </a:r>
            <a:endParaRPr lang="en-US" sz="1200">
              <a:solidFill>
                <a:schemeClr val="accent1">
                  <a:lumMod val="50000"/>
                </a:schemeClr>
              </a:solidFill>
              <a:sym typeface="+mn-ea"/>
            </a:endParaRPr>
          </a:p>
        </p:txBody>
      </p:sp>
      <p:sp>
        <p:nvSpPr>
          <p:cNvPr id="18" name="Freeform 17"/>
          <p:cNvSpPr/>
          <p:nvPr/>
        </p:nvSpPr>
        <p:spPr>
          <a:xfrm>
            <a:off x="4947285" y="2590800"/>
            <a:ext cx="404495" cy="274320"/>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cxnSp>
        <p:nvCxnSpPr>
          <p:cNvPr id="19" name="Straight Connector 18"/>
          <p:cNvCxnSpPr>
            <a:stCxn id="17" idx="3"/>
            <a:endCxn id="18" idx="6"/>
          </p:cNvCxnSpPr>
          <p:nvPr/>
        </p:nvCxnSpPr>
        <p:spPr>
          <a:xfrm flipV="1">
            <a:off x="2644140" y="2865120"/>
            <a:ext cx="2343785" cy="97980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Pattern</a:t>
            </a:r>
            <a:endParaRPr lang="en-US">
              <a:solidFill>
                <a:schemeClr val="accent1">
                  <a:lumMod val="50000"/>
                </a:schemeClr>
              </a:solidFill>
              <a:sym typeface="+mn-ea"/>
            </a:endParaRPr>
          </a:p>
        </p:txBody>
      </p:sp>
      <p:sp>
        <p:nvSpPr>
          <p:cNvPr id="51" name="Text Box 50"/>
          <p:cNvSpPr txBox="1"/>
          <p:nvPr/>
        </p:nvSpPr>
        <p:spPr>
          <a:xfrm>
            <a:off x="8595043" y="1514475"/>
            <a:ext cx="1715135" cy="10744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When selected, adds new row for next step, and a stich count box. Moves to end of new row.</a:t>
            </a:r>
            <a:endParaRPr lang="en-US" sz="1200">
              <a:solidFill>
                <a:schemeClr val="accent1">
                  <a:lumMod val="50000"/>
                </a:schemeClr>
              </a:solidFill>
              <a:sym typeface="+mn-ea"/>
            </a:endParaRPr>
          </a:p>
        </p:txBody>
      </p:sp>
      <p:cxnSp>
        <p:nvCxnSpPr>
          <p:cNvPr id="52" name="Straight Connector 51"/>
          <p:cNvCxnSpPr>
            <a:stCxn id="51" idx="1"/>
          </p:cNvCxnSpPr>
          <p:nvPr/>
        </p:nvCxnSpPr>
        <p:spPr>
          <a:xfrm flipH="1">
            <a:off x="7692390" y="2051685"/>
            <a:ext cx="902970" cy="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17" name="Group 16"/>
          <p:cNvGrpSpPr/>
          <p:nvPr/>
        </p:nvGrpSpPr>
        <p:grpSpPr>
          <a:xfrm>
            <a:off x="3054350" y="1478915"/>
            <a:ext cx="4724400" cy="5671820"/>
            <a:chOff x="4810" y="2329"/>
            <a:chExt cx="7440" cy="8932"/>
          </a:xfrm>
        </p:grpSpPr>
        <p:sp>
          <p:nvSpPr>
            <p:cNvPr id="5" name="Freeform 4"/>
            <p:cNvSpPr/>
            <p:nvPr/>
          </p:nvSpPr>
          <p:spPr>
            <a:xfrm>
              <a:off x="4810" y="2329"/>
              <a:ext cx="7440" cy="893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Pattern Steps</a:t>
              </a:r>
              <a:endParaRPr lang="en-US">
                <a:solidFill>
                  <a:schemeClr val="accent2">
                    <a:lumMod val="40000"/>
                    <a:lumOff val="60000"/>
                  </a:schemeClr>
                </a:solidFill>
                <a:sym typeface="+mn-ea"/>
              </a:endParaRPr>
            </a:p>
          </p:txBody>
        </p:sp>
        <p:sp>
          <p:nvSpPr>
            <p:cNvPr id="48" name="Rounded Rectangle 47"/>
            <p:cNvSpPr/>
            <p:nvPr/>
          </p:nvSpPr>
          <p:spPr>
            <a:xfrm>
              <a:off x="4948" y="2888"/>
              <a:ext cx="429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Row/Rnd One</a:t>
              </a:r>
              <a:endParaRPr lang="en-US">
                <a:solidFill>
                  <a:schemeClr val="accent2">
                    <a:lumMod val="20000"/>
                    <a:lumOff val="80000"/>
                  </a:schemeClr>
                </a:solidFill>
                <a:sym typeface="+mn-ea"/>
              </a:endParaRPr>
            </a:p>
          </p:txBody>
        </p:sp>
        <p:sp>
          <p:nvSpPr>
            <p:cNvPr id="49" name="Rounded Rectangle 48"/>
            <p:cNvSpPr/>
            <p:nvPr/>
          </p:nvSpPr>
          <p:spPr>
            <a:xfrm>
              <a:off x="9330" y="2889"/>
              <a:ext cx="992"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Stitch Count</a:t>
              </a:r>
              <a:endParaRPr lang="en-US" sz="1000">
                <a:solidFill>
                  <a:schemeClr val="accent2">
                    <a:lumMod val="20000"/>
                    <a:lumOff val="80000"/>
                  </a:schemeClr>
                </a:solidFill>
                <a:sym typeface="+mn-ea"/>
              </a:endParaRPr>
            </a:p>
          </p:txBody>
        </p:sp>
        <p:sp>
          <p:nvSpPr>
            <p:cNvPr id="50" name="Rounded Rectangle 49"/>
            <p:cNvSpPr/>
            <p:nvPr/>
          </p:nvSpPr>
          <p:spPr>
            <a:xfrm>
              <a:off x="10408" y="2890"/>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Add Row/Rnd</a:t>
              </a:r>
              <a:endParaRPr lang="en-US" sz="1000">
                <a:solidFill>
                  <a:schemeClr val="accent2">
                    <a:lumMod val="20000"/>
                    <a:lumOff val="80000"/>
                  </a:schemeClr>
                </a:solidFill>
                <a:sym typeface="+mn-ea"/>
              </a:endParaRPr>
            </a:p>
          </p:txBody>
        </p:sp>
        <p:sp>
          <p:nvSpPr>
            <p:cNvPr id="2" name="Rounded Rectangle 1"/>
            <p:cNvSpPr/>
            <p:nvPr/>
          </p:nvSpPr>
          <p:spPr>
            <a:xfrm>
              <a:off x="4948" y="9913"/>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New Piece</a:t>
              </a:r>
              <a:endParaRPr lang="en-US" sz="1000">
                <a:solidFill>
                  <a:schemeClr val="accent2">
                    <a:lumMod val="20000"/>
                    <a:lumOff val="80000"/>
                  </a:schemeClr>
                </a:solidFill>
                <a:sym typeface="+mn-ea"/>
              </a:endParaRPr>
            </a:p>
          </p:txBody>
        </p:sp>
        <p:sp>
          <p:nvSpPr>
            <p:cNvPr id="3" name="Rounded Rectangle 2"/>
            <p:cNvSpPr/>
            <p:nvPr/>
          </p:nvSpPr>
          <p:spPr>
            <a:xfrm>
              <a:off x="10408" y="9913"/>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Next Step</a:t>
              </a:r>
              <a:endParaRPr lang="en-US" sz="1000">
                <a:solidFill>
                  <a:schemeClr val="accent2">
                    <a:lumMod val="20000"/>
                    <a:lumOff val="80000"/>
                  </a:schemeClr>
                </a:solidFill>
                <a:sym typeface="+mn-ea"/>
              </a:endParaRPr>
            </a:p>
          </p:txBody>
        </p:sp>
      </p:grpSp>
      <p:sp>
        <p:nvSpPr>
          <p:cNvPr id="4" name="Text Box 3"/>
          <p:cNvSpPr txBox="1"/>
          <p:nvPr/>
        </p:nvSpPr>
        <p:spPr>
          <a:xfrm>
            <a:off x="570865" y="5330825"/>
            <a:ext cx="1715135" cy="117983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Should save current pattern, and pull up clean pattern entry screen. If clicked, should pull up screen to name the pattern piece.</a:t>
            </a:r>
            <a:endParaRPr lang="en-US" sz="1200">
              <a:solidFill>
                <a:schemeClr val="accent1">
                  <a:lumMod val="50000"/>
                </a:schemeClr>
              </a:solidFill>
              <a:sym typeface="+mn-ea"/>
            </a:endParaRPr>
          </a:p>
        </p:txBody>
      </p:sp>
      <p:cxnSp>
        <p:nvCxnSpPr>
          <p:cNvPr id="6" name="Straight Connector 5"/>
          <p:cNvCxnSpPr>
            <a:stCxn id="2" idx="1"/>
            <a:endCxn id="4" idx="3"/>
          </p:cNvCxnSpPr>
          <p:nvPr/>
        </p:nvCxnSpPr>
        <p:spPr>
          <a:xfrm flipH="1" flipV="1">
            <a:off x="2286000" y="5920740"/>
            <a:ext cx="855980" cy="5905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16" name="Group 15"/>
          <p:cNvGrpSpPr/>
          <p:nvPr/>
        </p:nvGrpSpPr>
        <p:grpSpPr>
          <a:xfrm>
            <a:off x="171450" y="3328035"/>
            <a:ext cx="2647950" cy="853440"/>
            <a:chOff x="270" y="5241"/>
            <a:chExt cx="4170" cy="1344"/>
          </a:xfrm>
        </p:grpSpPr>
        <p:sp>
          <p:nvSpPr>
            <p:cNvPr id="10" name="Freeform 9"/>
            <p:cNvSpPr/>
            <p:nvPr/>
          </p:nvSpPr>
          <p:spPr>
            <a:xfrm>
              <a:off x="270" y="5241"/>
              <a:ext cx="4171" cy="1344"/>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Enter Name</a:t>
              </a:r>
              <a:endParaRPr lang="en-US">
                <a:solidFill>
                  <a:schemeClr val="accent2">
                    <a:lumMod val="40000"/>
                    <a:lumOff val="60000"/>
                  </a:schemeClr>
                </a:solidFill>
                <a:sym typeface="+mn-ea"/>
              </a:endParaRPr>
            </a:p>
          </p:txBody>
        </p:sp>
        <p:sp>
          <p:nvSpPr>
            <p:cNvPr id="11" name="Rounded Rectangle 10"/>
            <p:cNvSpPr/>
            <p:nvPr/>
          </p:nvSpPr>
          <p:spPr>
            <a:xfrm>
              <a:off x="390" y="5799"/>
              <a:ext cx="393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20000"/>
                    <a:lumOff val="80000"/>
                  </a:schemeClr>
                </a:solidFill>
                <a:sym typeface="+mn-ea"/>
              </a:endParaRPr>
            </a:p>
          </p:txBody>
        </p:sp>
      </p:grpSp>
      <p:cxnSp>
        <p:nvCxnSpPr>
          <p:cNvPr id="12" name="Straight Connector 11"/>
          <p:cNvCxnSpPr>
            <a:stCxn id="10" idx="5"/>
            <a:endCxn id="4" idx="0"/>
          </p:cNvCxnSpPr>
          <p:nvPr/>
        </p:nvCxnSpPr>
        <p:spPr>
          <a:xfrm flipH="1">
            <a:off x="1428750" y="4181475"/>
            <a:ext cx="1209675" cy="11493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3" name="Text Box 12"/>
          <p:cNvSpPr txBox="1"/>
          <p:nvPr/>
        </p:nvSpPr>
        <p:spPr>
          <a:xfrm>
            <a:off x="8595360" y="4634230"/>
            <a:ext cx="1715135" cy="128651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multiple pieces are entered, should show Enter Name box for last pattern piece before progressing to the next step</a:t>
            </a:r>
            <a:endParaRPr lang="en-US" sz="1200">
              <a:solidFill>
                <a:schemeClr val="accent1">
                  <a:lumMod val="50000"/>
                </a:schemeClr>
              </a:solidFill>
              <a:sym typeface="+mn-ea"/>
            </a:endParaRPr>
          </a:p>
        </p:txBody>
      </p:sp>
      <p:cxnSp>
        <p:nvCxnSpPr>
          <p:cNvPr id="14" name="Straight Connector 13"/>
          <p:cNvCxnSpPr>
            <a:stCxn id="13" idx="1"/>
            <a:endCxn id="10" idx="4"/>
          </p:cNvCxnSpPr>
          <p:nvPr/>
        </p:nvCxnSpPr>
        <p:spPr>
          <a:xfrm flipH="1" flipV="1">
            <a:off x="2809240" y="4074160"/>
            <a:ext cx="5786120" cy="12033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5" name="Straight Connector 14"/>
          <p:cNvCxnSpPr>
            <a:stCxn id="3" idx="3"/>
            <a:endCxn id="13" idx="1"/>
          </p:cNvCxnSpPr>
          <p:nvPr/>
        </p:nvCxnSpPr>
        <p:spPr>
          <a:xfrm flipV="1">
            <a:off x="7692390" y="5277485"/>
            <a:ext cx="902970" cy="123380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8286750" y="775335"/>
            <a:ext cx="3657600" cy="368300"/>
          </a:xfrm>
          <a:prstGeom prst="rect">
            <a:avLst/>
          </a:prstGeom>
          <a:noFill/>
        </p:spPr>
        <p:txBody>
          <a:bodyPr wrap="square" rtlCol="0">
            <a:spAutoFit/>
          </a:bodyPr>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Freeform 4"/>
          <p:cNvSpPr/>
          <p:nvPr/>
        </p:nvSpPr>
        <p:spPr>
          <a:xfrm>
            <a:off x="4295140" y="2059940"/>
            <a:ext cx="2382520" cy="431355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Supplies</a:t>
            </a:r>
            <a:endParaRPr lang="en-US">
              <a:solidFill>
                <a:schemeClr val="accent2">
                  <a:lumMod val="40000"/>
                  <a:lumOff val="60000"/>
                </a:schemeClr>
              </a:solidFill>
              <a:sym typeface="+mn-ea"/>
            </a:endParaRPr>
          </a:p>
        </p:txBody>
      </p: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Supply List to Pattern</a:t>
            </a:r>
            <a:endParaRPr lang="en-US">
              <a:solidFill>
                <a:schemeClr val="accent1">
                  <a:lumMod val="50000"/>
                </a:schemeClr>
              </a:solidFill>
              <a:sym typeface="+mn-ea"/>
            </a:endParaRPr>
          </a:p>
        </p:txBody>
      </p:sp>
      <p:sp>
        <p:nvSpPr>
          <p:cNvPr id="3" name="Rounded Rectangle 2"/>
          <p:cNvSpPr/>
          <p:nvPr/>
        </p:nvSpPr>
        <p:spPr>
          <a:xfrm>
            <a:off x="4348480" y="4433570"/>
            <a:ext cx="2272030" cy="188150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Notions</a:t>
            </a:r>
            <a:endParaRPr lang="en-US">
              <a:solidFill>
                <a:schemeClr val="accent2">
                  <a:lumMod val="20000"/>
                  <a:lumOff val="80000"/>
                </a:schemeClr>
              </a:solidFill>
              <a:sym typeface="+mn-ea"/>
            </a:endParaRPr>
          </a:p>
        </p:txBody>
      </p:sp>
      <p:sp>
        <p:nvSpPr>
          <p:cNvPr id="6" name="Freeform 5"/>
          <p:cNvSpPr/>
          <p:nvPr/>
        </p:nvSpPr>
        <p:spPr>
          <a:xfrm>
            <a:off x="4411980" y="4855845"/>
            <a:ext cx="2155190" cy="287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a:t>
            </a:r>
            <a:endParaRPr lang="en-US">
              <a:solidFill>
                <a:schemeClr val="accent2">
                  <a:lumMod val="40000"/>
                  <a:lumOff val="60000"/>
                </a:schemeClr>
              </a:solidFill>
              <a:sym typeface="+mn-ea"/>
            </a:endParaRPr>
          </a:p>
        </p:txBody>
      </p:sp>
      <p:grpSp>
        <p:nvGrpSpPr>
          <p:cNvPr id="15" name="Group 14"/>
          <p:cNvGrpSpPr/>
          <p:nvPr/>
        </p:nvGrpSpPr>
        <p:grpSpPr>
          <a:xfrm>
            <a:off x="4348480" y="2552065"/>
            <a:ext cx="2272030" cy="1880870"/>
            <a:chOff x="8563" y="4019"/>
            <a:chExt cx="3578" cy="2962"/>
          </a:xfrm>
        </p:grpSpPr>
        <p:sp>
          <p:nvSpPr>
            <p:cNvPr id="2" name="Rounded Rectangle 1"/>
            <p:cNvSpPr/>
            <p:nvPr/>
          </p:nvSpPr>
          <p:spPr>
            <a:xfrm>
              <a:off x="8563" y="4019"/>
              <a:ext cx="3578" cy="2963"/>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Tools</a:t>
              </a:r>
              <a:endParaRPr lang="en-US">
                <a:solidFill>
                  <a:schemeClr val="accent2">
                    <a:lumMod val="20000"/>
                    <a:lumOff val="80000"/>
                  </a:schemeClr>
                </a:solidFill>
                <a:sym typeface="+mn-ea"/>
              </a:endParaRPr>
            </a:p>
          </p:txBody>
        </p:sp>
        <p:sp>
          <p:nvSpPr>
            <p:cNvPr id="7" name="Freeform 6"/>
            <p:cNvSpPr/>
            <p:nvPr/>
          </p:nvSpPr>
          <p:spPr>
            <a:xfrm>
              <a:off x="8663" y="4679"/>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a:t>
              </a:r>
              <a:endParaRPr lang="en-US">
                <a:solidFill>
                  <a:schemeClr val="accent2">
                    <a:lumMod val="40000"/>
                    <a:lumOff val="60000"/>
                  </a:schemeClr>
                </a:solidFill>
                <a:sym typeface="+mn-ea"/>
              </a:endParaRPr>
            </a:p>
          </p:txBody>
        </p:sp>
      </p:grpSp>
      <p:sp>
        <p:nvSpPr>
          <p:cNvPr id="45" name="Text Box 44"/>
          <p:cNvSpPr txBox="1"/>
          <p:nvPr/>
        </p:nvSpPr>
        <p:spPr>
          <a:xfrm>
            <a:off x="8444230" y="2905125"/>
            <a:ext cx="1715135" cy="6902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boxes with Correlating items and “Add New” options.</a:t>
            </a:r>
            <a:endParaRPr lang="en-US" sz="1200">
              <a:solidFill>
                <a:schemeClr val="accent1">
                  <a:lumMod val="50000"/>
                </a:schemeClr>
              </a:solidFill>
              <a:sym typeface="+mn-ea"/>
            </a:endParaRPr>
          </a:p>
        </p:txBody>
      </p:sp>
      <p:cxnSp>
        <p:nvCxnSpPr>
          <p:cNvPr id="9" name="Straight Connector 8"/>
          <p:cNvCxnSpPr>
            <a:stCxn id="6" idx="3"/>
            <a:endCxn id="45" idx="1"/>
          </p:cNvCxnSpPr>
          <p:nvPr/>
        </p:nvCxnSpPr>
        <p:spPr>
          <a:xfrm flipV="1">
            <a:off x="6567170" y="3250565"/>
            <a:ext cx="1877060" cy="16395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0" name="Straight Connector 9"/>
          <p:cNvCxnSpPr>
            <a:stCxn id="7" idx="4"/>
            <a:endCxn id="45" idx="1"/>
          </p:cNvCxnSpPr>
          <p:nvPr/>
        </p:nvCxnSpPr>
        <p:spPr>
          <a:xfrm>
            <a:off x="6558280" y="3221990"/>
            <a:ext cx="1885950" cy="2857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7" name="Freeform 16"/>
          <p:cNvSpPr/>
          <p:nvPr/>
        </p:nvSpPr>
        <p:spPr>
          <a:xfrm>
            <a:off x="626108" y="1722100"/>
            <a:ext cx="2271397" cy="1873254"/>
          </a:xfrm>
          <a:custGeom>
            <a:avLst/>
            <a:gdLst>
              <a:gd name="connsiteX0" fmla="*/ 0 w 3577"/>
              <a:gd name="connsiteY0" fmla="*/ 387 h 2950"/>
              <a:gd name="connsiteX1" fmla="*/ 269 w 3577"/>
              <a:gd name="connsiteY1" fmla="*/ 0 h 2950"/>
              <a:gd name="connsiteX2" fmla="*/ 3279 w 3577"/>
              <a:gd name="connsiteY2" fmla="*/ 0 h 2950"/>
              <a:gd name="connsiteX3" fmla="*/ 3577 w 3577"/>
              <a:gd name="connsiteY3" fmla="*/ 268 h 2950"/>
              <a:gd name="connsiteX4" fmla="*/ 3577 w 3577"/>
              <a:gd name="connsiteY4" fmla="*/ 2652 h 2950"/>
              <a:gd name="connsiteX5" fmla="*/ 3279 w 3577"/>
              <a:gd name="connsiteY5" fmla="*/ 2950 h 2950"/>
              <a:gd name="connsiteX6" fmla="*/ 298 w 3577"/>
              <a:gd name="connsiteY6" fmla="*/ 2950 h 2950"/>
              <a:gd name="connsiteX7" fmla="*/ 0 w 3577"/>
              <a:gd name="connsiteY7" fmla="*/ 2652 h 2950"/>
              <a:gd name="connsiteX8" fmla="*/ 0 w 3577"/>
              <a:gd name="connsiteY8" fmla="*/ 387 h 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7" h="2950">
                <a:moveTo>
                  <a:pt x="0" y="387"/>
                </a:moveTo>
                <a:cubicBezTo>
                  <a:pt x="0" y="114"/>
                  <a:pt x="-4" y="0"/>
                  <a:pt x="269" y="0"/>
                </a:cubicBezTo>
                <a:lnTo>
                  <a:pt x="3279" y="0"/>
                </a:lnTo>
                <a:cubicBezTo>
                  <a:pt x="3552" y="0"/>
                  <a:pt x="3577" y="-5"/>
                  <a:pt x="3577" y="268"/>
                </a:cubicBezTo>
                <a:lnTo>
                  <a:pt x="3577" y="2652"/>
                </a:lnTo>
                <a:cubicBezTo>
                  <a:pt x="3577" y="2925"/>
                  <a:pt x="3552" y="2950"/>
                  <a:pt x="3279" y="2950"/>
                </a:cubicBezTo>
                <a:lnTo>
                  <a:pt x="298" y="2950"/>
                </a:lnTo>
                <a:cubicBezTo>
                  <a:pt x="25" y="2950"/>
                  <a:pt x="0" y="2925"/>
                  <a:pt x="0" y="2652"/>
                </a:cubicBezTo>
                <a:lnTo>
                  <a:pt x="0" y="387"/>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20000"/>
                  <a:lumOff val="80000"/>
                </a:schemeClr>
              </a:solidFill>
              <a:sym typeface="+mn-ea"/>
            </a:endParaRPr>
          </a:p>
        </p:txBody>
      </p:sp>
      <p:sp>
        <p:nvSpPr>
          <p:cNvPr id="18" name="Freeform 17"/>
          <p:cNvSpPr/>
          <p:nvPr/>
        </p:nvSpPr>
        <p:spPr>
          <a:xfrm>
            <a:off x="690245" y="2115185"/>
            <a:ext cx="2155190" cy="287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 New</a:t>
            </a:r>
            <a:endParaRPr lang="en-US">
              <a:solidFill>
                <a:schemeClr val="accent2">
                  <a:lumMod val="40000"/>
                  <a:lumOff val="60000"/>
                </a:schemeClr>
              </a:solidFill>
              <a:sym typeface="+mn-ea"/>
            </a:endParaRPr>
          </a:p>
        </p:txBody>
      </p:sp>
      <p:sp>
        <p:nvSpPr>
          <p:cNvPr id="19" name="Freeform 18"/>
          <p:cNvSpPr/>
          <p:nvPr/>
        </p:nvSpPr>
        <p:spPr>
          <a:xfrm>
            <a:off x="690245" y="1790700"/>
            <a:ext cx="2155190" cy="287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0" rIns="9144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Search</a:t>
            </a:r>
            <a:endParaRPr lang="en-US">
              <a:solidFill>
                <a:schemeClr val="accent2">
                  <a:lumMod val="40000"/>
                  <a:lumOff val="60000"/>
                </a:schemeClr>
              </a:solidFill>
              <a:sym typeface="+mn-ea"/>
            </a:endParaRPr>
          </a:p>
        </p:txBody>
      </p:sp>
      <p:sp>
        <p:nvSpPr>
          <p:cNvPr id="20" name="Text Box 19"/>
          <p:cNvSpPr txBox="1"/>
          <p:nvPr/>
        </p:nvSpPr>
        <p:spPr>
          <a:xfrm>
            <a:off x="910590" y="4003040"/>
            <a:ext cx="1715135" cy="6902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a:t>
            </a:r>
            <a:endParaRPr lang="en-US" sz="1200">
              <a:solidFill>
                <a:schemeClr val="accent1">
                  <a:lumMod val="50000"/>
                </a:schemeClr>
              </a:solidFill>
              <a:sym typeface="+mn-ea"/>
            </a:endParaRPr>
          </a:p>
        </p:txBody>
      </p:sp>
      <p:cxnSp>
        <p:nvCxnSpPr>
          <p:cNvPr id="22" name="Straight Connector 21"/>
          <p:cNvCxnSpPr>
            <a:stCxn id="17" idx="6"/>
            <a:endCxn id="20" idx="0"/>
          </p:cNvCxnSpPr>
          <p:nvPr/>
        </p:nvCxnSpPr>
        <p:spPr>
          <a:xfrm>
            <a:off x="815340" y="3595370"/>
            <a:ext cx="953135" cy="4076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Yarn Inventory Page</a:t>
            </a:r>
            <a:endParaRPr lang="en-US">
              <a:solidFill>
                <a:schemeClr val="accent1">
                  <a:lumMod val="50000"/>
                </a:schemeClr>
              </a:solidFill>
              <a:sym typeface="+mn-ea"/>
            </a:endParaRPr>
          </a:p>
        </p:txBody>
      </p:sp>
      <p:grpSp>
        <p:nvGrpSpPr>
          <p:cNvPr id="2" name="Group 1"/>
          <p:cNvGrpSpPr/>
          <p:nvPr/>
        </p:nvGrpSpPr>
        <p:grpSpPr>
          <a:xfrm>
            <a:off x="3251835" y="2579370"/>
            <a:ext cx="4572000" cy="4506595"/>
            <a:chOff x="5121" y="4062"/>
            <a:chExt cx="7200" cy="7097"/>
          </a:xfrm>
        </p:grpSpPr>
        <p:sp>
          <p:nvSpPr>
            <p:cNvPr id="5" name="Rounded Rectangle 4"/>
            <p:cNvSpPr/>
            <p:nvPr/>
          </p:nvSpPr>
          <p:spPr>
            <a:xfrm>
              <a:off x="5121" y="4062"/>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Brand/Color/Fiber</a:t>
              </a:r>
              <a:endParaRPr lang="en-US">
                <a:solidFill>
                  <a:schemeClr val="accent2">
                    <a:lumMod val="40000"/>
                    <a:lumOff val="60000"/>
                  </a:schemeClr>
                </a:solidFill>
                <a:sym typeface="+mn-ea"/>
              </a:endParaRPr>
            </a:p>
          </p:txBody>
        </p:sp>
        <p:sp>
          <p:nvSpPr>
            <p:cNvPr id="6" name="Rounded Rectangle 5"/>
            <p:cNvSpPr/>
            <p:nvPr/>
          </p:nvSpPr>
          <p:spPr>
            <a:xfrm>
              <a:off x="5223" y="4166"/>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8" name="Rounded Rectangle 27"/>
            <p:cNvSpPr/>
            <p:nvPr/>
          </p:nvSpPr>
          <p:spPr>
            <a:xfrm>
              <a:off x="5121" y="5251"/>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Brand/Color/Fiber</a:t>
              </a:r>
              <a:endParaRPr lang="en-US">
                <a:solidFill>
                  <a:schemeClr val="accent2">
                    <a:lumMod val="40000"/>
                    <a:lumOff val="60000"/>
                  </a:schemeClr>
                </a:solidFill>
                <a:sym typeface="+mn-ea"/>
              </a:endParaRPr>
            </a:p>
          </p:txBody>
        </p:sp>
        <p:sp>
          <p:nvSpPr>
            <p:cNvPr id="29" name="Rounded Rectangle 28"/>
            <p:cNvSpPr/>
            <p:nvPr/>
          </p:nvSpPr>
          <p:spPr>
            <a:xfrm>
              <a:off x="5223" y="5355"/>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1" name="Rounded Rectangle 30"/>
            <p:cNvSpPr/>
            <p:nvPr/>
          </p:nvSpPr>
          <p:spPr>
            <a:xfrm>
              <a:off x="5121" y="6440"/>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Brand/Color/Fiber</a:t>
              </a:r>
              <a:endParaRPr lang="en-US">
                <a:solidFill>
                  <a:schemeClr val="accent2">
                    <a:lumMod val="40000"/>
                    <a:lumOff val="60000"/>
                  </a:schemeClr>
                </a:solidFill>
                <a:sym typeface="+mn-ea"/>
              </a:endParaRPr>
            </a:p>
          </p:txBody>
        </p:sp>
        <p:sp>
          <p:nvSpPr>
            <p:cNvPr id="32" name="Rounded Rectangle 31"/>
            <p:cNvSpPr/>
            <p:nvPr/>
          </p:nvSpPr>
          <p:spPr>
            <a:xfrm>
              <a:off x="5223" y="6544"/>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7" name="Rounded Rectangle 36"/>
            <p:cNvSpPr/>
            <p:nvPr/>
          </p:nvSpPr>
          <p:spPr>
            <a:xfrm>
              <a:off x="5121" y="7629"/>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Brand/Color/Fiber</a:t>
              </a:r>
              <a:endParaRPr lang="en-US">
                <a:solidFill>
                  <a:schemeClr val="accent2">
                    <a:lumMod val="40000"/>
                    <a:lumOff val="60000"/>
                  </a:schemeClr>
                </a:solidFill>
                <a:sym typeface="+mn-ea"/>
              </a:endParaRPr>
            </a:p>
          </p:txBody>
        </p:sp>
        <p:sp>
          <p:nvSpPr>
            <p:cNvPr id="38" name="Rounded Rectangle 37"/>
            <p:cNvSpPr/>
            <p:nvPr/>
          </p:nvSpPr>
          <p:spPr>
            <a:xfrm>
              <a:off x="5223" y="7733"/>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0" name="Rounded Rectangle 39"/>
            <p:cNvSpPr/>
            <p:nvPr/>
          </p:nvSpPr>
          <p:spPr>
            <a:xfrm>
              <a:off x="5121" y="8818"/>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Brand/Color/Fiber</a:t>
              </a:r>
              <a:endParaRPr lang="en-US">
                <a:solidFill>
                  <a:schemeClr val="accent2">
                    <a:lumMod val="40000"/>
                    <a:lumOff val="60000"/>
                  </a:schemeClr>
                </a:solidFill>
                <a:sym typeface="+mn-ea"/>
              </a:endParaRPr>
            </a:p>
          </p:txBody>
        </p:sp>
        <p:sp>
          <p:nvSpPr>
            <p:cNvPr id="41" name="Rounded Rectangle 40"/>
            <p:cNvSpPr/>
            <p:nvPr/>
          </p:nvSpPr>
          <p:spPr>
            <a:xfrm>
              <a:off x="5223" y="8922"/>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3" name="Rounded Rectangle 42"/>
            <p:cNvSpPr/>
            <p:nvPr/>
          </p:nvSpPr>
          <p:spPr>
            <a:xfrm>
              <a:off x="5121" y="10007"/>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Brand/Color/Fiber</a:t>
              </a:r>
              <a:endParaRPr lang="en-US">
                <a:solidFill>
                  <a:schemeClr val="accent2">
                    <a:lumMod val="40000"/>
                    <a:lumOff val="60000"/>
                  </a:schemeClr>
                </a:solidFill>
                <a:sym typeface="+mn-ea"/>
              </a:endParaRPr>
            </a:p>
          </p:txBody>
        </p:sp>
        <p:sp>
          <p:nvSpPr>
            <p:cNvPr id="44" name="Rounded Rectangle 43"/>
            <p:cNvSpPr/>
            <p:nvPr/>
          </p:nvSpPr>
          <p:spPr>
            <a:xfrm>
              <a:off x="5223" y="10111"/>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grpSp>
      <p:sp>
        <p:nvSpPr>
          <p:cNvPr id="64" name="Rounded Rectangle 63"/>
          <p:cNvSpPr/>
          <p:nvPr/>
        </p:nvSpPr>
        <p:spPr>
          <a:xfrm>
            <a:off x="3251835" y="1433830"/>
            <a:ext cx="1784985"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Filter </a:t>
            </a:r>
            <a:r>
              <a:rPr lang="en-US">
                <a:solidFill>
                  <a:schemeClr val="accent2">
                    <a:lumMod val="40000"/>
                    <a:lumOff val="60000"/>
                  </a:schemeClr>
                </a:solidFill>
                <a:sym typeface="+mn-ea"/>
              </a:rPr>
              <a:t>By</a:t>
            </a:r>
            <a:endParaRPr lang="en-US">
              <a:solidFill>
                <a:schemeClr val="accent2">
                  <a:lumMod val="40000"/>
                  <a:lumOff val="60000"/>
                </a:schemeClr>
              </a:solidFill>
              <a:sym typeface="+mn-ea"/>
            </a:endParaRPr>
          </a:p>
        </p:txBody>
      </p:sp>
      <p:sp>
        <p:nvSpPr>
          <p:cNvPr id="66" name="Rounded Rectangle 65"/>
          <p:cNvSpPr/>
          <p:nvPr/>
        </p:nvSpPr>
        <p:spPr>
          <a:xfrm>
            <a:off x="6726555" y="1433830"/>
            <a:ext cx="109728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New</a:t>
            </a:r>
            <a:endParaRPr lang="en-US">
              <a:solidFill>
                <a:schemeClr val="accent2">
                  <a:lumMod val="40000"/>
                  <a:lumOff val="60000"/>
                </a:schemeClr>
              </a:solidFill>
              <a:sym typeface="+mn-ea"/>
            </a:endParaRPr>
          </a:p>
        </p:txBody>
      </p:sp>
      <p:sp>
        <p:nvSpPr>
          <p:cNvPr id="69" name="Rounded Rectangle 68"/>
          <p:cNvSpPr/>
          <p:nvPr/>
        </p:nvSpPr>
        <p:spPr>
          <a:xfrm>
            <a:off x="3251835" y="2098040"/>
            <a:ext cx="15087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Synthetic</a:t>
            </a:r>
            <a:endParaRPr lang="en-US">
              <a:solidFill>
                <a:schemeClr val="accent2">
                  <a:lumMod val="40000"/>
                  <a:lumOff val="60000"/>
                </a:schemeClr>
              </a:solidFill>
              <a:sym typeface="+mn-ea"/>
            </a:endParaRPr>
          </a:p>
        </p:txBody>
      </p:sp>
      <p:sp>
        <p:nvSpPr>
          <p:cNvPr id="70" name="Rounded Rectangle 69"/>
          <p:cNvSpPr/>
          <p:nvPr/>
        </p:nvSpPr>
        <p:spPr>
          <a:xfrm>
            <a:off x="4783455" y="2098040"/>
            <a:ext cx="15087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Natural</a:t>
            </a:r>
            <a:endParaRPr lang="en-US">
              <a:solidFill>
                <a:schemeClr val="accent2">
                  <a:lumMod val="40000"/>
                  <a:lumOff val="60000"/>
                </a:schemeClr>
              </a:solidFill>
              <a:sym typeface="+mn-ea"/>
            </a:endParaRPr>
          </a:p>
        </p:txBody>
      </p:sp>
      <p:sp>
        <p:nvSpPr>
          <p:cNvPr id="85" name="Rounded Rectangle 84"/>
          <p:cNvSpPr/>
          <p:nvPr/>
        </p:nvSpPr>
        <p:spPr>
          <a:xfrm>
            <a:off x="5062855" y="1433830"/>
            <a:ext cx="163703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Sort By</a:t>
            </a:r>
            <a:endParaRPr lang="en-US">
              <a:solidFill>
                <a:schemeClr val="accent2">
                  <a:lumMod val="40000"/>
                  <a:lumOff val="60000"/>
                </a:schemeClr>
              </a:solidFill>
              <a:sym typeface="+mn-ea"/>
            </a:endParaRPr>
          </a:p>
        </p:txBody>
      </p:sp>
      <p:sp>
        <p:nvSpPr>
          <p:cNvPr id="4" name="Rounded Rectangle 3"/>
          <p:cNvSpPr/>
          <p:nvPr/>
        </p:nvSpPr>
        <p:spPr>
          <a:xfrm>
            <a:off x="6315075" y="2098040"/>
            <a:ext cx="15087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Blended</a:t>
            </a:r>
            <a:endParaRPr lang="en-US">
              <a:solidFill>
                <a:schemeClr val="accent2">
                  <a:lumMod val="40000"/>
                  <a:lumOff val="60000"/>
                </a:schemeClr>
              </a:solidFill>
              <a:sym typeface="+mn-ea"/>
            </a:endParaRPr>
          </a:p>
        </p:txBody>
      </p:sp>
      <p:sp>
        <p:nvSpPr>
          <p:cNvPr id="13" name="Text Box 12"/>
          <p:cNvSpPr txBox="1"/>
          <p:nvPr/>
        </p:nvSpPr>
        <p:spPr>
          <a:xfrm>
            <a:off x="8308975" y="2421890"/>
            <a:ext cx="1715135" cy="97790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Filters list, toggleable, based off of Fiber tags applied when adding new Yarns to the Inventory.</a:t>
            </a:r>
            <a:endParaRPr lang="en-US" sz="1200">
              <a:solidFill>
                <a:schemeClr val="accent1">
                  <a:lumMod val="50000"/>
                </a:schemeClr>
              </a:solidFill>
              <a:sym typeface="+mn-ea"/>
            </a:endParaRPr>
          </a:p>
        </p:txBody>
      </p:sp>
      <p:cxnSp>
        <p:nvCxnSpPr>
          <p:cNvPr id="19" name="Straight Connector 18"/>
          <p:cNvCxnSpPr>
            <a:stCxn id="4" idx="2"/>
            <a:endCxn id="13" idx="1"/>
          </p:cNvCxnSpPr>
          <p:nvPr/>
        </p:nvCxnSpPr>
        <p:spPr>
          <a:xfrm>
            <a:off x="7069455" y="2555240"/>
            <a:ext cx="1239520" cy="3556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7" name="Straight Connector 6"/>
          <p:cNvCxnSpPr>
            <a:stCxn id="69" idx="2"/>
            <a:endCxn id="13" idx="1"/>
          </p:cNvCxnSpPr>
          <p:nvPr/>
        </p:nvCxnSpPr>
        <p:spPr>
          <a:xfrm>
            <a:off x="4006215" y="2555240"/>
            <a:ext cx="4302760" cy="3556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8" name="Straight Connector 7"/>
          <p:cNvCxnSpPr>
            <a:stCxn id="70" idx="2"/>
            <a:endCxn id="13" idx="1"/>
          </p:cNvCxnSpPr>
          <p:nvPr/>
        </p:nvCxnSpPr>
        <p:spPr>
          <a:xfrm>
            <a:off x="5537835" y="2555240"/>
            <a:ext cx="2771140" cy="3556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63" name="Text Box 62"/>
          <p:cNvSpPr txBox="1"/>
          <p:nvPr/>
        </p:nvSpPr>
        <p:spPr>
          <a:xfrm>
            <a:off x="294005" y="1318260"/>
            <a:ext cx="2216785" cy="110363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Sorted by order added by default, options to sort/filter by theme, color, source, Brand, and/or Fiber.</a:t>
            </a:r>
            <a:endParaRPr lang="en-US" sz="1200">
              <a:solidFill>
                <a:schemeClr val="accent1">
                  <a:lumMod val="50000"/>
                </a:schemeClr>
              </a:solidFill>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 name="Freeform 63"/>
          <p:cNvSpPr/>
          <p:nvPr/>
        </p:nvSpPr>
        <p:spPr>
          <a:xfrm>
            <a:off x="3228207" y="1438910"/>
            <a:ext cx="4653848" cy="5369560"/>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6" name="Rounded Rectangle 5"/>
          <p:cNvSpPr/>
          <p:nvPr/>
        </p:nvSpPr>
        <p:spPr>
          <a:xfrm>
            <a:off x="3404870" y="1545590"/>
            <a:ext cx="430149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Brand/Type/Color Name</a:t>
            </a:r>
            <a:endParaRPr lang="en-US">
              <a:solidFill>
                <a:schemeClr val="accent2">
                  <a:lumMod val="20000"/>
                  <a:lumOff val="80000"/>
                </a:schemeClr>
              </a:solidFill>
              <a:sym typeface="+mn-ea"/>
            </a:endParaRPr>
          </a:p>
        </p:txBody>
      </p:sp>
      <p:sp>
        <p:nvSpPr>
          <p:cNvPr id="3" name="Rounded Rectangle 2"/>
          <p:cNvSpPr/>
          <p:nvPr/>
        </p:nvSpPr>
        <p:spPr>
          <a:xfrm>
            <a:off x="5511800" y="2245360"/>
            <a:ext cx="2194560" cy="50292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Main Color</a:t>
            </a:r>
            <a:endParaRPr lang="en-US">
              <a:solidFill>
                <a:schemeClr val="accent2">
                  <a:lumMod val="20000"/>
                  <a:lumOff val="80000"/>
                </a:schemeClr>
              </a:solidFill>
              <a:sym typeface="+mn-ea"/>
            </a:endParaRPr>
          </a:p>
        </p:txBody>
      </p:sp>
      <p:sp>
        <p:nvSpPr>
          <p:cNvPr id="4" name="Rounded Rectangle 3"/>
          <p:cNvSpPr/>
          <p:nvPr/>
        </p:nvSpPr>
        <p:spPr>
          <a:xfrm>
            <a:off x="5511800" y="278765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Weight</a:t>
            </a:r>
            <a:endParaRPr lang="en-US">
              <a:solidFill>
                <a:schemeClr val="accent2">
                  <a:lumMod val="20000"/>
                  <a:lumOff val="80000"/>
                </a:schemeClr>
              </a:solidFill>
              <a:sym typeface="+mn-ea"/>
            </a:endParaRPr>
          </a:p>
        </p:txBody>
      </p:sp>
      <p:sp>
        <p:nvSpPr>
          <p:cNvPr id="8" name="Rounded Rectangle 7"/>
          <p:cNvSpPr/>
          <p:nvPr/>
        </p:nvSpPr>
        <p:spPr>
          <a:xfrm>
            <a:off x="3317240" y="2245360"/>
            <a:ext cx="2106930" cy="17373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9" name="Rounded Rectangle 8"/>
          <p:cNvSpPr/>
          <p:nvPr/>
        </p:nvSpPr>
        <p:spPr>
          <a:xfrm>
            <a:off x="5511800" y="3329305"/>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Fiber</a:t>
            </a:r>
            <a:endParaRPr lang="en-US">
              <a:solidFill>
                <a:schemeClr val="accent2">
                  <a:lumMod val="20000"/>
                  <a:lumOff val="80000"/>
                </a:schemeClr>
              </a:solidFill>
              <a:sym typeface="+mn-ea"/>
            </a:endParaRPr>
          </a:p>
        </p:txBody>
      </p:sp>
      <p:sp>
        <p:nvSpPr>
          <p:cNvPr id="10" name="Rounded Rectangle 9"/>
          <p:cNvSpPr/>
          <p:nvPr/>
        </p:nvSpPr>
        <p:spPr>
          <a:xfrm>
            <a:off x="5511800" y="387096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Projects Active</a:t>
            </a:r>
            <a:endParaRPr lang="en-US">
              <a:solidFill>
                <a:schemeClr val="accent2">
                  <a:lumMod val="20000"/>
                  <a:lumOff val="80000"/>
                </a:schemeClr>
              </a:solidFill>
              <a:sym typeface="+mn-ea"/>
            </a:endParaRPr>
          </a:p>
        </p:txBody>
      </p:sp>
      <p:sp>
        <p:nvSpPr>
          <p:cNvPr id="11" name="Rounded Rectangle 10"/>
          <p:cNvSpPr/>
          <p:nvPr/>
        </p:nvSpPr>
        <p:spPr>
          <a:xfrm>
            <a:off x="5511800" y="4412615"/>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Project History</a:t>
            </a:r>
            <a:endParaRPr lang="en-US">
              <a:solidFill>
                <a:schemeClr val="accent2">
                  <a:lumMod val="20000"/>
                  <a:lumOff val="80000"/>
                </a:schemeClr>
              </a:solidFill>
              <a:sym typeface="+mn-ea"/>
            </a:endParaRPr>
          </a:p>
        </p:txBody>
      </p:sp>
      <p:sp>
        <p:nvSpPr>
          <p:cNvPr id="2" name="Freeform 1"/>
          <p:cNvSpPr/>
          <p:nvPr/>
        </p:nvSpPr>
        <p:spPr>
          <a:xfrm>
            <a:off x="3317240" y="4083050"/>
            <a:ext cx="2106930" cy="2638425"/>
          </a:xfrm>
          <a:custGeom>
            <a:avLst/>
            <a:gdLst>
              <a:gd name="connsiteX0" fmla="*/ 0 w 3318"/>
              <a:gd name="connsiteY0" fmla="*/ 310 h 4155"/>
              <a:gd name="connsiteX1" fmla="*/ 341 w 3318"/>
              <a:gd name="connsiteY1" fmla="*/ 0 h 4155"/>
              <a:gd name="connsiteX2" fmla="*/ 3008 w 3318"/>
              <a:gd name="connsiteY2" fmla="*/ 0 h 4155"/>
              <a:gd name="connsiteX3" fmla="*/ 3318 w 3318"/>
              <a:gd name="connsiteY3" fmla="*/ 310 h 4155"/>
              <a:gd name="connsiteX4" fmla="*/ 3318 w 3318"/>
              <a:gd name="connsiteY4" fmla="*/ 3814 h 4155"/>
              <a:gd name="connsiteX5" fmla="*/ 3008 w 3318"/>
              <a:gd name="connsiteY5" fmla="*/ 4155 h 4155"/>
              <a:gd name="connsiteX6" fmla="*/ 341 w 3318"/>
              <a:gd name="connsiteY6" fmla="*/ 4155 h 4155"/>
              <a:gd name="connsiteX7" fmla="*/ 31 w 3318"/>
              <a:gd name="connsiteY7" fmla="*/ 3814 h 4155"/>
              <a:gd name="connsiteX8" fmla="*/ 0 w 3318"/>
              <a:gd name="connsiteY8" fmla="*/ 31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 h="4155">
                <a:moveTo>
                  <a:pt x="0" y="310"/>
                </a:moveTo>
                <a:cubicBezTo>
                  <a:pt x="0" y="8"/>
                  <a:pt x="39" y="0"/>
                  <a:pt x="341" y="0"/>
                </a:cubicBezTo>
                <a:lnTo>
                  <a:pt x="3008" y="0"/>
                </a:lnTo>
                <a:cubicBezTo>
                  <a:pt x="3310" y="0"/>
                  <a:pt x="3318" y="8"/>
                  <a:pt x="3318" y="310"/>
                </a:cubicBezTo>
                <a:lnTo>
                  <a:pt x="3318" y="3814"/>
                </a:lnTo>
                <a:cubicBezTo>
                  <a:pt x="3318" y="4116"/>
                  <a:pt x="3310" y="4155"/>
                  <a:pt x="3008" y="4155"/>
                </a:cubicBezTo>
                <a:lnTo>
                  <a:pt x="341" y="4155"/>
                </a:lnTo>
                <a:cubicBezTo>
                  <a:pt x="39" y="4155"/>
                  <a:pt x="31" y="4116"/>
                  <a:pt x="31" y="3814"/>
                </a:cubicBezTo>
                <a:lnTo>
                  <a:pt x="0" y="310"/>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Purchase History</a:t>
            </a:r>
            <a:endParaRPr lang="en-US">
              <a:solidFill>
                <a:schemeClr val="accent2">
                  <a:lumMod val="20000"/>
                  <a:lumOff val="80000"/>
                </a:schemeClr>
              </a:solidFill>
              <a:sym typeface="+mn-ea"/>
            </a:endParaRPr>
          </a:p>
        </p:txBody>
      </p:sp>
      <p:grpSp>
        <p:nvGrpSpPr>
          <p:cNvPr id="24" name="Group 23"/>
          <p:cNvGrpSpPr/>
          <p:nvPr/>
        </p:nvGrpSpPr>
        <p:grpSpPr>
          <a:xfrm rot="0">
            <a:off x="3395345" y="4337685"/>
            <a:ext cx="1941195" cy="292735"/>
            <a:chOff x="5347" y="4079"/>
            <a:chExt cx="3057" cy="432"/>
          </a:xfrm>
        </p:grpSpPr>
        <p:sp>
          <p:nvSpPr>
            <p:cNvPr id="14" name="Freeform 13"/>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Source</a:t>
              </a:r>
              <a:endParaRPr lang="en-US" sz="1200">
                <a:solidFill>
                  <a:schemeClr val="accent2">
                    <a:lumMod val="40000"/>
                    <a:lumOff val="60000"/>
                  </a:schemeClr>
                </a:solidFill>
                <a:sym typeface="+mn-ea"/>
              </a:endParaRPr>
            </a:p>
          </p:txBody>
        </p:sp>
        <p:sp>
          <p:nvSpPr>
            <p:cNvPr id="18" name="Freeform 17"/>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a:t>
              </a:r>
              <a:endParaRPr lang="en-US" sz="1200">
                <a:solidFill>
                  <a:schemeClr val="accent2">
                    <a:lumMod val="40000"/>
                    <a:lumOff val="60000"/>
                  </a:schemeClr>
                </a:solidFill>
                <a:sym typeface="+mn-ea"/>
              </a:endParaRPr>
            </a:p>
          </p:txBody>
        </p:sp>
      </p:grpSp>
      <p:grpSp>
        <p:nvGrpSpPr>
          <p:cNvPr id="25" name="Group 24"/>
          <p:cNvGrpSpPr/>
          <p:nvPr/>
        </p:nvGrpSpPr>
        <p:grpSpPr>
          <a:xfrm rot="0">
            <a:off x="3395345" y="4673600"/>
            <a:ext cx="1941195" cy="292735"/>
            <a:chOff x="5347" y="4079"/>
            <a:chExt cx="3057" cy="432"/>
          </a:xfrm>
        </p:grpSpPr>
        <p:sp>
          <p:nvSpPr>
            <p:cNvPr id="26" name="Freeform 25"/>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Michael’s</a:t>
              </a:r>
              <a:endParaRPr lang="en-US" sz="1200">
                <a:solidFill>
                  <a:schemeClr val="accent2">
                    <a:lumMod val="40000"/>
                    <a:lumOff val="60000"/>
                  </a:schemeClr>
                </a:solidFill>
                <a:sym typeface="+mn-ea"/>
              </a:endParaRPr>
            </a:p>
          </p:txBody>
        </p:sp>
        <p:sp>
          <p:nvSpPr>
            <p:cNvPr id="27" name="Freeform 26"/>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4.99</a:t>
              </a:r>
              <a:endParaRPr lang="en-US" sz="1200">
                <a:solidFill>
                  <a:schemeClr val="accent2">
                    <a:lumMod val="40000"/>
                    <a:lumOff val="60000"/>
                  </a:schemeClr>
                </a:solidFill>
                <a:sym typeface="+mn-ea"/>
              </a:endParaRPr>
            </a:p>
          </p:txBody>
        </p:sp>
      </p:grpSp>
      <p:grpSp>
        <p:nvGrpSpPr>
          <p:cNvPr id="28" name="Group 27"/>
          <p:cNvGrpSpPr/>
          <p:nvPr/>
        </p:nvGrpSpPr>
        <p:grpSpPr>
          <a:xfrm rot="0">
            <a:off x="3395345" y="5009515"/>
            <a:ext cx="1941195" cy="292735"/>
            <a:chOff x="5347" y="4079"/>
            <a:chExt cx="3057" cy="432"/>
          </a:xfrm>
        </p:grpSpPr>
        <p:sp>
          <p:nvSpPr>
            <p:cNvPr id="29" name="Freeform 28"/>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0" name="Freeform 29"/>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1" name="Group 30"/>
          <p:cNvGrpSpPr/>
          <p:nvPr/>
        </p:nvGrpSpPr>
        <p:grpSpPr>
          <a:xfrm rot="0">
            <a:off x="3395345" y="5345430"/>
            <a:ext cx="1941195" cy="292735"/>
            <a:chOff x="5347" y="4079"/>
            <a:chExt cx="3057" cy="432"/>
          </a:xfrm>
        </p:grpSpPr>
        <p:sp>
          <p:nvSpPr>
            <p:cNvPr id="32" name="Freeform 31"/>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3" name="Freeform 32"/>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4" name="Group 33"/>
          <p:cNvGrpSpPr/>
          <p:nvPr/>
        </p:nvGrpSpPr>
        <p:grpSpPr>
          <a:xfrm rot="0">
            <a:off x="3395345" y="5681345"/>
            <a:ext cx="1941195" cy="292735"/>
            <a:chOff x="5347" y="4079"/>
            <a:chExt cx="3057" cy="432"/>
          </a:xfrm>
        </p:grpSpPr>
        <p:sp>
          <p:nvSpPr>
            <p:cNvPr id="35" name="Freeform 34"/>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6" name="Freeform 35"/>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7" name="Group 36"/>
          <p:cNvGrpSpPr/>
          <p:nvPr/>
        </p:nvGrpSpPr>
        <p:grpSpPr>
          <a:xfrm rot="0">
            <a:off x="3395345" y="6017260"/>
            <a:ext cx="1941195" cy="292735"/>
            <a:chOff x="5347" y="4079"/>
            <a:chExt cx="3057" cy="432"/>
          </a:xfrm>
        </p:grpSpPr>
        <p:sp>
          <p:nvSpPr>
            <p:cNvPr id="38" name="Freeform 37"/>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9" name="Freeform 38"/>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40" name="Group 39"/>
          <p:cNvGrpSpPr/>
          <p:nvPr/>
        </p:nvGrpSpPr>
        <p:grpSpPr>
          <a:xfrm rot="0">
            <a:off x="3395345" y="6353175"/>
            <a:ext cx="1941195" cy="292735"/>
            <a:chOff x="5347" y="4079"/>
            <a:chExt cx="3057" cy="432"/>
          </a:xfrm>
        </p:grpSpPr>
        <p:sp>
          <p:nvSpPr>
            <p:cNvPr id="41" name="Freeform 40"/>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42" name="Freeform 41"/>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sp>
        <p:nvSpPr>
          <p:cNvPr id="46" name="Text Box 45"/>
          <p:cNvSpPr txBox="1"/>
          <p:nvPr/>
        </p:nvSpPr>
        <p:spPr>
          <a:xfrm>
            <a:off x="189230" y="3052445"/>
            <a:ext cx="2233295" cy="22929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When adding a new yarn to inventory, if the new yarn matches the color name and brand of an already existing yarn, it should be added to the inventory of the yarn, and the purchase location and price should be added to purchase history. If source is already listed in purchase history, price should update to match the new price entered.</a:t>
            </a:r>
            <a:endParaRPr lang="en-US" sz="1200">
              <a:solidFill>
                <a:schemeClr val="accent1">
                  <a:lumMod val="50000"/>
                </a:schemeClr>
              </a:solidFill>
              <a:sym typeface="+mn-ea"/>
            </a:endParaRPr>
          </a:p>
        </p:txBody>
      </p:sp>
      <p:cxnSp>
        <p:nvCxnSpPr>
          <p:cNvPr id="47" name="Straight Connector 46"/>
          <p:cNvCxnSpPr>
            <a:stCxn id="46" idx="3"/>
            <a:endCxn id="2" idx="0"/>
          </p:cNvCxnSpPr>
          <p:nvPr/>
        </p:nvCxnSpPr>
        <p:spPr>
          <a:xfrm>
            <a:off x="2422525" y="4199255"/>
            <a:ext cx="894715" cy="8064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50" name="Text Box 49"/>
          <p:cNvSpPr txBox="1"/>
          <p:nvPr/>
        </p:nvSpPr>
        <p:spPr>
          <a:xfrm>
            <a:off x="8261985" y="4954270"/>
            <a:ext cx="2233295" cy="22929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Estimates current remaining length of yarn. Allows input of weight and length of new skein, uses this to determine remaining length when remaining weight is given. Takes length input from new skeins and adds it to total length. New entered weight is based on only one skein, and is used to calculate remaining yardage in the currently used skein.</a:t>
            </a:r>
            <a:endParaRPr lang="en-US" sz="1200">
              <a:solidFill>
                <a:schemeClr val="accent1">
                  <a:lumMod val="50000"/>
                </a:schemeClr>
              </a:solidFill>
              <a:sym typeface="+mn-ea"/>
            </a:endParaRPr>
          </a:p>
        </p:txBody>
      </p:sp>
      <p:cxnSp>
        <p:nvCxnSpPr>
          <p:cNvPr id="51" name="Straight Connector 50"/>
          <p:cNvCxnSpPr>
            <a:stCxn id="5" idx="3"/>
            <a:endCxn id="50" idx="1"/>
          </p:cNvCxnSpPr>
          <p:nvPr/>
        </p:nvCxnSpPr>
        <p:spPr>
          <a:xfrm>
            <a:off x="7706360" y="5608955"/>
            <a:ext cx="555625" cy="4921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55" name="Group 54"/>
          <p:cNvGrpSpPr/>
          <p:nvPr/>
        </p:nvGrpSpPr>
        <p:grpSpPr>
          <a:xfrm>
            <a:off x="5511165" y="5495925"/>
            <a:ext cx="2194560" cy="1228090"/>
            <a:chOff x="8684" y="7659"/>
            <a:chExt cx="3456" cy="1934"/>
          </a:xfrm>
        </p:grpSpPr>
        <p:sp>
          <p:nvSpPr>
            <p:cNvPr id="5" name="Freeform 4"/>
            <p:cNvSpPr/>
            <p:nvPr/>
          </p:nvSpPr>
          <p:spPr>
            <a:xfrm>
              <a:off x="8684" y="7659"/>
              <a:ext cx="3457" cy="1934"/>
            </a:xfrm>
            <a:custGeom>
              <a:avLst/>
              <a:gdLst>
                <a:gd name="connsiteX0" fmla="*/ 0 w 3457"/>
                <a:gd name="connsiteY0" fmla="*/ 269 h 2921"/>
                <a:gd name="connsiteX1" fmla="*/ 268 w 3457"/>
                <a:gd name="connsiteY1" fmla="*/ 0 h 2921"/>
                <a:gd name="connsiteX2" fmla="*/ 3189 w 3457"/>
                <a:gd name="connsiteY2" fmla="*/ 0 h 2921"/>
                <a:gd name="connsiteX3" fmla="*/ 3457 w 3457"/>
                <a:gd name="connsiteY3" fmla="*/ 269 h 2921"/>
                <a:gd name="connsiteX4" fmla="*/ 3457 w 3457"/>
                <a:gd name="connsiteY4" fmla="*/ 2653 h 2921"/>
                <a:gd name="connsiteX5" fmla="*/ 3159 w 3457"/>
                <a:gd name="connsiteY5" fmla="*/ 2921 h 2921"/>
                <a:gd name="connsiteX6" fmla="*/ 298 w 3457"/>
                <a:gd name="connsiteY6" fmla="*/ 2921 h 2921"/>
                <a:gd name="connsiteX7" fmla="*/ 0 w 3457"/>
                <a:gd name="connsiteY7" fmla="*/ 2623 h 2921"/>
                <a:gd name="connsiteX8" fmla="*/ 0 w 3457"/>
                <a:gd name="connsiteY8" fmla="*/ 269 h 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7" h="2921">
                  <a:moveTo>
                    <a:pt x="0" y="269"/>
                  </a:moveTo>
                  <a:cubicBezTo>
                    <a:pt x="0" y="-1"/>
                    <a:pt x="-2" y="0"/>
                    <a:pt x="268" y="0"/>
                  </a:cubicBezTo>
                  <a:lnTo>
                    <a:pt x="3189" y="0"/>
                  </a:lnTo>
                  <a:cubicBezTo>
                    <a:pt x="3459" y="0"/>
                    <a:pt x="3457" y="-1"/>
                    <a:pt x="3457" y="269"/>
                  </a:cubicBezTo>
                  <a:lnTo>
                    <a:pt x="3457" y="2653"/>
                  </a:lnTo>
                  <a:cubicBezTo>
                    <a:pt x="3457" y="2923"/>
                    <a:pt x="3429" y="2921"/>
                    <a:pt x="3159" y="2921"/>
                  </a:cubicBezTo>
                  <a:lnTo>
                    <a:pt x="298" y="2921"/>
                  </a:lnTo>
                  <a:cubicBezTo>
                    <a:pt x="28" y="2921"/>
                    <a:pt x="0" y="2893"/>
                    <a:pt x="0" y="2623"/>
                  </a:cubicBezTo>
                  <a:lnTo>
                    <a:pt x="0" y="269"/>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1371600" numCol="1" spcCol="0" rtlCol="0" fromWordArt="0" anchor="ctr" anchorCtr="0" forceAA="0" compatLnSpc="1">
              <a:noAutofit/>
            </a:bodyPr>
            <a:p>
              <a:pPr lvl="0" algn="ctr">
                <a:buClrTx/>
                <a:buSzTx/>
                <a:buFontTx/>
              </a:pPr>
              <a:endParaRPr lang="en-US">
                <a:solidFill>
                  <a:schemeClr val="accent2">
                    <a:lumMod val="20000"/>
                    <a:lumOff val="80000"/>
                  </a:schemeClr>
                </a:solidFill>
                <a:sym typeface="+mn-ea"/>
              </a:endParaRPr>
            </a:p>
          </p:txBody>
        </p:sp>
        <p:sp>
          <p:nvSpPr>
            <p:cNvPr id="52" name="Freeform 51"/>
            <p:cNvSpPr/>
            <p:nvPr/>
          </p:nvSpPr>
          <p:spPr>
            <a:xfrm>
              <a:off x="8774" y="7821"/>
              <a:ext cx="3252" cy="461"/>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457200" numCol="1" spcCol="0" rtlCol="0" fromWordArt="0" anchor="ctr" anchorCtr="0" forceAA="0" compatLnSpc="1">
              <a:noAutofit/>
            </a:bodyPr>
            <a:p>
              <a:pPr lvl="0" algn="ctr">
                <a:buClrTx/>
                <a:buSzTx/>
                <a:buFontTx/>
              </a:pPr>
              <a:r>
                <a:rPr lang="en-US" sz="1600">
                  <a:solidFill>
                    <a:schemeClr val="accent2">
                      <a:lumMod val="40000"/>
                      <a:lumOff val="60000"/>
                    </a:schemeClr>
                  </a:solidFill>
                  <a:sym typeface="+mn-ea"/>
                </a:rPr>
                <a:t>Number of Skeins:</a:t>
              </a:r>
              <a:endParaRPr lang="en-US" sz="1600">
                <a:solidFill>
                  <a:schemeClr val="accent2">
                    <a:lumMod val="40000"/>
                    <a:lumOff val="60000"/>
                  </a:schemeClr>
                </a:solidFill>
                <a:sym typeface="+mn-ea"/>
              </a:endParaRPr>
            </a:p>
          </p:txBody>
        </p:sp>
        <p:sp>
          <p:nvSpPr>
            <p:cNvPr id="53" name="Freeform 52"/>
            <p:cNvSpPr/>
            <p:nvPr/>
          </p:nvSpPr>
          <p:spPr>
            <a:xfrm>
              <a:off x="8782" y="8350"/>
              <a:ext cx="3252" cy="461"/>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Estimated remaining Length</a:t>
              </a:r>
              <a:endParaRPr lang="en-US" sz="1200">
                <a:solidFill>
                  <a:schemeClr val="accent2">
                    <a:lumMod val="40000"/>
                    <a:lumOff val="60000"/>
                  </a:schemeClr>
                </a:solidFill>
                <a:sym typeface="+mn-ea"/>
              </a:endParaRPr>
            </a:p>
          </p:txBody>
        </p:sp>
        <p:sp>
          <p:nvSpPr>
            <p:cNvPr id="54" name="Freeform 53"/>
            <p:cNvSpPr/>
            <p:nvPr/>
          </p:nvSpPr>
          <p:spPr>
            <a:xfrm>
              <a:off x="8782" y="8879"/>
              <a:ext cx="3253" cy="578"/>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Enter new weight</a:t>
              </a:r>
              <a:endParaRPr lang="en-US" sz="1200">
                <a:solidFill>
                  <a:schemeClr val="accent2">
                    <a:lumMod val="40000"/>
                    <a:lumOff val="60000"/>
                  </a:schemeClr>
                </a:solidFill>
                <a:sym typeface="+mn-ea"/>
              </a:endParaRPr>
            </a:p>
          </p:txBody>
        </p:sp>
      </p:grpSp>
      <p:sp>
        <p:nvSpPr>
          <p:cNvPr id="56" name="Rounded Rectangle 55"/>
          <p:cNvSpPr/>
          <p:nvPr/>
        </p:nvSpPr>
        <p:spPr>
          <a:xfrm>
            <a:off x="5511800" y="495427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Lots</a:t>
            </a:r>
            <a:endParaRPr lang="en-US">
              <a:solidFill>
                <a:schemeClr val="accent2">
                  <a:lumMod val="20000"/>
                  <a:lumOff val="80000"/>
                </a:schemeClr>
              </a:solidFill>
              <a:sym typeface="+mn-ea"/>
            </a:endParaRPr>
          </a:p>
        </p:txBody>
      </p:sp>
      <p:sp>
        <p:nvSpPr>
          <p:cNvPr id="58" name="Text Box 57"/>
          <p:cNvSpPr txBox="1"/>
          <p:nvPr/>
        </p:nvSpPr>
        <p:spPr>
          <a:xfrm>
            <a:off x="8261985" y="2022475"/>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showing list of current projects using this yarn. If a project is selected, opens project page.</a:t>
            </a:r>
            <a:endParaRPr lang="en-US" sz="1200">
              <a:solidFill>
                <a:schemeClr val="accent1">
                  <a:lumMod val="50000"/>
                </a:schemeClr>
              </a:solidFill>
              <a:sym typeface="+mn-ea"/>
            </a:endParaRPr>
          </a:p>
        </p:txBody>
      </p:sp>
      <p:cxnSp>
        <p:nvCxnSpPr>
          <p:cNvPr id="59" name="Straight Connector 58"/>
          <p:cNvCxnSpPr>
            <a:stCxn id="10" idx="3"/>
            <a:endCxn id="58" idx="1"/>
          </p:cNvCxnSpPr>
          <p:nvPr/>
        </p:nvCxnSpPr>
        <p:spPr>
          <a:xfrm flipV="1">
            <a:off x="7706360" y="2458085"/>
            <a:ext cx="555625" cy="16643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View Yarn Page</a:t>
            </a:r>
            <a:endParaRPr lang="en-US">
              <a:solidFill>
                <a:schemeClr val="accent1">
                  <a:lumMod val="50000"/>
                </a:schemeClr>
              </a:solidFill>
              <a:sym typeface="+mn-ea"/>
            </a:endParaRPr>
          </a:p>
        </p:txBody>
      </p:sp>
      <p:sp>
        <p:nvSpPr>
          <p:cNvPr id="7" name="Text Box 6"/>
          <p:cNvSpPr txBox="1"/>
          <p:nvPr/>
        </p:nvSpPr>
        <p:spPr>
          <a:xfrm>
            <a:off x="8451215" y="4521835"/>
            <a:ext cx="1892935" cy="2838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Opens the lot number page.</a:t>
            </a:r>
            <a:endParaRPr lang="en-US" sz="1200">
              <a:solidFill>
                <a:schemeClr val="accent1">
                  <a:lumMod val="50000"/>
                </a:schemeClr>
              </a:solidFill>
              <a:sym typeface="+mn-ea"/>
            </a:endParaRPr>
          </a:p>
        </p:txBody>
      </p:sp>
      <p:cxnSp>
        <p:nvCxnSpPr>
          <p:cNvPr id="12" name="Straight Connector 11"/>
          <p:cNvCxnSpPr>
            <a:stCxn id="56" idx="3"/>
            <a:endCxn id="7" idx="1"/>
          </p:cNvCxnSpPr>
          <p:nvPr/>
        </p:nvCxnSpPr>
        <p:spPr>
          <a:xfrm flipV="1">
            <a:off x="7706360" y="4664075"/>
            <a:ext cx="744855" cy="5416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3" name="Text Box 12"/>
          <p:cNvSpPr txBox="1"/>
          <p:nvPr/>
        </p:nvSpPr>
        <p:spPr>
          <a:xfrm>
            <a:off x="8261985" y="3335655"/>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showing list of completed projects using this yarn. If a project is selected, opens archived project page.</a:t>
            </a:r>
            <a:endParaRPr lang="en-US" sz="1200">
              <a:solidFill>
                <a:schemeClr val="accent1">
                  <a:lumMod val="50000"/>
                </a:schemeClr>
              </a:solidFill>
              <a:sym typeface="+mn-ea"/>
            </a:endParaRPr>
          </a:p>
        </p:txBody>
      </p:sp>
      <p:cxnSp>
        <p:nvCxnSpPr>
          <p:cNvPr id="15" name="Straight Connector 14"/>
          <p:cNvCxnSpPr>
            <a:stCxn id="11" idx="3"/>
            <a:endCxn id="13" idx="1"/>
          </p:cNvCxnSpPr>
          <p:nvPr/>
        </p:nvCxnSpPr>
        <p:spPr>
          <a:xfrm flipV="1">
            <a:off x="7706360" y="3771265"/>
            <a:ext cx="555625" cy="89281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 name="Freeform 63"/>
          <p:cNvSpPr/>
          <p:nvPr/>
        </p:nvSpPr>
        <p:spPr>
          <a:xfrm>
            <a:off x="4260215" y="1192530"/>
            <a:ext cx="2453005" cy="5369560"/>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grpSp>
        <p:nvGrpSpPr>
          <p:cNvPr id="55" name="Group 54"/>
          <p:cNvGrpSpPr/>
          <p:nvPr/>
        </p:nvGrpSpPr>
        <p:grpSpPr>
          <a:xfrm>
            <a:off x="4391660" y="1339850"/>
            <a:ext cx="2195195" cy="1474470"/>
            <a:chOff x="8684" y="7271"/>
            <a:chExt cx="3457" cy="2322"/>
          </a:xfrm>
        </p:grpSpPr>
        <p:sp>
          <p:nvSpPr>
            <p:cNvPr id="5" name="Freeform 4"/>
            <p:cNvSpPr/>
            <p:nvPr/>
          </p:nvSpPr>
          <p:spPr>
            <a:xfrm>
              <a:off x="8684" y="7271"/>
              <a:ext cx="3457" cy="2322"/>
            </a:xfrm>
            <a:custGeom>
              <a:avLst/>
              <a:gdLst>
                <a:gd name="connsiteX0" fmla="*/ 0 w 3457"/>
                <a:gd name="connsiteY0" fmla="*/ 269 h 2921"/>
                <a:gd name="connsiteX1" fmla="*/ 268 w 3457"/>
                <a:gd name="connsiteY1" fmla="*/ 0 h 2921"/>
                <a:gd name="connsiteX2" fmla="*/ 3189 w 3457"/>
                <a:gd name="connsiteY2" fmla="*/ 0 h 2921"/>
                <a:gd name="connsiteX3" fmla="*/ 3457 w 3457"/>
                <a:gd name="connsiteY3" fmla="*/ 269 h 2921"/>
                <a:gd name="connsiteX4" fmla="*/ 3457 w 3457"/>
                <a:gd name="connsiteY4" fmla="*/ 2653 h 2921"/>
                <a:gd name="connsiteX5" fmla="*/ 3159 w 3457"/>
                <a:gd name="connsiteY5" fmla="*/ 2921 h 2921"/>
                <a:gd name="connsiteX6" fmla="*/ 298 w 3457"/>
                <a:gd name="connsiteY6" fmla="*/ 2921 h 2921"/>
                <a:gd name="connsiteX7" fmla="*/ 0 w 3457"/>
                <a:gd name="connsiteY7" fmla="*/ 2623 h 2921"/>
                <a:gd name="connsiteX8" fmla="*/ 0 w 3457"/>
                <a:gd name="connsiteY8" fmla="*/ 269 h 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7" h="2921">
                  <a:moveTo>
                    <a:pt x="0" y="269"/>
                  </a:moveTo>
                  <a:cubicBezTo>
                    <a:pt x="0" y="-1"/>
                    <a:pt x="-2" y="0"/>
                    <a:pt x="268" y="0"/>
                  </a:cubicBezTo>
                  <a:lnTo>
                    <a:pt x="3189" y="0"/>
                  </a:lnTo>
                  <a:cubicBezTo>
                    <a:pt x="3459" y="0"/>
                    <a:pt x="3457" y="-1"/>
                    <a:pt x="3457" y="269"/>
                  </a:cubicBezTo>
                  <a:lnTo>
                    <a:pt x="3457" y="2653"/>
                  </a:lnTo>
                  <a:cubicBezTo>
                    <a:pt x="3457" y="2923"/>
                    <a:pt x="3429" y="2921"/>
                    <a:pt x="3159" y="2921"/>
                  </a:cubicBezTo>
                  <a:lnTo>
                    <a:pt x="298" y="2921"/>
                  </a:lnTo>
                  <a:cubicBezTo>
                    <a:pt x="28" y="2921"/>
                    <a:pt x="0" y="2893"/>
                    <a:pt x="0" y="2623"/>
                  </a:cubicBezTo>
                  <a:lnTo>
                    <a:pt x="0" y="269"/>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914400" numCol="1" spcCol="0" rtlCol="0" fromWordArt="0" anchor="t" anchorCtr="0" forceAA="0" compatLnSpc="1">
              <a:noAutofit/>
            </a:bodyPr>
            <a:p>
              <a:pPr lvl="0" algn="ctr">
                <a:buClrTx/>
                <a:buSzTx/>
                <a:buFontTx/>
              </a:pPr>
              <a:r>
                <a:rPr lang="en-US">
                  <a:solidFill>
                    <a:schemeClr val="accent2">
                      <a:lumMod val="20000"/>
                      <a:lumOff val="80000"/>
                    </a:schemeClr>
                  </a:solidFill>
                  <a:sym typeface="+mn-ea"/>
                </a:rPr>
                <a:t>Lot Number:</a:t>
              </a:r>
              <a:endParaRPr lang="en-US">
                <a:solidFill>
                  <a:schemeClr val="accent2">
                    <a:lumMod val="20000"/>
                    <a:lumOff val="80000"/>
                  </a:schemeClr>
                </a:solidFill>
                <a:sym typeface="+mn-ea"/>
              </a:endParaRPr>
            </a:p>
          </p:txBody>
        </p:sp>
        <p:sp>
          <p:nvSpPr>
            <p:cNvPr id="52" name="Freeform 51"/>
            <p:cNvSpPr/>
            <p:nvPr/>
          </p:nvSpPr>
          <p:spPr>
            <a:xfrm>
              <a:off x="8774" y="7821"/>
              <a:ext cx="3252" cy="461"/>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457200" numCol="1" spcCol="0" rtlCol="0" fromWordArt="0" anchor="ctr" anchorCtr="0" forceAA="0" compatLnSpc="1">
              <a:noAutofit/>
            </a:bodyPr>
            <a:p>
              <a:pPr lvl="0" algn="ctr">
                <a:buClrTx/>
                <a:buSzTx/>
                <a:buFontTx/>
              </a:pPr>
              <a:r>
                <a:rPr lang="en-US" sz="1600">
                  <a:solidFill>
                    <a:schemeClr val="accent2">
                      <a:lumMod val="40000"/>
                      <a:lumOff val="60000"/>
                    </a:schemeClr>
                  </a:solidFill>
                  <a:sym typeface="+mn-ea"/>
                </a:rPr>
                <a:t>Number of Skeins:</a:t>
              </a:r>
              <a:endParaRPr lang="en-US" sz="1600">
                <a:solidFill>
                  <a:schemeClr val="accent2">
                    <a:lumMod val="40000"/>
                    <a:lumOff val="60000"/>
                  </a:schemeClr>
                </a:solidFill>
                <a:sym typeface="+mn-ea"/>
              </a:endParaRPr>
            </a:p>
          </p:txBody>
        </p:sp>
        <p:sp>
          <p:nvSpPr>
            <p:cNvPr id="53" name="Freeform 52"/>
            <p:cNvSpPr/>
            <p:nvPr/>
          </p:nvSpPr>
          <p:spPr>
            <a:xfrm>
              <a:off x="8782" y="8350"/>
              <a:ext cx="3252" cy="461"/>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Estimated remaining Length</a:t>
              </a:r>
              <a:endParaRPr lang="en-US" sz="1200">
                <a:solidFill>
                  <a:schemeClr val="accent2">
                    <a:lumMod val="40000"/>
                    <a:lumOff val="60000"/>
                  </a:schemeClr>
                </a:solidFill>
                <a:sym typeface="+mn-ea"/>
              </a:endParaRPr>
            </a:p>
          </p:txBody>
        </p:sp>
        <p:sp>
          <p:nvSpPr>
            <p:cNvPr id="54" name="Freeform 53"/>
            <p:cNvSpPr/>
            <p:nvPr/>
          </p:nvSpPr>
          <p:spPr>
            <a:xfrm>
              <a:off x="8782" y="8879"/>
              <a:ext cx="3253" cy="578"/>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Enter new weight</a:t>
              </a:r>
              <a:endParaRPr lang="en-US" sz="1200">
                <a:solidFill>
                  <a:schemeClr val="accent2">
                    <a:lumMod val="40000"/>
                    <a:lumOff val="60000"/>
                  </a:schemeClr>
                </a:solidFill>
                <a:sym typeface="+mn-ea"/>
              </a:endParaRPr>
            </a:p>
          </p:txBody>
        </p:sp>
      </p:grp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View Yarn Lots Page</a:t>
            </a:r>
            <a:endParaRPr lang="en-US">
              <a:solidFill>
                <a:schemeClr val="accent1">
                  <a:lumMod val="50000"/>
                </a:schemeClr>
              </a:solidFill>
              <a:sym typeface="+mn-ea"/>
            </a:endParaRPr>
          </a:p>
        </p:txBody>
      </p:sp>
      <p:sp>
        <p:nvSpPr>
          <p:cNvPr id="50" name="Text Box 49"/>
          <p:cNvSpPr txBox="1"/>
          <p:nvPr/>
        </p:nvSpPr>
        <p:spPr>
          <a:xfrm>
            <a:off x="8261985" y="1524635"/>
            <a:ext cx="2233295" cy="35883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Estimates current remaining length of yarn using weight. Allows input of weight and length of new skein, uses this to determine remaining length when remaining weight is given. Takes length input from new skeins and adds it to total length. New entered weight is based on only one skein, and is used to calculate remaining yardage in the currently used skein. These are based on lot number, NOT on the color/brand/type of yarn like the main page for each yarn.</a:t>
            </a:r>
            <a:endParaRPr lang="en-US" sz="1200">
              <a:solidFill>
                <a:schemeClr val="accent1">
                  <a:lumMod val="50000"/>
                </a:schemeClr>
              </a:solidFill>
              <a:sym typeface="+mn-ea"/>
            </a:endParaRPr>
          </a:p>
        </p:txBody>
      </p:sp>
      <p:grpSp>
        <p:nvGrpSpPr>
          <p:cNvPr id="15" name="Group 14"/>
          <p:cNvGrpSpPr/>
          <p:nvPr/>
        </p:nvGrpSpPr>
        <p:grpSpPr>
          <a:xfrm>
            <a:off x="4391660" y="4427855"/>
            <a:ext cx="2195195" cy="1474470"/>
            <a:chOff x="8684" y="7271"/>
            <a:chExt cx="3457" cy="2322"/>
          </a:xfrm>
        </p:grpSpPr>
        <p:sp>
          <p:nvSpPr>
            <p:cNvPr id="16" name="Freeform 15"/>
            <p:cNvSpPr/>
            <p:nvPr/>
          </p:nvSpPr>
          <p:spPr>
            <a:xfrm>
              <a:off x="8684" y="7271"/>
              <a:ext cx="3457" cy="2322"/>
            </a:xfrm>
            <a:custGeom>
              <a:avLst/>
              <a:gdLst>
                <a:gd name="connsiteX0" fmla="*/ 0 w 3457"/>
                <a:gd name="connsiteY0" fmla="*/ 269 h 2921"/>
                <a:gd name="connsiteX1" fmla="*/ 268 w 3457"/>
                <a:gd name="connsiteY1" fmla="*/ 0 h 2921"/>
                <a:gd name="connsiteX2" fmla="*/ 3189 w 3457"/>
                <a:gd name="connsiteY2" fmla="*/ 0 h 2921"/>
                <a:gd name="connsiteX3" fmla="*/ 3457 w 3457"/>
                <a:gd name="connsiteY3" fmla="*/ 269 h 2921"/>
                <a:gd name="connsiteX4" fmla="*/ 3457 w 3457"/>
                <a:gd name="connsiteY4" fmla="*/ 2653 h 2921"/>
                <a:gd name="connsiteX5" fmla="*/ 3159 w 3457"/>
                <a:gd name="connsiteY5" fmla="*/ 2921 h 2921"/>
                <a:gd name="connsiteX6" fmla="*/ 298 w 3457"/>
                <a:gd name="connsiteY6" fmla="*/ 2921 h 2921"/>
                <a:gd name="connsiteX7" fmla="*/ 0 w 3457"/>
                <a:gd name="connsiteY7" fmla="*/ 2623 h 2921"/>
                <a:gd name="connsiteX8" fmla="*/ 0 w 3457"/>
                <a:gd name="connsiteY8" fmla="*/ 269 h 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7" h="2921">
                  <a:moveTo>
                    <a:pt x="0" y="269"/>
                  </a:moveTo>
                  <a:cubicBezTo>
                    <a:pt x="0" y="-1"/>
                    <a:pt x="-2" y="0"/>
                    <a:pt x="268" y="0"/>
                  </a:cubicBezTo>
                  <a:lnTo>
                    <a:pt x="3189" y="0"/>
                  </a:lnTo>
                  <a:cubicBezTo>
                    <a:pt x="3459" y="0"/>
                    <a:pt x="3457" y="-1"/>
                    <a:pt x="3457" y="269"/>
                  </a:cubicBezTo>
                  <a:lnTo>
                    <a:pt x="3457" y="2653"/>
                  </a:lnTo>
                  <a:cubicBezTo>
                    <a:pt x="3457" y="2923"/>
                    <a:pt x="3429" y="2921"/>
                    <a:pt x="3159" y="2921"/>
                  </a:cubicBezTo>
                  <a:lnTo>
                    <a:pt x="298" y="2921"/>
                  </a:lnTo>
                  <a:cubicBezTo>
                    <a:pt x="28" y="2921"/>
                    <a:pt x="0" y="2893"/>
                    <a:pt x="0" y="2623"/>
                  </a:cubicBezTo>
                  <a:lnTo>
                    <a:pt x="0" y="269"/>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914400" numCol="1" spcCol="0" rtlCol="0" fromWordArt="0" anchor="t" anchorCtr="0" forceAA="0" compatLnSpc="1">
              <a:noAutofit/>
            </a:bodyPr>
            <a:p>
              <a:pPr lvl="0" algn="ctr">
                <a:buClrTx/>
                <a:buSzTx/>
                <a:buFontTx/>
              </a:pPr>
              <a:r>
                <a:rPr lang="en-US">
                  <a:solidFill>
                    <a:schemeClr val="accent2">
                      <a:lumMod val="20000"/>
                      <a:lumOff val="80000"/>
                    </a:schemeClr>
                  </a:solidFill>
                  <a:sym typeface="+mn-ea"/>
                </a:rPr>
                <a:t>Lot Number:</a:t>
              </a:r>
              <a:endParaRPr lang="en-US">
                <a:solidFill>
                  <a:schemeClr val="accent2">
                    <a:lumMod val="20000"/>
                    <a:lumOff val="80000"/>
                  </a:schemeClr>
                </a:solidFill>
                <a:sym typeface="+mn-ea"/>
              </a:endParaRPr>
            </a:p>
          </p:txBody>
        </p:sp>
        <p:sp>
          <p:nvSpPr>
            <p:cNvPr id="17" name="Freeform 16"/>
            <p:cNvSpPr/>
            <p:nvPr/>
          </p:nvSpPr>
          <p:spPr>
            <a:xfrm>
              <a:off x="8774" y="7821"/>
              <a:ext cx="3252" cy="461"/>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457200" numCol="1" spcCol="0" rtlCol="0" fromWordArt="0" anchor="ctr" anchorCtr="0" forceAA="0" compatLnSpc="1">
              <a:noAutofit/>
            </a:bodyPr>
            <a:p>
              <a:pPr lvl="0" algn="ctr">
                <a:buClrTx/>
                <a:buSzTx/>
                <a:buFontTx/>
              </a:pPr>
              <a:r>
                <a:rPr lang="en-US" sz="1600">
                  <a:solidFill>
                    <a:schemeClr val="accent2">
                      <a:lumMod val="40000"/>
                      <a:lumOff val="60000"/>
                    </a:schemeClr>
                  </a:solidFill>
                  <a:sym typeface="+mn-ea"/>
                </a:rPr>
                <a:t>Number of Skeins:</a:t>
              </a:r>
              <a:endParaRPr lang="en-US" sz="1600">
                <a:solidFill>
                  <a:schemeClr val="accent2">
                    <a:lumMod val="40000"/>
                    <a:lumOff val="60000"/>
                  </a:schemeClr>
                </a:solidFill>
                <a:sym typeface="+mn-ea"/>
              </a:endParaRPr>
            </a:p>
          </p:txBody>
        </p:sp>
        <p:sp>
          <p:nvSpPr>
            <p:cNvPr id="18" name="Freeform 17"/>
            <p:cNvSpPr/>
            <p:nvPr/>
          </p:nvSpPr>
          <p:spPr>
            <a:xfrm>
              <a:off x="8782" y="8350"/>
              <a:ext cx="3252" cy="461"/>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Estimated remaining Length</a:t>
              </a:r>
              <a:endParaRPr lang="en-US" sz="1200">
                <a:solidFill>
                  <a:schemeClr val="accent2">
                    <a:lumMod val="40000"/>
                    <a:lumOff val="60000"/>
                  </a:schemeClr>
                </a:solidFill>
                <a:sym typeface="+mn-ea"/>
              </a:endParaRPr>
            </a:p>
          </p:txBody>
        </p:sp>
        <p:sp>
          <p:nvSpPr>
            <p:cNvPr id="19" name="Freeform 18"/>
            <p:cNvSpPr/>
            <p:nvPr/>
          </p:nvSpPr>
          <p:spPr>
            <a:xfrm>
              <a:off x="8782" y="8879"/>
              <a:ext cx="3253" cy="578"/>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Enter new weight</a:t>
              </a:r>
              <a:endParaRPr lang="en-US" sz="1200">
                <a:solidFill>
                  <a:schemeClr val="accent2">
                    <a:lumMod val="40000"/>
                    <a:lumOff val="60000"/>
                  </a:schemeClr>
                </a:solidFill>
                <a:sym typeface="+mn-ea"/>
              </a:endParaRPr>
            </a:p>
          </p:txBody>
        </p:sp>
      </p:grpSp>
      <p:grpSp>
        <p:nvGrpSpPr>
          <p:cNvPr id="20" name="Group 19"/>
          <p:cNvGrpSpPr/>
          <p:nvPr/>
        </p:nvGrpSpPr>
        <p:grpSpPr>
          <a:xfrm>
            <a:off x="4391660" y="2853055"/>
            <a:ext cx="2195195" cy="1474470"/>
            <a:chOff x="8684" y="7271"/>
            <a:chExt cx="3457" cy="2322"/>
          </a:xfrm>
        </p:grpSpPr>
        <p:sp>
          <p:nvSpPr>
            <p:cNvPr id="21" name="Freeform 20"/>
            <p:cNvSpPr/>
            <p:nvPr/>
          </p:nvSpPr>
          <p:spPr>
            <a:xfrm>
              <a:off x="8684" y="7271"/>
              <a:ext cx="3457" cy="2322"/>
            </a:xfrm>
            <a:custGeom>
              <a:avLst/>
              <a:gdLst>
                <a:gd name="connsiteX0" fmla="*/ 0 w 3457"/>
                <a:gd name="connsiteY0" fmla="*/ 269 h 2921"/>
                <a:gd name="connsiteX1" fmla="*/ 268 w 3457"/>
                <a:gd name="connsiteY1" fmla="*/ 0 h 2921"/>
                <a:gd name="connsiteX2" fmla="*/ 3189 w 3457"/>
                <a:gd name="connsiteY2" fmla="*/ 0 h 2921"/>
                <a:gd name="connsiteX3" fmla="*/ 3457 w 3457"/>
                <a:gd name="connsiteY3" fmla="*/ 269 h 2921"/>
                <a:gd name="connsiteX4" fmla="*/ 3457 w 3457"/>
                <a:gd name="connsiteY4" fmla="*/ 2653 h 2921"/>
                <a:gd name="connsiteX5" fmla="*/ 3159 w 3457"/>
                <a:gd name="connsiteY5" fmla="*/ 2921 h 2921"/>
                <a:gd name="connsiteX6" fmla="*/ 298 w 3457"/>
                <a:gd name="connsiteY6" fmla="*/ 2921 h 2921"/>
                <a:gd name="connsiteX7" fmla="*/ 0 w 3457"/>
                <a:gd name="connsiteY7" fmla="*/ 2623 h 2921"/>
                <a:gd name="connsiteX8" fmla="*/ 0 w 3457"/>
                <a:gd name="connsiteY8" fmla="*/ 269 h 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7" h="2921">
                  <a:moveTo>
                    <a:pt x="0" y="269"/>
                  </a:moveTo>
                  <a:cubicBezTo>
                    <a:pt x="0" y="-1"/>
                    <a:pt x="-2" y="0"/>
                    <a:pt x="268" y="0"/>
                  </a:cubicBezTo>
                  <a:lnTo>
                    <a:pt x="3189" y="0"/>
                  </a:lnTo>
                  <a:cubicBezTo>
                    <a:pt x="3459" y="0"/>
                    <a:pt x="3457" y="-1"/>
                    <a:pt x="3457" y="269"/>
                  </a:cubicBezTo>
                  <a:lnTo>
                    <a:pt x="3457" y="2653"/>
                  </a:lnTo>
                  <a:cubicBezTo>
                    <a:pt x="3457" y="2923"/>
                    <a:pt x="3429" y="2921"/>
                    <a:pt x="3159" y="2921"/>
                  </a:cubicBezTo>
                  <a:lnTo>
                    <a:pt x="298" y="2921"/>
                  </a:lnTo>
                  <a:cubicBezTo>
                    <a:pt x="28" y="2921"/>
                    <a:pt x="0" y="2893"/>
                    <a:pt x="0" y="2623"/>
                  </a:cubicBezTo>
                  <a:lnTo>
                    <a:pt x="0" y="269"/>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914400" numCol="1" spcCol="0" rtlCol="0" fromWordArt="0" anchor="t" anchorCtr="0" forceAA="0" compatLnSpc="1">
              <a:noAutofit/>
            </a:bodyPr>
            <a:p>
              <a:pPr lvl="0" algn="ctr">
                <a:buClrTx/>
                <a:buSzTx/>
                <a:buFontTx/>
              </a:pPr>
              <a:r>
                <a:rPr lang="en-US">
                  <a:solidFill>
                    <a:schemeClr val="accent2">
                      <a:lumMod val="20000"/>
                      <a:lumOff val="80000"/>
                    </a:schemeClr>
                  </a:solidFill>
                  <a:sym typeface="+mn-ea"/>
                </a:rPr>
                <a:t>Lot Number:</a:t>
              </a:r>
              <a:endParaRPr lang="en-US">
                <a:solidFill>
                  <a:schemeClr val="accent2">
                    <a:lumMod val="20000"/>
                    <a:lumOff val="80000"/>
                  </a:schemeClr>
                </a:solidFill>
                <a:sym typeface="+mn-ea"/>
              </a:endParaRPr>
            </a:p>
          </p:txBody>
        </p:sp>
        <p:sp>
          <p:nvSpPr>
            <p:cNvPr id="22" name="Freeform 21"/>
            <p:cNvSpPr/>
            <p:nvPr/>
          </p:nvSpPr>
          <p:spPr>
            <a:xfrm>
              <a:off x="8774" y="7821"/>
              <a:ext cx="3252" cy="461"/>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457200" numCol="1" spcCol="0" rtlCol="0" fromWordArt="0" anchor="ctr" anchorCtr="0" forceAA="0" compatLnSpc="1">
              <a:noAutofit/>
            </a:bodyPr>
            <a:p>
              <a:pPr lvl="0" algn="ctr">
                <a:buClrTx/>
                <a:buSzTx/>
                <a:buFontTx/>
              </a:pPr>
              <a:r>
                <a:rPr lang="en-US" sz="1600">
                  <a:solidFill>
                    <a:schemeClr val="accent2">
                      <a:lumMod val="40000"/>
                      <a:lumOff val="60000"/>
                    </a:schemeClr>
                  </a:solidFill>
                  <a:sym typeface="+mn-ea"/>
                </a:rPr>
                <a:t>Number of Skeins:</a:t>
              </a:r>
              <a:endParaRPr lang="en-US" sz="1600">
                <a:solidFill>
                  <a:schemeClr val="accent2">
                    <a:lumMod val="40000"/>
                    <a:lumOff val="60000"/>
                  </a:schemeClr>
                </a:solidFill>
                <a:sym typeface="+mn-ea"/>
              </a:endParaRPr>
            </a:p>
          </p:txBody>
        </p:sp>
        <p:sp>
          <p:nvSpPr>
            <p:cNvPr id="23" name="Freeform 22"/>
            <p:cNvSpPr/>
            <p:nvPr/>
          </p:nvSpPr>
          <p:spPr>
            <a:xfrm>
              <a:off x="8782" y="8350"/>
              <a:ext cx="3252" cy="461"/>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Estimated remaining Length</a:t>
              </a:r>
              <a:endParaRPr lang="en-US" sz="1200">
                <a:solidFill>
                  <a:schemeClr val="accent2">
                    <a:lumMod val="40000"/>
                    <a:lumOff val="60000"/>
                  </a:schemeClr>
                </a:solidFill>
                <a:sym typeface="+mn-ea"/>
              </a:endParaRPr>
            </a:p>
          </p:txBody>
        </p:sp>
        <p:sp>
          <p:nvSpPr>
            <p:cNvPr id="24" name="Freeform 23"/>
            <p:cNvSpPr/>
            <p:nvPr/>
          </p:nvSpPr>
          <p:spPr>
            <a:xfrm>
              <a:off x="8782" y="8879"/>
              <a:ext cx="3253" cy="578"/>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Enter new weight</a:t>
              </a:r>
              <a:endParaRPr lang="en-US" sz="1200">
                <a:solidFill>
                  <a:schemeClr val="accent2">
                    <a:lumMod val="40000"/>
                    <a:lumOff val="60000"/>
                  </a:schemeClr>
                </a:solidFill>
                <a:sym typeface="+mn-ea"/>
              </a:endParaRPr>
            </a:p>
          </p:txBody>
        </p:sp>
      </p:grpSp>
      <p:cxnSp>
        <p:nvCxnSpPr>
          <p:cNvPr id="59" name="Straight Connector 58"/>
          <p:cNvCxnSpPr>
            <a:stCxn id="5" idx="4"/>
            <a:endCxn id="50" idx="1"/>
          </p:cNvCxnSpPr>
          <p:nvPr/>
        </p:nvCxnSpPr>
        <p:spPr>
          <a:xfrm>
            <a:off x="6586855" y="2679065"/>
            <a:ext cx="1675130" cy="64008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25" name="Text Box 24"/>
          <p:cNvSpPr txBox="1"/>
          <p:nvPr/>
        </p:nvSpPr>
        <p:spPr>
          <a:xfrm>
            <a:off x="1310005" y="3495040"/>
            <a:ext cx="2233295" cy="2482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Scrollable box.</a:t>
            </a:r>
            <a:endParaRPr lang="en-US" sz="1200">
              <a:solidFill>
                <a:schemeClr val="accent1">
                  <a:lumMod val="50000"/>
                </a:schemeClr>
              </a:solidFill>
              <a:sym typeface="+mn-ea"/>
            </a:endParaRPr>
          </a:p>
        </p:txBody>
      </p:sp>
      <p:cxnSp>
        <p:nvCxnSpPr>
          <p:cNvPr id="26" name="Straight Connector 25"/>
          <p:cNvCxnSpPr>
            <a:stCxn id="25" idx="3"/>
            <a:endCxn id="64" idx="7"/>
          </p:cNvCxnSpPr>
          <p:nvPr/>
        </p:nvCxnSpPr>
        <p:spPr>
          <a:xfrm>
            <a:off x="3543300" y="3619500"/>
            <a:ext cx="718185" cy="241744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Yarn</a:t>
            </a:r>
            <a:endParaRPr lang="en-US">
              <a:solidFill>
                <a:schemeClr val="accent1">
                  <a:lumMod val="50000"/>
                </a:schemeClr>
              </a:solidFill>
              <a:sym typeface="+mn-ea"/>
            </a:endParaRPr>
          </a:p>
        </p:txBody>
      </p:sp>
      <p:sp>
        <p:nvSpPr>
          <p:cNvPr id="5" name="Freeform 4"/>
          <p:cNvSpPr/>
          <p:nvPr/>
        </p:nvSpPr>
        <p:spPr>
          <a:xfrm>
            <a:off x="3804285" y="1686560"/>
            <a:ext cx="3364230" cy="4859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Yarn</a:t>
            </a:r>
            <a:endParaRPr lang="en-US">
              <a:solidFill>
                <a:schemeClr val="accent2">
                  <a:lumMod val="40000"/>
                  <a:lumOff val="60000"/>
                </a:schemeClr>
              </a:solidFill>
              <a:sym typeface="+mn-ea"/>
            </a:endParaRPr>
          </a:p>
        </p:txBody>
      </p:sp>
      <p:sp>
        <p:nvSpPr>
          <p:cNvPr id="26" name="Rounded Rectangle 25"/>
          <p:cNvSpPr/>
          <p:nvPr/>
        </p:nvSpPr>
        <p:spPr>
          <a:xfrm>
            <a:off x="4345940" y="204597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Brand</a:t>
            </a:r>
            <a:endParaRPr lang="en-US">
              <a:solidFill>
                <a:schemeClr val="accent2">
                  <a:lumMod val="20000"/>
                  <a:lumOff val="80000"/>
                </a:schemeClr>
              </a:solidFill>
              <a:sym typeface="+mn-ea"/>
            </a:endParaRPr>
          </a:p>
        </p:txBody>
      </p:sp>
      <p:sp>
        <p:nvSpPr>
          <p:cNvPr id="4" name="Rounded Rectangle 3"/>
          <p:cNvSpPr/>
          <p:nvPr/>
        </p:nvSpPr>
        <p:spPr>
          <a:xfrm>
            <a:off x="4345940" y="244792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Type</a:t>
            </a:r>
            <a:endParaRPr lang="en-US">
              <a:solidFill>
                <a:schemeClr val="accent2">
                  <a:lumMod val="20000"/>
                  <a:lumOff val="80000"/>
                </a:schemeClr>
              </a:solidFill>
              <a:sym typeface="+mn-ea"/>
            </a:endParaRPr>
          </a:p>
        </p:txBody>
      </p:sp>
      <p:sp>
        <p:nvSpPr>
          <p:cNvPr id="6" name="Rounded Rectangle 5"/>
          <p:cNvSpPr/>
          <p:nvPr/>
        </p:nvSpPr>
        <p:spPr>
          <a:xfrm>
            <a:off x="4341495" y="284988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Color Name</a:t>
            </a:r>
            <a:endParaRPr lang="en-US">
              <a:solidFill>
                <a:schemeClr val="accent2">
                  <a:lumMod val="20000"/>
                  <a:lumOff val="80000"/>
                </a:schemeClr>
              </a:solidFill>
              <a:sym typeface="+mn-ea"/>
            </a:endParaRPr>
          </a:p>
        </p:txBody>
      </p:sp>
      <p:sp>
        <p:nvSpPr>
          <p:cNvPr id="7" name="Rounded Rectangle 6"/>
          <p:cNvSpPr/>
          <p:nvPr/>
        </p:nvSpPr>
        <p:spPr>
          <a:xfrm>
            <a:off x="4345940" y="365379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Weight</a:t>
            </a:r>
            <a:endParaRPr lang="en-US">
              <a:solidFill>
                <a:schemeClr val="accent2">
                  <a:lumMod val="20000"/>
                  <a:lumOff val="80000"/>
                </a:schemeClr>
              </a:solidFill>
              <a:sym typeface="+mn-ea"/>
            </a:endParaRPr>
          </a:p>
        </p:txBody>
      </p:sp>
      <p:sp>
        <p:nvSpPr>
          <p:cNvPr id="8" name="Rounded Rectangle 7"/>
          <p:cNvSpPr/>
          <p:nvPr/>
        </p:nvSpPr>
        <p:spPr>
          <a:xfrm>
            <a:off x="4345940" y="405574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Length</a:t>
            </a:r>
            <a:endParaRPr lang="en-US">
              <a:solidFill>
                <a:schemeClr val="accent2">
                  <a:lumMod val="20000"/>
                  <a:lumOff val="80000"/>
                </a:schemeClr>
              </a:solidFill>
              <a:sym typeface="+mn-ea"/>
            </a:endParaRPr>
          </a:p>
        </p:txBody>
      </p:sp>
      <p:sp>
        <p:nvSpPr>
          <p:cNvPr id="9" name="Rounded Rectangle 8"/>
          <p:cNvSpPr/>
          <p:nvPr/>
        </p:nvSpPr>
        <p:spPr>
          <a:xfrm>
            <a:off x="4345940" y="485584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Lot Number</a:t>
            </a:r>
            <a:endParaRPr lang="en-US">
              <a:solidFill>
                <a:schemeClr val="accent2">
                  <a:lumMod val="20000"/>
                  <a:lumOff val="80000"/>
                </a:schemeClr>
              </a:solidFill>
              <a:sym typeface="+mn-ea"/>
            </a:endParaRPr>
          </a:p>
        </p:txBody>
      </p:sp>
      <p:sp>
        <p:nvSpPr>
          <p:cNvPr id="10" name="Rounded Rectangle 9"/>
          <p:cNvSpPr/>
          <p:nvPr/>
        </p:nvSpPr>
        <p:spPr>
          <a:xfrm>
            <a:off x="4345940" y="525780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Source</a:t>
            </a:r>
            <a:endParaRPr lang="en-US">
              <a:solidFill>
                <a:schemeClr val="accent2">
                  <a:lumMod val="20000"/>
                  <a:lumOff val="80000"/>
                </a:schemeClr>
              </a:solidFill>
              <a:sym typeface="+mn-ea"/>
            </a:endParaRPr>
          </a:p>
        </p:txBody>
      </p:sp>
      <p:sp>
        <p:nvSpPr>
          <p:cNvPr id="11" name="Rounded Rectangle 10"/>
          <p:cNvSpPr/>
          <p:nvPr/>
        </p:nvSpPr>
        <p:spPr>
          <a:xfrm>
            <a:off x="4345940" y="4457700"/>
            <a:ext cx="1097280" cy="3657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Fiber</a:t>
            </a:r>
            <a:endParaRPr lang="en-US">
              <a:solidFill>
                <a:schemeClr val="accent2">
                  <a:lumMod val="20000"/>
                  <a:lumOff val="80000"/>
                </a:schemeClr>
              </a:solidFill>
              <a:sym typeface="+mn-ea"/>
            </a:endParaRPr>
          </a:p>
        </p:txBody>
      </p:sp>
      <p:sp>
        <p:nvSpPr>
          <p:cNvPr id="45" name="Text Box 44"/>
          <p:cNvSpPr txBox="1"/>
          <p:nvPr/>
        </p:nvSpPr>
        <p:spPr>
          <a:xfrm>
            <a:off x="372745" y="1686560"/>
            <a:ext cx="2266315" cy="161353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boxes with Correlating items and “Add New” options.</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If “Add New” is selected, a typing box should come up, should have checkmark option that if selected adds new item to correlating list/inventory.</a:t>
            </a:r>
            <a:endParaRPr lang="en-US" sz="1200">
              <a:solidFill>
                <a:schemeClr val="accent1">
                  <a:lumMod val="50000"/>
                </a:schemeClr>
              </a:solidFill>
              <a:sym typeface="+mn-ea"/>
            </a:endParaRPr>
          </a:p>
        </p:txBody>
      </p:sp>
      <p:sp>
        <p:nvSpPr>
          <p:cNvPr id="13" name="Text Box 12"/>
          <p:cNvSpPr txBox="1"/>
          <p:nvPr/>
        </p:nvSpPr>
        <p:spPr>
          <a:xfrm>
            <a:off x="8035925" y="1085850"/>
            <a:ext cx="1876425" cy="121729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 typing box should appear for the entry. These entries should be used only for the Yarn entry.</a:t>
            </a:r>
            <a:endParaRPr lang="en-US" sz="1200">
              <a:solidFill>
                <a:schemeClr val="accent1">
                  <a:lumMod val="50000"/>
                </a:schemeClr>
              </a:solidFill>
              <a:sym typeface="+mn-ea"/>
            </a:endParaRPr>
          </a:p>
        </p:txBody>
      </p:sp>
      <p:cxnSp>
        <p:nvCxnSpPr>
          <p:cNvPr id="15" name="Straight Connector 14"/>
          <p:cNvCxnSpPr>
            <a:stCxn id="26" idx="1"/>
            <a:endCxn id="45" idx="3"/>
          </p:cNvCxnSpPr>
          <p:nvPr/>
        </p:nvCxnSpPr>
        <p:spPr>
          <a:xfrm flipH="1">
            <a:off x="2639060" y="2230755"/>
            <a:ext cx="1706880" cy="26289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6" name="Straight Connector 15"/>
          <p:cNvCxnSpPr>
            <a:stCxn id="11" idx="1"/>
            <a:endCxn id="45" idx="3"/>
          </p:cNvCxnSpPr>
          <p:nvPr/>
        </p:nvCxnSpPr>
        <p:spPr>
          <a:xfrm flipH="1" flipV="1">
            <a:off x="2639060" y="2493645"/>
            <a:ext cx="1706880" cy="21469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7" name="Straight Connector 16"/>
          <p:cNvCxnSpPr>
            <a:stCxn id="10" idx="1"/>
            <a:endCxn id="45" idx="3"/>
          </p:cNvCxnSpPr>
          <p:nvPr/>
        </p:nvCxnSpPr>
        <p:spPr>
          <a:xfrm flipH="1" flipV="1">
            <a:off x="2639060" y="2493645"/>
            <a:ext cx="1706880" cy="29489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8" name="Straight Connector 17"/>
          <p:cNvCxnSpPr>
            <a:stCxn id="13" idx="1"/>
            <a:endCxn id="8" idx="3"/>
          </p:cNvCxnSpPr>
          <p:nvPr/>
        </p:nvCxnSpPr>
        <p:spPr>
          <a:xfrm flipH="1">
            <a:off x="6617970" y="1694815"/>
            <a:ext cx="1417955" cy="254571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9" name="Straight Connector 18"/>
          <p:cNvCxnSpPr>
            <a:stCxn id="31" idx="3"/>
            <a:endCxn id="13" idx="1"/>
          </p:cNvCxnSpPr>
          <p:nvPr/>
        </p:nvCxnSpPr>
        <p:spPr>
          <a:xfrm flipV="1">
            <a:off x="6622415" y="1694815"/>
            <a:ext cx="1413510" cy="41497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0" name="Straight Connector 19"/>
          <p:cNvCxnSpPr>
            <a:stCxn id="4" idx="1"/>
            <a:endCxn id="45" idx="3"/>
          </p:cNvCxnSpPr>
          <p:nvPr/>
        </p:nvCxnSpPr>
        <p:spPr>
          <a:xfrm flipH="1" flipV="1">
            <a:off x="2639060" y="2493645"/>
            <a:ext cx="1706880" cy="13906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1" name="Straight Connector 20"/>
          <p:cNvCxnSpPr>
            <a:stCxn id="7" idx="1"/>
            <a:endCxn id="45" idx="3"/>
          </p:cNvCxnSpPr>
          <p:nvPr/>
        </p:nvCxnSpPr>
        <p:spPr>
          <a:xfrm flipH="1" flipV="1">
            <a:off x="2639060" y="2493645"/>
            <a:ext cx="1706880" cy="134493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2" name="Straight Connector 21"/>
          <p:cNvCxnSpPr>
            <a:stCxn id="13" idx="1"/>
            <a:endCxn id="6" idx="3"/>
          </p:cNvCxnSpPr>
          <p:nvPr/>
        </p:nvCxnSpPr>
        <p:spPr>
          <a:xfrm flipH="1">
            <a:off x="6613525" y="1694815"/>
            <a:ext cx="1422400" cy="13398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2" name="Rounded Rectangle 1"/>
          <p:cNvSpPr/>
          <p:nvPr/>
        </p:nvSpPr>
        <p:spPr>
          <a:xfrm>
            <a:off x="4350385" y="6061710"/>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Add</a:t>
            </a:r>
            <a:endParaRPr lang="en-US">
              <a:solidFill>
                <a:schemeClr val="accent2">
                  <a:lumMod val="20000"/>
                  <a:lumOff val="80000"/>
                </a:schemeClr>
              </a:solidFill>
              <a:sym typeface="+mn-ea"/>
            </a:endParaRPr>
          </a:p>
        </p:txBody>
      </p:sp>
      <p:sp>
        <p:nvSpPr>
          <p:cNvPr id="3" name="Text Box 2"/>
          <p:cNvSpPr txBox="1"/>
          <p:nvPr/>
        </p:nvSpPr>
        <p:spPr>
          <a:xfrm>
            <a:off x="1221740" y="5716905"/>
            <a:ext cx="1715135" cy="118237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Saves current yarn selections to the project list, and clears selections for adding multiple yarns.</a:t>
            </a:r>
            <a:endParaRPr lang="en-US" sz="1200">
              <a:solidFill>
                <a:schemeClr val="accent1">
                  <a:lumMod val="50000"/>
                </a:schemeClr>
              </a:solidFill>
              <a:sym typeface="+mn-ea"/>
            </a:endParaRPr>
          </a:p>
        </p:txBody>
      </p:sp>
      <p:cxnSp>
        <p:nvCxnSpPr>
          <p:cNvPr id="12" name="Straight Connector 11"/>
          <p:cNvCxnSpPr>
            <a:stCxn id="2" idx="1"/>
            <a:endCxn id="3" idx="3"/>
          </p:cNvCxnSpPr>
          <p:nvPr/>
        </p:nvCxnSpPr>
        <p:spPr>
          <a:xfrm flipH="1">
            <a:off x="2936875" y="6246495"/>
            <a:ext cx="1413510" cy="6159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4" name="Rounded Rectangle 13"/>
          <p:cNvSpPr/>
          <p:nvPr/>
        </p:nvSpPr>
        <p:spPr>
          <a:xfrm>
            <a:off x="5556885" y="6061710"/>
            <a:ext cx="106108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Finish</a:t>
            </a:r>
            <a:endParaRPr lang="en-US">
              <a:solidFill>
                <a:schemeClr val="accent2">
                  <a:lumMod val="20000"/>
                  <a:lumOff val="80000"/>
                </a:schemeClr>
              </a:solidFill>
              <a:sym typeface="+mn-ea"/>
            </a:endParaRPr>
          </a:p>
        </p:txBody>
      </p:sp>
      <p:sp>
        <p:nvSpPr>
          <p:cNvPr id="23" name="Text Box 22"/>
          <p:cNvSpPr txBox="1"/>
          <p:nvPr/>
        </p:nvSpPr>
        <p:spPr>
          <a:xfrm>
            <a:off x="8035925" y="5718810"/>
            <a:ext cx="1715135" cy="118237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Returns to Yarn List or Pattern/Project Supply List page, depending on current action. </a:t>
            </a:r>
            <a:endParaRPr lang="en-US" sz="1200">
              <a:solidFill>
                <a:schemeClr val="accent1">
                  <a:lumMod val="50000"/>
                </a:schemeClr>
              </a:solidFill>
              <a:sym typeface="+mn-ea"/>
            </a:endParaRPr>
          </a:p>
        </p:txBody>
      </p:sp>
      <p:cxnSp>
        <p:nvCxnSpPr>
          <p:cNvPr id="24" name="Straight Connector 23"/>
          <p:cNvCxnSpPr>
            <a:stCxn id="14" idx="3"/>
            <a:endCxn id="23" idx="1"/>
          </p:cNvCxnSpPr>
          <p:nvPr/>
        </p:nvCxnSpPr>
        <p:spPr>
          <a:xfrm>
            <a:off x="6617970" y="6246495"/>
            <a:ext cx="1417955" cy="635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25" name="Rounded Rectangle 24"/>
          <p:cNvSpPr/>
          <p:nvPr/>
        </p:nvSpPr>
        <p:spPr>
          <a:xfrm>
            <a:off x="5520690" y="4457700"/>
            <a:ext cx="1097280" cy="3657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Fiber Tag</a:t>
            </a:r>
            <a:endParaRPr lang="en-US">
              <a:solidFill>
                <a:schemeClr val="accent2">
                  <a:lumMod val="20000"/>
                  <a:lumOff val="80000"/>
                </a:schemeClr>
              </a:solidFill>
              <a:sym typeface="+mn-ea"/>
            </a:endParaRPr>
          </a:p>
        </p:txBody>
      </p:sp>
      <p:sp>
        <p:nvSpPr>
          <p:cNvPr id="27" name="Text Box 26"/>
          <p:cNvSpPr txBox="1"/>
          <p:nvPr/>
        </p:nvSpPr>
        <p:spPr>
          <a:xfrm>
            <a:off x="8035925" y="4214495"/>
            <a:ext cx="2153285" cy="139382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that offers Synthetic, Natural, and Blended options. This should be used to filter Yarn List Page, will not be used/displayed anywhere else.</a:t>
            </a:r>
            <a:endParaRPr lang="en-US" sz="1200">
              <a:solidFill>
                <a:schemeClr val="accent1">
                  <a:lumMod val="50000"/>
                </a:schemeClr>
              </a:solidFill>
              <a:sym typeface="+mn-ea"/>
            </a:endParaRPr>
          </a:p>
        </p:txBody>
      </p:sp>
      <p:cxnSp>
        <p:nvCxnSpPr>
          <p:cNvPr id="28" name="Straight Connector 27"/>
          <p:cNvCxnSpPr>
            <a:stCxn id="27" idx="1"/>
            <a:endCxn id="25" idx="3"/>
          </p:cNvCxnSpPr>
          <p:nvPr/>
        </p:nvCxnSpPr>
        <p:spPr>
          <a:xfrm flipH="1" flipV="1">
            <a:off x="6617970" y="4640580"/>
            <a:ext cx="1417955" cy="27114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29" name="Rounded Rectangle 28"/>
          <p:cNvSpPr/>
          <p:nvPr/>
        </p:nvSpPr>
        <p:spPr>
          <a:xfrm>
            <a:off x="4345940" y="325183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Main Color</a:t>
            </a:r>
            <a:endParaRPr lang="en-US">
              <a:solidFill>
                <a:schemeClr val="accent2">
                  <a:lumMod val="20000"/>
                  <a:lumOff val="80000"/>
                </a:schemeClr>
              </a:solidFill>
              <a:sym typeface="+mn-ea"/>
            </a:endParaRPr>
          </a:p>
        </p:txBody>
      </p:sp>
      <p:cxnSp>
        <p:nvCxnSpPr>
          <p:cNvPr id="30" name="Straight Connector 29"/>
          <p:cNvCxnSpPr>
            <a:stCxn id="29" idx="1"/>
            <a:endCxn id="45" idx="3"/>
          </p:cNvCxnSpPr>
          <p:nvPr/>
        </p:nvCxnSpPr>
        <p:spPr>
          <a:xfrm flipH="1" flipV="1">
            <a:off x="2639060" y="2493645"/>
            <a:ext cx="1706880" cy="94297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1" name="Rounded Rectangle 30"/>
          <p:cNvSpPr/>
          <p:nvPr/>
        </p:nvSpPr>
        <p:spPr>
          <a:xfrm>
            <a:off x="4350385" y="565975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Price</a:t>
            </a:r>
            <a:endParaRPr lang="en-US">
              <a:solidFill>
                <a:schemeClr val="accent2">
                  <a:lumMod val="20000"/>
                  <a:lumOff val="80000"/>
                </a:schemeClr>
              </a:solidFill>
              <a:sym typeface="+mn-ea"/>
            </a:endParaRPr>
          </a:p>
        </p:txBody>
      </p:sp>
      <p:cxnSp>
        <p:nvCxnSpPr>
          <p:cNvPr id="32" name="Straight Connector 31"/>
          <p:cNvCxnSpPr>
            <a:stCxn id="9" idx="1"/>
            <a:endCxn id="33" idx="3"/>
          </p:cNvCxnSpPr>
          <p:nvPr/>
        </p:nvCxnSpPr>
        <p:spPr>
          <a:xfrm flipH="1" flipV="1">
            <a:off x="2533015" y="4429760"/>
            <a:ext cx="1812925" cy="6108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3" name="Text Box 32"/>
          <p:cNvSpPr txBox="1"/>
          <p:nvPr/>
        </p:nvSpPr>
        <p:spPr>
          <a:xfrm>
            <a:off x="401955" y="3838575"/>
            <a:ext cx="2131060" cy="118237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Lot numbers show which batch of yarn this one was processed with. Different lots can have slightly different tones/shade of color even if it’s the “same” color.</a:t>
            </a:r>
            <a:endParaRPr lang="en-US" sz="1200">
              <a:solidFill>
                <a:schemeClr val="accent1">
                  <a:lumMod val="50000"/>
                </a:schemeClr>
              </a:solidFill>
              <a:sym typeface="+mn-ea"/>
            </a:endParaRPr>
          </a:p>
        </p:txBody>
      </p:sp>
      <p:sp>
        <p:nvSpPr>
          <p:cNvPr id="34" name="Text Box 33"/>
          <p:cNvSpPr txBox="1"/>
          <p:nvPr/>
        </p:nvSpPr>
        <p:spPr>
          <a:xfrm>
            <a:off x="8035925" y="2527935"/>
            <a:ext cx="2416810" cy="139382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This box should have an option to mark a sale price. If the price is marked as a sale price, and this is added to the inventory of an already existing item, it should NOT update the price of an existing source for the listing.</a:t>
            </a:r>
            <a:endParaRPr lang="en-US" sz="1200">
              <a:solidFill>
                <a:schemeClr val="accent1">
                  <a:lumMod val="50000"/>
                </a:schemeClr>
              </a:solidFill>
              <a:sym typeface="+mn-ea"/>
            </a:endParaRPr>
          </a:p>
        </p:txBody>
      </p:sp>
      <p:cxnSp>
        <p:nvCxnSpPr>
          <p:cNvPr id="35" name="Straight Connector 34"/>
          <p:cNvCxnSpPr>
            <a:stCxn id="31" idx="3"/>
            <a:endCxn id="34" idx="1"/>
          </p:cNvCxnSpPr>
          <p:nvPr/>
        </p:nvCxnSpPr>
        <p:spPr>
          <a:xfrm flipV="1">
            <a:off x="6622415" y="3225165"/>
            <a:ext cx="1413510" cy="261937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Tool Inventory Page</a:t>
            </a:r>
            <a:endParaRPr lang="en-US">
              <a:solidFill>
                <a:schemeClr val="accent1">
                  <a:lumMod val="50000"/>
                </a:schemeClr>
              </a:solidFill>
              <a:sym typeface="+mn-ea"/>
            </a:endParaRPr>
          </a:p>
        </p:txBody>
      </p:sp>
      <p:grpSp>
        <p:nvGrpSpPr>
          <p:cNvPr id="4" name="Group 3"/>
          <p:cNvGrpSpPr/>
          <p:nvPr/>
        </p:nvGrpSpPr>
        <p:grpSpPr>
          <a:xfrm>
            <a:off x="3251835" y="2109470"/>
            <a:ext cx="4572000" cy="4506595"/>
            <a:chOff x="5121" y="4062"/>
            <a:chExt cx="7200" cy="7097"/>
          </a:xfrm>
        </p:grpSpPr>
        <p:sp>
          <p:nvSpPr>
            <p:cNvPr id="5" name="Rounded Rectangle 4"/>
            <p:cNvSpPr/>
            <p:nvPr/>
          </p:nvSpPr>
          <p:spPr>
            <a:xfrm>
              <a:off x="5121" y="4062"/>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Type/Brand/Size</a:t>
              </a:r>
              <a:endParaRPr lang="en-US">
                <a:solidFill>
                  <a:schemeClr val="accent2">
                    <a:lumMod val="40000"/>
                    <a:lumOff val="60000"/>
                  </a:schemeClr>
                </a:solidFill>
                <a:sym typeface="+mn-ea"/>
              </a:endParaRPr>
            </a:p>
          </p:txBody>
        </p:sp>
        <p:sp>
          <p:nvSpPr>
            <p:cNvPr id="6" name="Rounded Rectangle 5"/>
            <p:cNvSpPr/>
            <p:nvPr/>
          </p:nvSpPr>
          <p:spPr>
            <a:xfrm>
              <a:off x="5223" y="4166"/>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8" name="Rounded Rectangle 27"/>
            <p:cNvSpPr/>
            <p:nvPr/>
          </p:nvSpPr>
          <p:spPr>
            <a:xfrm>
              <a:off x="5121" y="5251"/>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Type/Brand/Size</a:t>
              </a:r>
              <a:endParaRPr lang="en-US">
                <a:solidFill>
                  <a:schemeClr val="accent2">
                    <a:lumMod val="40000"/>
                    <a:lumOff val="60000"/>
                  </a:schemeClr>
                </a:solidFill>
                <a:sym typeface="+mn-ea"/>
              </a:endParaRPr>
            </a:p>
          </p:txBody>
        </p:sp>
        <p:sp>
          <p:nvSpPr>
            <p:cNvPr id="29" name="Rounded Rectangle 28"/>
            <p:cNvSpPr/>
            <p:nvPr/>
          </p:nvSpPr>
          <p:spPr>
            <a:xfrm>
              <a:off x="5223" y="5355"/>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1" name="Rounded Rectangle 30"/>
            <p:cNvSpPr/>
            <p:nvPr/>
          </p:nvSpPr>
          <p:spPr>
            <a:xfrm>
              <a:off x="5121" y="6440"/>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Type/Brand/Size</a:t>
              </a:r>
              <a:endParaRPr lang="en-US">
                <a:solidFill>
                  <a:schemeClr val="accent2">
                    <a:lumMod val="40000"/>
                    <a:lumOff val="60000"/>
                  </a:schemeClr>
                </a:solidFill>
                <a:sym typeface="+mn-ea"/>
              </a:endParaRPr>
            </a:p>
          </p:txBody>
        </p:sp>
        <p:sp>
          <p:nvSpPr>
            <p:cNvPr id="32" name="Rounded Rectangle 31"/>
            <p:cNvSpPr/>
            <p:nvPr/>
          </p:nvSpPr>
          <p:spPr>
            <a:xfrm>
              <a:off x="5223" y="6544"/>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7" name="Rounded Rectangle 36"/>
            <p:cNvSpPr/>
            <p:nvPr/>
          </p:nvSpPr>
          <p:spPr>
            <a:xfrm>
              <a:off x="5121" y="7629"/>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Type/Brand/Size</a:t>
              </a:r>
              <a:endParaRPr lang="en-US">
                <a:solidFill>
                  <a:schemeClr val="accent2">
                    <a:lumMod val="40000"/>
                    <a:lumOff val="60000"/>
                  </a:schemeClr>
                </a:solidFill>
                <a:sym typeface="+mn-ea"/>
              </a:endParaRPr>
            </a:p>
          </p:txBody>
        </p:sp>
        <p:sp>
          <p:nvSpPr>
            <p:cNvPr id="38" name="Rounded Rectangle 37"/>
            <p:cNvSpPr/>
            <p:nvPr/>
          </p:nvSpPr>
          <p:spPr>
            <a:xfrm>
              <a:off x="5223" y="7733"/>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0" name="Rounded Rectangle 39"/>
            <p:cNvSpPr/>
            <p:nvPr/>
          </p:nvSpPr>
          <p:spPr>
            <a:xfrm>
              <a:off x="5121" y="8818"/>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Type/Brand/Size</a:t>
              </a:r>
              <a:endParaRPr lang="en-US">
                <a:solidFill>
                  <a:schemeClr val="accent2">
                    <a:lumMod val="40000"/>
                    <a:lumOff val="60000"/>
                  </a:schemeClr>
                </a:solidFill>
                <a:sym typeface="+mn-ea"/>
              </a:endParaRPr>
            </a:p>
          </p:txBody>
        </p:sp>
        <p:sp>
          <p:nvSpPr>
            <p:cNvPr id="41" name="Rounded Rectangle 40"/>
            <p:cNvSpPr/>
            <p:nvPr/>
          </p:nvSpPr>
          <p:spPr>
            <a:xfrm>
              <a:off x="5223" y="8922"/>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3" name="Rounded Rectangle 42"/>
            <p:cNvSpPr/>
            <p:nvPr/>
          </p:nvSpPr>
          <p:spPr>
            <a:xfrm>
              <a:off x="5121" y="10007"/>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Type/Brand/Size</a:t>
              </a:r>
              <a:endParaRPr lang="en-US">
                <a:solidFill>
                  <a:schemeClr val="accent2">
                    <a:lumMod val="40000"/>
                    <a:lumOff val="60000"/>
                  </a:schemeClr>
                </a:solidFill>
                <a:sym typeface="+mn-ea"/>
              </a:endParaRPr>
            </a:p>
          </p:txBody>
        </p:sp>
        <p:sp>
          <p:nvSpPr>
            <p:cNvPr id="44" name="Rounded Rectangle 43"/>
            <p:cNvSpPr/>
            <p:nvPr/>
          </p:nvSpPr>
          <p:spPr>
            <a:xfrm>
              <a:off x="5223" y="10111"/>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grpSp>
      <p:sp>
        <p:nvSpPr>
          <p:cNvPr id="64" name="Rounded Rectangle 63"/>
          <p:cNvSpPr/>
          <p:nvPr/>
        </p:nvSpPr>
        <p:spPr>
          <a:xfrm>
            <a:off x="3251835" y="1433830"/>
            <a:ext cx="1784985"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Filter </a:t>
            </a:r>
            <a:r>
              <a:rPr lang="en-US">
                <a:solidFill>
                  <a:schemeClr val="accent2">
                    <a:lumMod val="40000"/>
                    <a:lumOff val="60000"/>
                  </a:schemeClr>
                </a:solidFill>
                <a:sym typeface="+mn-ea"/>
              </a:rPr>
              <a:t>By</a:t>
            </a:r>
            <a:endParaRPr lang="en-US">
              <a:solidFill>
                <a:schemeClr val="accent2">
                  <a:lumMod val="40000"/>
                  <a:lumOff val="60000"/>
                </a:schemeClr>
              </a:solidFill>
              <a:sym typeface="+mn-ea"/>
            </a:endParaRPr>
          </a:p>
        </p:txBody>
      </p:sp>
      <p:sp>
        <p:nvSpPr>
          <p:cNvPr id="66" name="Rounded Rectangle 65"/>
          <p:cNvSpPr/>
          <p:nvPr/>
        </p:nvSpPr>
        <p:spPr>
          <a:xfrm>
            <a:off x="6726555" y="1433830"/>
            <a:ext cx="109728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New</a:t>
            </a:r>
            <a:endParaRPr lang="en-US">
              <a:solidFill>
                <a:schemeClr val="accent2">
                  <a:lumMod val="40000"/>
                  <a:lumOff val="60000"/>
                </a:schemeClr>
              </a:solidFill>
              <a:sym typeface="+mn-ea"/>
            </a:endParaRPr>
          </a:p>
        </p:txBody>
      </p:sp>
      <p:sp>
        <p:nvSpPr>
          <p:cNvPr id="85" name="Rounded Rectangle 84"/>
          <p:cNvSpPr/>
          <p:nvPr/>
        </p:nvSpPr>
        <p:spPr>
          <a:xfrm>
            <a:off x="5062855" y="1433830"/>
            <a:ext cx="163703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Sort By</a:t>
            </a:r>
            <a:endParaRPr lang="en-US">
              <a:solidFill>
                <a:schemeClr val="accent2">
                  <a:lumMod val="40000"/>
                  <a:lumOff val="60000"/>
                </a:schemeClr>
              </a:solidFill>
              <a:sym typeface="+mn-ea"/>
            </a:endParaRPr>
          </a:p>
        </p:txBody>
      </p:sp>
      <p:sp>
        <p:nvSpPr>
          <p:cNvPr id="45" name="Text Box 44"/>
          <p:cNvSpPr txBox="1"/>
          <p:nvPr/>
        </p:nvSpPr>
        <p:spPr>
          <a:xfrm>
            <a:off x="1002665" y="1679575"/>
            <a:ext cx="1715135" cy="42926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Allows filtering by type, brand, size</a:t>
            </a:r>
            <a:endParaRPr lang="en-US" sz="1200">
              <a:solidFill>
                <a:schemeClr val="accent1">
                  <a:lumMod val="50000"/>
                </a:schemeClr>
              </a:solidFill>
              <a:sym typeface="+mn-ea"/>
            </a:endParaRPr>
          </a:p>
        </p:txBody>
      </p:sp>
      <p:cxnSp>
        <p:nvCxnSpPr>
          <p:cNvPr id="42" name="Straight Connector 41"/>
          <p:cNvCxnSpPr>
            <a:stCxn id="64" idx="1"/>
            <a:endCxn id="45" idx="3"/>
          </p:cNvCxnSpPr>
          <p:nvPr/>
        </p:nvCxnSpPr>
        <p:spPr>
          <a:xfrm flipH="1">
            <a:off x="2717800" y="1753870"/>
            <a:ext cx="534035" cy="1403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7" name="Straight Connector 26"/>
          <p:cNvCxnSpPr>
            <a:stCxn id="85" idx="0"/>
          </p:cNvCxnSpPr>
          <p:nvPr/>
        </p:nvCxnSpPr>
        <p:spPr>
          <a:xfrm flipV="1">
            <a:off x="5881370" y="1219200"/>
            <a:ext cx="2263775" cy="21463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3" name="Text Box 32"/>
          <p:cNvSpPr txBox="1"/>
          <p:nvPr/>
        </p:nvSpPr>
        <p:spPr>
          <a:xfrm>
            <a:off x="8145145" y="1004570"/>
            <a:ext cx="1715135" cy="42926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Sorting options by brand, size, type of tool</a:t>
            </a:r>
            <a:endParaRPr lang="en-US" sz="1200">
              <a:solidFill>
                <a:schemeClr val="accent1">
                  <a:lumMod val="50000"/>
                </a:schemeClr>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View Tool Page</a:t>
            </a:r>
            <a:endParaRPr lang="en-US">
              <a:solidFill>
                <a:schemeClr val="accent1">
                  <a:lumMod val="50000"/>
                </a:schemeClr>
              </a:solidFill>
              <a:sym typeface="+mn-ea"/>
            </a:endParaRPr>
          </a:p>
        </p:txBody>
      </p:sp>
      <p:sp>
        <p:nvSpPr>
          <p:cNvPr id="64" name="Freeform 63"/>
          <p:cNvSpPr/>
          <p:nvPr/>
        </p:nvSpPr>
        <p:spPr>
          <a:xfrm>
            <a:off x="3228207" y="1438910"/>
            <a:ext cx="4653848" cy="5369560"/>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6" name="Rounded Rectangle 5"/>
          <p:cNvSpPr/>
          <p:nvPr/>
        </p:nvSpPr>
        <p:spPr>
          <a:xfrm>
            <a:off x="3404870" y="1545590"/>
            <a:ext cx="430149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Brand/Type/Size</a:t>
            </a:r>
            <a:endParaRPr lang="en-US">
              <a:solidFill>
                <a:schemeClr val="accent2">
                  <a:lumMod val="20000"/>
                  <a:lumOff val="80000"/>
                </a:schemeClr>
              </a:solidFill>
              <a:sym typeface="+mn-ea"/>
            </a:endParaRPr>
          </a:p>
        </p:txBody>
      </p:sp>
      <p:sp>
        <p:nvSpPr>
          <p:cNvPr id="4" name="Rounded Rectangle 3"/>
          <p:cNvSpPr/>
          <p:nvPr/>
        </p:nvSpPr>
        <p:spPr>
          <a:xfrm>
            <a:off x="5511800" y="2245360"/>
            <a:ext cx="2194560" cy="158559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Description</a:t>
            </a:r>
            <a:endParaRPr lang="en-US">
              <a:solidFill>
                <a:schemeClr val="accent2">
                  <a:lumMod val="20000"/>
                  <a:lumOff val="80000"/>
                </a:schemeClr>
              </a:solidFill>
              <a:sym typeface="+mn-ea"/>
            </a:endParaRPr>
          </a:p>
        </p:txBody>
      </p:sp>
      <p:sp>
        <p:nvSpPr>
          <p:cNvPr id="8" name="Rounded Rectangle 7"/>
          <p:cNvSpPr/>
          <p:nvPr/>
        </p:nvSpPr>
        <p:spPr>
          <a:xfrm>
            <a:off x="3317240" y="2245360"/>
            <a:ext cx="2106930" cy="17373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10" name="Rounded Rectangle 9"/>
          <p:cNvSpPr/>
          <p:nvPr/>
        </p:nvSpPr>
        <p:spPr>
          <a:xfrm>
            <a:off x="5511800" y="387096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Projects Active</a:t>
            </a:r>
            <a:endParaRPr lang="en-US">
              <a:solidFill>
                <a:schemeClr val="accent2">
                  <a:lumMod val="20000"/>
                  <a:lumOff val="80000"/>
                </a:schemeClr>
              </a:solidFill>
              <a:sym typeface="+mn-ea"/>
            </a:endParaRPr>
          </a:p>
        </p:txBody>
      </p:sp>
      <p:sp>
        <p:nvSpPr>
          <p:cNvPr id="11" name="Rounded Rectangle 10"/>
          <p:cNvSpPr/>
          <p:nvPr/>
        </p:nvSpPr>
        <p:spPr>
          <a:xfrm>
            <a:off x="5511800" y="4412615"/>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Project History</a:t>
            </a:r>
            <a:endParaRPr lang="en-US">
              <a:solidFill>
                <a:schemeClr val="accent2">
                  <a:lumMod val="20000"/>
                  <a:lumOff val="80000"/>
                </a:schemeClr>
              </a:solidFill>
              <a:sym typeface="+mn-ea"/>
            </a:endParaRPr>
          </a:p>
        </p:txBody>
      </p:sp>
      <p:sp>
        <p:nvSpPr>
          <p:cNvPr id="7" name="Freeform 6"/>
          <p:cNvSpPr/>
          <p:nvPr/>
        </p:nvSpPr>
        <p:spPr>
          <a:xfrm>
            <a:off x="3317240" y="4083050"/>
            <a:ext cx="2106930" cy="2638425"/>
          </a:xfrm>
          <a:custGeom>
            <a:avLst/>
            <a:gdLst>
              <a:gd name="connsiteX0" fmla="*/ 0 w 3318"/>
              <a:gd name="connsiteY0" fmla="*/ 310 h 4155"/>
              <a:gd name="connsiteX1" fmla="*/ 341 w 3318"/>
              <a:gd name="connsiteY1" fmla="*/ 0 h 4155"/>
              <a:gd name="connsiteX2" fmla="*/ 3008 w 3318"/>
              <a:gd name="connsiteY2" fmla="*/ 0 h 4155"/>
              <a:gd name="connsiteX3" fmla="*/ 3318 w 3318"/>
              <a:gd name="connsiteY3" fmla="*/ 310 h 4155"/>
              <a:gd name="connsiteX4" fmla="*/ 3318 w 3318"/>
              <a:gd name="connsiteY4" fmla="*/ 3814 h 4155"/>
              <a:gd name="connsiteX5" fmla="*/ 3008 w 3318"/>
              <a:gd name="connsiteY5" fmla="*/ 4155 h 4155"/>
              <a:gd name="connsiteX6" fmla="*/ 341 w 3318"/>
              <a:gd name="connsiteY6" fmla="*/ 4155 h 4155"/>
              <a:gd name="connsiteX7" fmla="*/ 31 w 3318"/>
              <a:gd name="connsiteY7" fmla="*/ 3814 h 4155"/>
              <a:gd name="connsiteX8" fmla="*/ 0 w 3318"/>
              <a:gd name="connsiteY8" fmla="*/ 31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 h="4155">
                <a:moveTo>
                  <a:pt x="0" y="310"/>
                </a:moveTo>
                <a:cubicBezTo>
                  <a:pt x="0" y="8"/>
                  <a:pt x="39" y="0"/>
                  <a:pt x="341" y="0"/>
                </a:cubicBezTo>
                <a:lnTo>
                  <a:pt x="3008" y="0"/>
                </a:lnTo>
                <a:cubicBezTo>
                  <a:pt x="3310" y="0"/>
                  <a:pt x="3318" y="8"/>
                  <a:pt x="3318" y="310"/>
                </a:cubicBezTo>
                <a:lnTo>
                  <a:pt x="3318" y="3814"/>
                </a:lnTo>
                <a:cubicBezTo>
                  <a:pt x="3318" y="4116"/>
                  <a:pt x="3310" y="4155"/>
                  <a:pt x="3008" y="4155"/>
                </a:cubicBezTo>
                <a:lnTo>
                  <a:pt x="341" y="4155"/>
                </a:lnTo>
                <a:cubicBezTo>
                  <a:pt x="39" y="4155"/>
                  <a:pt x="31" y="4116"/>
                  <a:pt x="31" y="3814"/>
                </a:cubicBezTo>
                <a:lnTo>
                  <a:pt x="0" y="310"/>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Purchase History</a:t>
            </a:r>
            <a:endParaRPr lang="en-US">
              <a:solidFill>
                <a:schemeClr val="accent2">
                  <a:lumMod val="20000"/>
                  <a:lumOff val="80000"/>
                </a:schemeClr>
              </a:solidFill>
              <a:sym typeface="+mn-ea"/>
            </a:endParaRPr>
          </a:p>
        </p:txBody>
      </p:sp>
      <p:grpSp>
        <p:nvGrpSpPr>
          <p:cNvPr id="24" name="Group 23"/>
          <p:cNvGrpSpPr/>
          <p:nvPr/>
        </p:nvGrpSpPr>
        <p:grpSpPr>
          <a:xfrm rot="0">
            <a:off x="3395345" y="4337685"/>
            <a:ext cx="1941195" cy="292735"/>
            <a:chOff x="5347" y="4079"/>
            <a:chExt cx="3057" cy="432"/>
          </a:xfrm>
        </p:grpSpPr>
        <p:sp>
          <p:nvSpPr>
            <p:cNvPr id="14" name="Freeform 13"/>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Source</a:t>
              </a:r>
              <a:endParaRPr lang="en-US" sz="1200">
                <a:solidFill>
                  <a:schemeClr val="accent2">
                    <a:lumMod val="40000"/>
                    <a:lumOff val="60000"/>
                  </a:schemeClr>
                </a:solidFill>
                <a:sym typeface="+mn-ea"/>
              </a:endParaRPr>
            </a:p>
          </p:txBody>
        </p:sp>
        <p:sp>
          <p:nvSpPr>
            <p:cNvPr id="18" name="Freeform 17"/>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a:t>
              </a:r>
              <a:endParaRPr lang="en-US" sz="1200">
                <a:solidFill>
                  <a:schemeClr val="accent2">
                    <a:lumMod val="40000"/>
                    <a:lumOff val="60000"/>
                  </a:schemeClr>
                </a:solidFill>
                <a:sym typeface="+mn-ea"/>
              </a:endParaRPr>
            </a:p>
          </p:txBody>
        </p:sp>
      </p:grpSp>
      <p:grpSp>
        <p:nvGrpSpPr>
          <p:cNvPr id="25" name="Group 24"/>
          <p:cNvGrpSpPr/>
          <p:nvPr/>
        </p:nvGrpSpPr>
        <p:grpSpPr>
          <a:xfrm rot="0">
            <a:off x="3395345" y="4673600"/>
            <a:ext cx="1941195" cy="292735"/>
            <a:chOff x="5347" y="4079"/>
            <a:chExt cx="3057" cy="432"/>
          </a:xfrm>
        </p:grpSpPr>
        <p:sp>
          <p:nvSpPr>
            <p:cNvPr id="26" name="Freeform 25"/>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Michael’s</a:t>
              </a:r>
              <a:endParaRPr lang="en-US" sz="1200">
                <a:solidFill>
                  <a:schemeClr val="accent2">
                    <a:lumMod val="40000"/>
                    <a:lumOff val="60000"/>
                  </a:schemeClr>
                </a:solidFill>
                <a:sym typeface="+mn-ea"/>
              </a:endParaRPr>
            </a:p>
          </p:txBody>
        </p:sp>
        <p:sp>
          <p:nvSpPr>
            <p:cNvPr id="27" name="Freeform 26"/>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4.99</a:t>
              </a:r>
              <a:endParaRPr lang="en-US" sz="1200">
                <a:solidFill>
                  <a:schemeClr val="accent2">
                    <a:lumMod val="40000"/>
                    <a:lumOff val="60000"/>
                  </a:schemeClr>
                </a:solidFill>
                <a:sym typeface="+mn-ea"/>
              </a:endParaRPr>
            </a:p>
          </p:txBody>
        </p:sp>
      </p:grpSp>
      <p:grpSp>
        <p:nvGrpSpPr>
          <p:cNvPr id="28" name="Group 27"/>
          <p:cNvGrpSpPr/>
          <p:nvPr/>
        </p:nvGrpSpPr>
        <p:grpSpPr>
          <a:xfrm rot="0">
            <a:off x="3395345" y="5009515"/>
            <a:ext cx="1941195" cy="292735"/>
            <a:chOff x="5347" y="4079"/>
            <a:chExt cx="3057" cy="432"/>
          </a:xfrm>
        </p:grpSpPr>
        <p:sp>
          <p:nvSpPr>
            <p:cNvPr id="29" name="Freeform 28"/>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0" name="Freeform 29"/>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1" name="Group 30"/>
          <p:cNvGrpSpPr/>
          <p:nvPr/>
        </p:nvGrpSpPr>
        <p:grpSpPr>
          <a:xfrm rot="0">
            <a:off x="3395345" y="5345430"/>
            <a:ext cx="1941195" cy="292735"/>
            <a:chOff x="5347" y="4079"/>
            <a:chExt cx="3057" cy="432"/>
          </a:xfrm>
        </p:grpSpPr>
        <p:sp>
          <p:nvSpPr>
            <p:cNvPr id="32" name="Freeform 31"/>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3" name="Freeform 32"/>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4" name="Group 33"/>
          <p:cNvGrpSpPr/>
          <p:nvPr/>
        </p:nvGrpSpPr>
        <p:grpSpPr>
          <a:xfrm rot="0">
            <a:off x="3395345" y="5681345"/>
            <a:ext cx="1941195" cy="292735"/>
            <a:chOff x="5347" y="4079"/>
            <a:chExt cx="3057" cy="432"/>
          </a:xfrm>
        </p:grpSpPr>
        <p:sp>
          <p:nvSpPr>
            <p:cNvPr id="35" name="Freeform 34"/>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6" name="Freeform 35"/>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7" name="Group 36"/>
          <p:cNvGrpSpPr/>
          <p:nvPr/>
        </p:nvGrpSpPr>
        <p:grpSpPr>
          <a:xfrm rot="0">
            <a:off x="3395345" y="6017260"/>
            <a:ext cx="1941195" cy="292735"/>
            <a:chOff x="5347" y="4079"/>
            <a:chExt cx="3057" cy="432"/>
          </a:xfrm>
        </p:grpSpPr>
        <p:sp>
          <p:nvSpPr>
            <p:cNvPr id="38" name="Freeform 37"/>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9" name="Freeform 38"/>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40" name="Group 39"/>
          <p:cNvGrpSpPr/>
          <p:nvPr/>
        </p:nvGrpSpPr>
        <p:grpSpPr>
          <a:xfrm rot="0">
            <a:off x="3395345" y="6353175"/>
            <a:ext cx="1941195" cy="292735"/>
            <a:chOff x="5347" y="4079"/>
            <a:chExt cx="3057" cy="432"/>
          </a:xfrm>
        </p:grpSpPr>
        <p:sp>
          <p:nvSpPr>
            <p:cNvPr id="41" name="Freeform 40"/>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42" name="Freeform 41"/>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sp>
        <p:nvSpPr>
          <p:cNvPr id="56" name="Rounded Rectangle 55"/>
          <p:cNvSpPr/>
          <p:nvPr/>
        </p:nvSpPr>
        <p:spPr>
          <a:xfrm>
            <a:off x="5511800" y="495427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Sizes Available</a:t>
            </a:r>
            <a:endParaRPr lang="en-US">
              <a:solidFill>
                <a:schemeClr val="accent2">
                  <a:lumMod val="20000"/>
                  <a:lumOff val="80000"/>
                </a:schemeClr>
              </a:solidFill>
              <a:sym typeface="+mn-ea"/>
            </a:endParaRPr>
          </a:p>
        </p:txBody>
      </p:sp>
      <p:sp>
        <p:nvSpPr>
          <p:cNvPr id="13" name="Rounded Rectangle 12"/>
          <p:cNvSpPr/>
          <p:nvPr/>
        </p:nvSpPr>
        <p:spPr>
          <a:xfrm>
            <a:off x="5511800" y="5495925"/>
            <a:ext cx="2194560" cy="122555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Patterns</a:t>
            </a:r>
            <a:endParaRPr lang="en-US">
              <a:solidFill>
                <a:schemeClr val="accent2">
                  <a:lumMod val="20000"/>
                  <a:lumOff val="80000"/>
                </a:schemeClr>
              </a:solidFill>
              <a:sym typeface="+mn-ea"/>
            </a:endParaRPr>
          </a:p>
        </p:txBody>
      </p:sp>
      <p:sp>
        <p:nvSpPr>
          <p:cNvPr id="45" name="Text Box 44"/>
          <p:cNvSpPr txBox="1"/>
          <p:nvPr/>
        </p:nvSpPr>
        <p:spPr>
          <a:xfrm>
            <a:off x="8242935" y="6537325"/>
            <a:ext cx="1715135" cy="60261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Shows list of patterns that suggest/require use of this tool.</a:t>
            </a:r>
            <a:endParaRPr lang="en-US" sz="1200">
              <a:solidFill>
                <a:schemeClr val="accent1">
                  <a:lumMod val="50000"/>
                </a:schemeClr>
              </a:solidFill>
              <a:sym typeface="+mn-ea"/>
            </a:endParaRPr>
          </a:p>
        </p:txBody>
      </p:sp>
      <p:cxnSp>
        <p:nvCxnSpPr>
          <p:cNvPr id="15" name="Straight Connector 14"/>
          <p:cNvCxnSpPr>
            <a:stCxn id="13" idx="3"/>
            <a:endCxn id="45" idx="0"/>
          </p:cNvCxnSpPr>
          <p:nvPr/>
        </p:nvCxnSpPr>
        <p:spPr>
          <a:xfrm>
            <a:off x="7706360" y="6108700"/>
            <a:ext cx="1394460" cy="4286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58" name="Text Box 57"/>
          <p:cNvSpPr txBox="1"/>
          <p:nvPr/>
        </p:nvSpPr>
        <p:spPr>
          <a:xfrm>
            <a:off x="8242935" y="2539365"/>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showing list of current projects using this tool. If a project is selected, opens project page.</a:t>
            </a:r>
            <a:endParaRPr lang="en-US" sz="1200">
              <a:solidFill>
                <a:schemeClr val="accent1">
                  <a:lumMod val="50000"/>
                </a:schemeClr>
              </a:solidFill>
              <a:sym typeface="+mn-ea"/>
            </a:endParaRPr>
          </a:p>
        </p:txBody>
      </p:sp>
      <p:cxnSp>
        <p:nvCxnSpPr>
          <p:cNvPr id="59" name="Straight Connector 58"/>
          <p:cNvCxnSpPr>
            <a:stCxn id="10" idx="3"/>
            <a:endCxn id="58" idx="1"/>
          </p:cNvCxnSpPr>
          <p:nvPr/>
        </p:nvCxnSpPr>
        <p:spPr>
          <a:xfrm flipV="1">
            <a:off x="7706360" y="2974975"/>
            <a:ext cx="536575" cy="114744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8242935" y="3686810"/>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showing list of completed projects using this tool. If a project is selected, opens archived project page.</a:t>
            </a:r>
            <a:endParaRPr lang="en-US" sz="1200">
              <a:solidFill>
                <a:schemeClr val="accent1">
                  <a:lumMod val="50000"/>
                </a:schemeClr>
              </a:solidFill>
              <a:sym typeface="+mn-ea"/>
            </a:endParaRPr>
          </a:p>
        </p:txBody>
      </p:sp>
      <p:cxnSp>
        <p:nvCxnSpPr>
          <p:cNvPr id="17" name="Straight Connector 16"/>
          <p:cNvCxnSpPr>
            <a:stCxn id="11" idx="3"/>
            <a:endCxn id="16" idx="1"/>
          </p:cNvCxnSpPr>
          <p:nvPr/>
        </p:nvCxnSpPr>
        <p:spPr>
          <a:xfrm flipV="1">
            <a:off x="7706360" y="4122420"/>
            <a:ext cx="536575" cy="5416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9" name="Text Box 18"/>
          <p:cNvSpPr txBox="1"/>
          <p:nvPr/>
        </p:nvSpPr>
        <p:spPr>
          <a:xfrm>
            <a:off x="8242935" y="4961255"/>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there are multiple options of this tool that match all details except for size, displays list of available options.</a:t>
            </a:r>
            <a:endParaRPr lang="en-US" sz="1200">
              <a:solidFill>
                <a:schemeClr val="accent1">
                  <a:lumMod val="50000"/>
                </a:schemeClr>
              </a:solidFill>
              <a:sym typeface="+mn-ea"/>
            </a:endParaRPr>
          </a:p>
        </p:txBody>
      </p:sp>
      <p:cxnSp>
        <p:nvCxnSpPr>
          <p:cNvPr id="20" name="Straight Connector 19"/>
          <p:cNvCxnSpPr>
            <a:stCxn id="56" idx="3"/>
            <a:endCxn id="19" idx="1"/>
          </p:cNvCxnSpPr>
          <p:nvPr/>
        </p:nvCxnSpPr>
        <p:spPr>
          <a:xfrm>
            <a:off x="7706360" y="5205730"/>
            <a:ext cx="536575" cy="1911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46" name="Text Box 45"/>
          <p:cNvSpPr txBox="1"/>
          <p:nvPr/>
        </p:nvSpPr>
        <p:spPr>
          <a:xfrm>
            <a:off x="189230" y="3052445"/>
            <a:ext cx="2233295" cy="24434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When adding a new tool to inventory, if the new tool matches the color name and brand type of an already existing tool, it should be added to the inventory of the tool, and the purchase location and price should be added to purchase history. If source is already listed in purchase history, price should update to match the new price entered, not be added as a new section. </a:t>
            </a:r>
            <a:endParaRPr lang="en-US" sz="1200">
              <a:solidFill>
                <a:schemeClr val="accent1">
                  <a:lumMod val="50000"/>
                </a:schemeClr>
              </a:solidFill>
              <a:sym typeface="+mn-ea"/>
            </a:endParaRPr>
          </a:p>
        </p:txBody>
      </p:sp>
      <p:cxnSp>
        <p:nvCxnSpPr>
          <p:cNvPr id="47" name="Straight Connector 46"/>
          <p:cNvCxnSpPr>
            <a:stCxn id="46" idx="3"/>
          </p:cNvCxnSpPr>
          <p:nvPr/>
        </p:nvCxnSpPr>
        <p:spPr>
          <a:xfrm>
            <a:off x="2422525" y="4274185"/>
            <a:ext cx="894715" cy="8064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Freeform 4"/>
          <p:cNvSpPr/>
          <p:nvPr/>
        </p:nvSpPr>
        <p:spPr>
          <a:xfrm>
            <a:off x="3804285" y="1973580"/>
            <a:ext cx="3364230" cy="457200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Tool</a:t>
            </a:r>
            <a:endParaRPr lang="en-US">
              <a:solidFill>
                <a:schemeClr val="accent2">
                  <a:lumMod val="40000"/>
                  <a:lumOff val="60000"/>
                </a:schemeClr>
              </a:solidFill>
              <a:sym typeface="+mn-ea"/>
            </a:endParaRPr>
          </a:p>
        </p:txBody>
      </p: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Tools</a:t>
            </a:r>
            <a:endParaRPr lang="en-US">
              <a:solidFill>
                <a:schemeClr val="accent1">
                  <a:lumMod val="50000"/>
                </a:schemeClr>
              </a:solidFill>
              <a:sym typeface="+mn-ea"/>
            </a:endParaRPr>
          </a:p>
        </p:txBody>
      </p:sp>
      <p:sp>
        <p:nvSpPr>
          <p:cNvPr id="32" name="Rounded Rectangle 31"/>
          <p:cNvSpPr/>
          <p:nvPr/>
        </p:nvSpPr>
        <p:spPr>
          <a:xfrm>
            <a:off x="4350385" y="230187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Brand</a:t>
            </a:r>
            <a:endParaRPr lang="en-US">
              <a:solidFill>
                <a:schemeClr val="accent2">
                  <a:lumMod val="20000"/>
                  <a:lumOff val="80000"/>
                </a:schemeClr>
              </a:solidFill>
              <a:sym typeface="+mn-ea"/>
            </a:endParaRPr>
          </a:p>
        </p:txBody>
      </p:sp>
      <p:sp>
        <p:nvSpPr>
          <p:cNvPr id="33" name="Rounded Rectangle 32"/>
          <p:cNvSpPr/>
          <p:nvPr/>
        </p:nvSpPr>
        <p:spPr>
          <a:xfrm>
            <a:off x="4350385" y="276352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Type</a:t>
            </a:r>
            <a:endParaRPr lang="en-US">
              <a:solidFill>
                <a:schemeClr val="accent2">
                  <a:lumMod val="20000"/>
                  <a:lumOff val="80000"/>
                </a:schemeClr>
              </a:solidFill>
              <a:sym typeface="+mn-ea"/>
            </a:endParaRPr>
          </a:p>
        </p:txBody>
      </p:sp>
      <p:sp>
        <p:nvSpPr>
          <p:cNvPr id="34" name="Rounded Rectangle 33"/>
          <p:cNvSpPr/>
          <p:nvPr/>
        </p:nvSpPr>
        <p:spPr>
          <a:xfrm>
            <a:off x="4350385" y="322516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Size</a:t>
            </a:r>
            <a:endParaRPr lang="en-US">
              <a:solidFill>
                <a:schemeClr val="accent2">
                  <a:lumMod val="20000"/>
                  <a:lumOff val="80000"/>
                </a:schemeClr>
              </a:solidFill>
              <a:sym typeface="+mn-ea"/>
            </a:endParaRPr>
          </a:p>
        </p:txBody>
      </p:sp>
      <p:sp>
        <p:nvSpPr>
          <p:cNvPr id="35" name="Rounded Rectangle 34"/>
          <p:cNvSpPr/>
          <p:nvPr/>
        </p:nvSpPr>
        <p:spPr>
          <a:xfrm>
            <a:off x="4350385" y="3686810"/>
            <a:ext cx="2272030" cy="129222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Description</a:t>
            </a:r>
            <a:endParaRPr lang="en-US">
              <a:solidFill>
                <a:schemeClr val="accent2">
                  <a:lumMod val="20000"/>
                  <a:lumOff val="80000"/>
                </a:schemeClr>
              </a:solidFill>
              <a:sym typeface="+mn-ea"/>
            </a:endParaRPr>
          </a:p>
        </p:txBody>
      </p:sp>
      <p:sp>
        <p:nvSpPr>
          <p:cNvPr id="36" name="Rounded Rectangle 35"/>
          <p:cNvSpPr/>
          <p:nvPr/>
        </p:nvSpPr>
        <p:spPr>
          <a:xfrm>
            <a:off x="4350385" y="507174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Source</a:t>
            </a:r>
            <a:endParaRPr lang="en-US">
              <a:solidFill>
                <a:schemeClr val="accent2">
                  <a:lumMod val="20000"/>
                  <a:lumOff val="80000"/>
                </a:schemeClr>
              </a:solidFill>
              <a:sym typeface="+mn-ea"/>
            </a:endParaRPr>
          </a:p>
        </p:txBody>
      </p:sp>
      <p:sp>
        <p:nvSpPr>
          <p:cNvPr id="37" name="Rounded Rectangle 36"/>
          <p:cNvSpPr/>
          <p:nvPr/>
        </p:nvSpPr>
        <p:spPr>
          <a:xfrm>
            <a:off x="4350385" y="553339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Price</a:t>
            </a:r>
            <a:endParaRPr lang="en-US">
              <a:solidFill>
                <a:schemeClr val="accent2">
                  <a:lumMod val="20000"/>
                  <a:lumOff val="80000"/>
                </a:schemeClr>
              </a:solidFill>
              <a:sym typeface="+mn-ea"/>
            </a:endParaRPr>
          </a:p>
        </p:txBody>
      </p:sp>
      <p:sp>
        <p:nvSpPr>
          <p:cNvPr id="45" name="Text Box 44"/>
          <p:cNvSpPr txBox="1"/>
          <p:nvPr/>
        </p:nvSpPr>
        <p:spPr>
          <a:xfrm>
            <a:off x="1002665" y="1679575"/>
            <a:ext cx="1715135" cy="161353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boxes with Correlating items and “Add New” options.</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If “Add New” is selected, a typing box should come up, and the entry should be added to the correlating list.</a:t>
            </a:r>
            <a:endParaRPr lang="en-US" sz="1200">
              <a:solidFill>
                <a:schemeClr val="accent1">
                  <a:lumMod val="50000"/>
                </a:schemeClr>
              </a:solidFill>
              <a:sym typeface="+mn-ea"/>
            </a:endParaRPr>
          </a:p>
        </p:txBody>
      </p:sp>
      <p:sp>
        <p:nvSpPr>
          <p:cNvPr id="39" name="Text Box 38"/>
          <p:cNvSpPr txBox="1"/>
          <p:nvPr/>
        </p:nvSpPr>
        <p:spPr>
          <a:xfrm>
            <a:off x="8353425" y="2141855"/>
            <a:ext cx="1715135" cy="161353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 typing box should appear for the entry. These entries should be used only for the Tool entry/viewing pages.</a:t>
            </a:r>
            <a:endParaRPr lang="en-US" sz="1200">
              <a:solidFill>
                <a:schemeClr val="accent1">
                  <a:lumMod val="50000"/>
                </a:schemeClr>
              </a:solidFill>
              <a:sym typeface="+mn-ea"/>
            </a:endParaRPr>
          </a:p>
        </p:txBody>
      </p:sp>
      <p:cxnSp>
        <p:nvCxnSpPr>
          <p:cNvPr id="40" name="Straight Connector 39"/>
          <p:cNvCxnSpPr>
            <a:endCxn id="39" idx="1"/>
          </p:cNvCxnSpPr>
          <p:nvPr/>
        </p:nvCxnSpPr>
        <p:spPr>
          <a:xfrm flipV="1">
            <a:off x="6622415" y="2948940"/>
            <a:ext cx="1731010" cy="27692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1" name="Straight Connector 40"/>
          <p:cNvCxnSpPr>
            <a:stCxn id="33" idx="3"/>
            <a:endCxn id="39" idx="1"/>
          </p:cNvCxnSpPr>
          <p:nvPr/>
        </p:nvCxnSpPr>
        <p:spPr>
          <a:xfrm>
            <a:off x="6622415" y="2948305"/>
            <a:ext cx="1731010" cy="6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2" name="Straight Connector 41"/>
          <p:cNvCxnSpPr>
            <a:stCxn id="32" idx="1"/>
            <a:endCxn id="45" idx="3"/>
          </p:cNvCxnSpPr>
          <p:nvPr/>
        </p:nvCxnSpPr>
        <p:spPr>
          <a:xfrm flipH="1">
            <a:off x="2717800" y="2486660"/>
            <a:ext cx="1632585" cy="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3" name="Straight Connector 42"/>
          <p:cNvCxnSpPr>
            <a:stCxn id="35" idx="3"/>
            <a:endCxn id="39" idx="1"/>
          </p:cNvCxnSpPr>
          <p:nvPr/>
        </p:nvCxnSpPr>
        <p:spPr>
          <a:xfrm flipV="1">
            <a:off x="6622415" y="2948940"/>
            <a:ext cx="1731010" cy="13843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4" name="Straight Connector 43"/>
          <p:cNvCxnSpPr>
            <a:stCxn id="36" idx="1"/>
            <a:endCxn id="45" idx="3"/>
          </p:cNvCxnSpPr>
          <p:nvPr/>
        </p:nvCxnSpPr>
        <p:spPr>
          <a:xfrm flipH="1" flipV="1">
            <a:off x="2717800" y="2486660"/>
            <a:ext cx="1632585" cy="27698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6" name="Straight Connector 45"/>
          <p:cNvCxnSpPr>
            <a:stCxn id="34" idx="3"/>
            <a:endCxn id="39" idx="1"/>
          </p:cNvCxnSpPr>
          <p:nvPr/>
        </p:nvCxnSpPr>
        <p:spPr>
          <a:xfrm flipV="1">
            <a:off x="6622415" y="2948940"/>
            <a:ext cx="1731010" cy="46101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2" name="Rounded Rectangle 1"/>
          <p:cNvSpPr/>
          <p:nvPr/>
        </p:nvSpPr>
        <p:spPr>
          <a:xfrm>
            <a:off x="4350385" y="6140450"/>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Add</a:t>
            </a:r>
            <a:endParaRPr lang="en-US">
              <a:solidFill>
                <a:schemeClr val="accent2">
                  <a:lumMod val="20000"/>
                  <a:lumOff val="80000"/>
                </a:schemeClr>
              </a:solidFill>
              <a:sym typeface="+mn-ea"/>
            </a:endParaRPr>
          </a:p>
        </p:txBody>
      </p:sp>
      <p:sp>
        <p:nvSpPr>
          <p:cNvPr id="3" name="Text Box 2"/>
          <p:cNvSpPr txBox="1"/>
          <p:nvPr/>
        </p:nvSpPr>
        <p:spPr>
          <a:xfrm>
            <a:off x="1143000" y="5727700"/>
            <a:ext cx="1715135" cy="118237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Saves current tool selections to the project list, and clears selections for adding multiple yarns.</a:t>
            </a:r>
            <a:endParaRPr lang="en-US" sz="1200">
              <a:solidFill>
                <a:schemeClr val="accent1">
                  <a:lumMod val="50000"/>
                </a:schemeClr>
              </a:solidFill>
              <a:sym typeface="+mn-ea"/>
            </a:endParaRPr>
          </a:p>
        </p:txBody>
      </p:sp>
      <p:cxnSp>
        <p:nvCxnSpPr>
          <p:cNvPr id="12" name="Straight Connector 11"/>
          <p:cNvCxnSpPr>
            <a:stCxn id="2" idx="1"/>
            <a:endCxn id="3" idx="3"/>
          </p:cNvCxnSpPr>
          <p:nvPr/>
        </p:nvCxnSpPr>
        <p:spPr>
          <a:xfrm flipH="1" flipV="1">
            <a:off x="2858135" y="6318885"/>
            <a:ext cx="1492250" cy="63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4" name="Rounded Rectangle 13"/>
          <p:cNvSpPr/>
          <p:nvPr/>
        </p:nvSpPr>
        <p:spPr>
          <a:xfrm>
            <a:off x="5556885" y="6134735"/>
            <a:ext cx="106108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Finish</a:t>
            </a:r>
            <a:endParaRPr lang="en-US">
              <a:solidFill>
                <a:schemeClr val="accent2">
                  <a:lumMod val="20000"/>
                  <a:lumOff val="80000"/>
                </a:schemeClr>
              </a:solidFill>
              <a:sym typeface="+mn-ea"/>
            </a:endParaRPr>
          </a:p>
        </p:txBody>
      </p:sp>
      <p:sp>
        <p:nvSpPr>
          <p:cNvPr id="23" name="Text Box 22"/>
          <p:cNvSpPr txBox="1"/>
          <p:nvPr/>
        </p:nvSpPr>
        <p:spPr>
          <a:xfrm>
            <a:off x="8035925" y="5727700"/>
            <a:ext cx="1715135" cy="118237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Returns to Tool List or Pattern/Project Supply List page, depending on current action. </a:t>
            </a:r>
            <a:endParaRPr lang="en-US" sz="1200">
              <a:solidFill>
                <a:schemeClr val="accent1">
                  <a:lumMod val="50000"/>
                </a:schemeClr>
              </a:solidFill>
              <a:sym typeface="+mn-ea"/>
            </a:endParaRPr>
          </a:p>
        </p:txBody>
      </p:sp>
      <p:cxnSp>
        <p:nvCxnSpPr>
          <p:cNvPr id="24" name="Straight Connector 23"/>
          <p:cNvCxnSpPr>
            <a:stCxn id="14" idx="3"/>
            <a:endCxn id="23" idx="1"/>
          </p:cNvCxnSpPr>
          <p:nvPr/>
        </p:nvCxnSpPr>
        <p:spPr>
          <a:xfrm flipV="1">
            <a:off x="6617970" y="6318885"/>
            <a:ext cx="1417955" cy="6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6" name="Text Box 5"/>
          <p:cNvSpPr txBox="1"/>
          <p:nvPr/>
        </p:nvSpPr>
        <p:spPr>
          <a:xfrm>
            <a:off x="7808595" y="4058285"/>
            <a:ext cx="2416810" cy="139382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This box should have an option to mark a sale price. If the price is marked as a sale price, and this is added to the inventory of an already existing item, it should NOT update the price of an existing source for the listing.</a:t>
            </a:r>
            <a:endParaRPr lang="en-US" sz="1200">
              <a:solidFill>
                <a:schemeClr val="accent1">
                  <a:lumMod val="50000"/>
                </a:schemeClr>
              </a:solidFill>
              <a:sym typeface="+mn-ea"/>
            </a:endParaRPr>
          </a:p>
        </p:txBody>
      </p:sp>
      <p:cxnSp>
        <p:nvCxnSpPr>
          <p:cNvPr id="7" name="Straight Connector 6"/>
          <p:cNvCxnSpPr>
            <a:stCxn id="37" idx="3"/>
            <a:endCxn id="6" idx="1"/>
          </p:cNvCxnSpPr>
          <p:nvPr/>
        </p:nvCxnSpPr>
        <p:spPr>
          <a:xfrm flipV="1">
            <a:off x="6622415" y="4755515"/>
            <a:ext cx="1186180" cy="96266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 name="Freeform 63"/>
          <p:cNvSpPr/>
          <p:nvPr/>
        </p:nvSpPr>
        <p:spPr>
          <a:xfrm>
            <a:off x="3228207" y="1438910"/>
            <a:ext cx="4653848" cy="5369560"/>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6" name="Rounded Rectangle 5"/>
          <p:cNvSpPr/>
          <p:nvPr/>
        </p:nvSpPr>
        <p:spPr>
          <a:xfrm>
            <a:off x="3404870" y="1545590"/>
            <a:ext cx="430149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Brand/Type/Size</a:t>
            </a:r>
            <a:endParaRPr lang="en-US">
              <a:solidFill>
                <a:schemeClr val="accent2">
                  <a:lumMod val="20000"/>
                  <a:lumOff val="80000"/>
                </a:schemeClr>
              </a:solidFill>
              <a:sym typeface="+mn-ea"/>
            </a:endParaRPr>
          </a:p>
        </p:txBody>
      </p:sp>
      <p:sp>
        <p:nvSpPr>
          <p:cNvPr id="4" name="Rounded Rectangle 3"/>
          <p:cNvSpPr/>
          <p:nvPr/>
        </p:nvSpPr>
        <p:spPr>
          <a:xfrm>
            <a:off x="5511800" y="2245360"/>
            <a:ext cx="2194560" cy="158559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Description</a:t>
            </a:r>
            <a:endParaRPr lang="en-US">
              <a:solidFill>
                <a:schemeClr val="accent2">
                  <a:lumMod val="20000"/>
                  <a:lumOff val="80000"/>
                </a:schemeClr>
              </a:solidFill>
              <a:sym typeface="+mn-ea"/>
            </a:endParaRPr>
          </a:p>
        </p:txBody>
      </p:sp>
      <p:sp>
        <p:nvSpPr>
          <p:cNvPr id="8" name="Rounded Rectangle 7"/>
          <p:cNvSpPr/>
          <p:nvPr/>
        </p:nvSpPr>
        <p:spPr>
          <a:xfrm>
            <a:off x="3317240" y="2245360"/>
            <a:ext cx="2106930" cy="17373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10" name="Rounded Rectangle 9"/>
          <p:cNvSpPr/>
          <p:nvPr/>
        </p:nvSpPr>
        <p:spPr>
          <a:xfrm>
            <a:off x="5511800" y="387096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Projects Active</a:t>
            </a:r>
            <a:endParaRPr lang="en-US">
              <a:solidFill>
                <a:schemeClr val="accent2">
                  <a:lumMod val="20000"/>
                  <a:lumOff val="80000"/>
                </a:schemeClr>
              </a:solidFill>
              <a:sym typeface="+mn-ea"/>
            </a:endParaRPr>
          </a:p>
        </p:txBody>
      </p:sp>
      <p:sp>
        <p:nvSpPr>
          <p:cNvPr id="11" name="Rounded Rectangle 10"/>
          <p:cNvSpPr/>
          <p:nvPr/>
        </p:nvSpPr>
        <p:spPr>
          <a:xfrm>
            <a:off x="5511800" y="4412615"/>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Project History</a:t>
            </a:r>
            <a:endParaRPr lang="en-US">
              <a:solidFill>
                <a:schemeClr val="accent2">
                  <a:lumMod val="20000"/>
                  <a:lumOff val="80000"/>
                </a:schemeClr>
              </a:solidFill>
              <a:sym typeface="+mn-ea"/>
            </a:endParaRPr>
          </a:p>
        </p:txBody>
      </p:sp>
      <p:sp>
        <p:nvSpPr>
          <p:cNvPr id="7" name="Freeform 6"/>
          <p:cNvSpPr/>
          <p:nvPr/>
        </p:nvSpPr>
        <p:spPr>
          <a:xfrm>
            <a:off x="3317240" y="4083050"/>
            <a:ext cx="2106930" cy="2638425"/>
          </a:xfrm>
          <a:custGeom>
            <a:avLst/>
            <a:gdLst>
              <a:gd name="connsiteX0" fmla="*/ 0 w 3318"/>
              <a:gd name="connsiteY0" fmla="*/ 310 h 4155"/>
              <a:gd name="connsiteX1" fmla="*/ 341 w 3318"/>
              <a:gd name="connsiteY1" fmla="*/ 0 h 4155"/>
              <a:gd name="connsiteX2" fmla="*/ 3008 w 3318"/>
              <a:gd name="connsiteY2" fmla="*/ 0 h 4155"/>
              <a:gd name="connsiteX3" fmla="*/ 3318 w 3318"/>
              <a:gd name="connsiteY3" fmla="*/ 310 h 4155"/>
              <a:gd name="connsiteX4" fmla="*/ 3318 w 3318"/>
              <a:gd name="connsiteY4" fmla="*/ 3814 h 4155"/>
              <a:gd name="connsiteX5" fmla="*/ 3008 w 3318"/>
              <a:gd name="connsiteY5" fmla="*/ 4155 h 4155"/>
              <a:gd name="connsiteX6" fmla="*/ 341 w 3318"/>
              <a:gd name="connsiteY6" fmla="*/ 4155 h 4155"/>
              <a:gd name="connsiteX7" fmla="*/ 31 w 3318"/>
              <a:gd name="connsiteY7" fmla="*/ 3814 h 4155"/>
              <a:gd name="connsiteX8" fmla="*/ 0 w 3318"/>
              <a:gd name="connsiteY8" fmla="*/ 31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 h="4155">
                <a:moveTo>
                  <a:pt x="0" y="310"/>
                </a:moveTo>
                <a:cubicBezTo>
                  <a:pt x="0" y="8"/>
                  <a:pt x="39" y="0"/>
                  <a:pt x="341" y="0"/>
                </a:cubicBezTo>
                <a:lnTo>
                  <a:pt x="3008" y="0"/>
                </a:lnTo>
                <a:cubicBezTo>
                  <a:pt x="3310" y="0"/>
                  <a:pt x="3318" y="8"/>
                  <a:pt x="3318" y="310"/>
                </a:cubicBezTo>
                <a:lnTo>
                  <a:pt x="3318" y="3814"/>
                </a:lnTo>
                <a:cubicBezTo>
                  <a:pt x="3318" y="4116"/>
                  <a:pt x="3310" y="4155"/>
                  <a:pt x="3008" y="4155"/>
                </a:cubicBezTo>
                <a:lnTo>
                  <a:pt x="341" y="4155"/>
                </a:lnTo>
                <a:cubicBezTo>
                  <a:pt x="39" y="4155"/>
                  <a:pt x="31" y="4116"/>
                  <a:pt x="31" y="3814"/>
                </a:cubicBezTo>
                <a:lnTo>
                  <a:pt x="0" y="310"/>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Purchase History</a:t>
            </a:r>
            <a:endParaRPr lang="en-US">
              <a:solidFill>
                <a:schemeClr val="accent2">
                  <a:lumMod val="20000"/>
                  <a:lumOff val="80000"/>
                </a:schemeClr>
              </a:solidFill>
              <a:sym typeface="+mn-ea"/>
            </a:endParaRPr>
          </a:p>
        </p:txBody>
      </p:sp>
      <p:grpSp>
        <p:nvGrpSpPr>
          <p:cNvPr id="24" name="Group 23"/>
          <p:cNvGrpSpPr/>
          <p:nvPr/>
        </p:nvGrpSpPr>
        <p:grpSpPr>
          <a:xfrm rot="0">
            <a:off x="3395345" y="4337685"/>
            <a:ext cx="1941195" cy="292735"/>
            <a:chOff x="5347" y="4079"/>
            <a:chExt cx="3057" cy="432"/>
          </a:xfrm>
        </p:grpSpPr>
        <p:sp>
          <p:nvSpPr>
            <p:cNvPr id="14" name="Freeform 13"/>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Source</a:t>
              </a:r>
              <a:endParaRPr lang="en-US" sz="1200">
                <a:solidFill>
                  <a:schemeClr val="accent2">
                    <a:lumMod val="40000"/>
                    <a:lumOff val="60000"/>
                  </a:schemeClr>
                </a:solidFill>
                <a:sym typeface="+mn-ea"/>
              </a:endParaRPr>
            </a:p>
          </p:txBody>
        </p:sp>
        <p:sp>
          <p:nvSpPr>
            <p:cNvPr id="18" name="Freeform 17"/>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a:t>
              </a:r>
              <a:endParaRPr lang="en-US" sz="1200">
                <a:solidFill>
                  <a:schemeClr val="accent2">
                    <a:lumMod val="40000"/>
                    <a:lumOff val="60000"/>
                  </a:schemeClr>
                </a:solidFill>
                <a:sym typeface="+mn-ea"/>
              </a:endParaRPr>
            </a:p>
          </p:txBody>
        </p:sp>
      </p:grpSp>
      <p:grpSp>
        <p:nvGrpSpPr>
          <p:cNvPr id="25" name="Group 24"/>
          <p:cNvGrpSpPr/>
          <p:nvPr/>
        </p:nvGrpSpPr>
        <p:grpSpPr>
          <a:xfrm rot="0">
            <a:off x="3395345" y="4673600"/>
            <a:ext cx="1941195" cy="292735"/>
            <a:chOff x="5347" y="4079"/>
            <a:chExt cx="3057" cy="432"/>
          </a:xfrm>
        </p:grpSpPr>
        <p:sp>
          <p:nvSpPr>
            <p:cNvPr id="26" name="Freeform 25"/>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Michael’s</a:t>
              </a:r>
              <a:endParaRPr lang="en-US" sz="1200">
                <a:solidFill>
                  <a:schemeClr val="accent2">
                    <a:lumMod val="40000"/>
                    <a:lumOff val="60000"/>
                  </a:schemeClr>
                </a:solidFill>
                <a:sym typeface="+mn-ea"/>
              </a:endParaRPr>
            </a:p>
          </p:txBody>
        </p:sp>
        <p:sp>
          <p:nvSpPr>
            <p:cNvPr id="27" name="Freeform 26"/>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4.99</a:t>
              </a:r>
              <a:endParaRPr lang="en-US" sz="1200">
                <a:solidFill>
                  <a:schemeClr val="accent2">
                    <a:lumMod val="40000"/>
                    <a:lumOff val="60000"/>
                  </a:schemeClr>
                </a:solidFill>
                <a:sym typeface="+mn-ea"/>
              </a:endParaRPr>
            </a:p>
          </p:txBody>
        </p:sp>
      </p:grpSp>
      <p:grpSp>
        <p:nvGrpSpPr>
          <p:cNvPr id="28" name="Group 27"/>
          <p:cNvGrpSpPr/>
          <p:nvPr/>
        </p:nvGrpSpPr>
        <p:grpSpPr>
          <a:xfrm rot="0">
            <a:off x="3395345" y="5009515"/>
            <a:ext cx="1941195" cy="292735"/>
            <a:chOff x="5347" y="4079"/>
            <a:chExt cx="3057" cy="432"/>
          </a:xfrm>
        </p:grpSpPr>
        <p:sp>
          <p:nvSpPr>
            <p:cNvPr id="29" name="Freeform 28"/>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0" name="Freeform 29"/>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1" name="Group 30"/>
          <p:cNvGrpSpPr/>
          <p:nvPr/>
        </p:nvGrpSpPr>
        <p:grpSpPr>
          <a:xfrm rot="0">
            <a:off x="3395345" y="5345430"/>
            <a:ext cx="1941195" cy="292735"/>
            <a:chOff x="5347" y="4079"/>
            <a:chExt cx="3057" cy="432"/>
          </a:xfrm>
        </p:grpSpPr>
        <p:sp>
          <p:nvSpPr>
            <p:cNvPr id="32" name="Freeform 31"/>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3" name="Freeform 32"/>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4" name="Group 33"/>
          <p:cNvGrpSpPr/>
          <p:nvPr/>
        </p:nvGrpSpPr>
        <p:grpSpPr>
          <a:xfrm rot="0">
            <a:off x="3395345" y="5681345"/>
            <a:ext cx="1941195" cy="292735"/>
            <a:chOff x="5347" y="4079"/>
            <a:chExt cx="3057" cy="432"/>
          </a:xfrm>
        </p:grpSpPr>
        <p:sp>
          <p:nvSpPr>
            <p:cNvPr id="35" name="Freeform 34"/>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6" name="Freeform 35"/>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7" name="Group 36"/>
          <p:cNvGrpSpPr/>
          <p:nvPr/>
        </p:nvGrpSpPr>
        <p:grpSpPr>
          <a:xfrm rot="0">
            <a:off x="3395345" y="6017260"/>
            <a:ext cx="1941195" cy="292735"/>
            <a:chOff x="5347" y="4079"/>
            <a:chExt cx="3057" cy="432"/>
          </a:xfrm>
        </p:grpSpPr>
        <p:sp>
          <p:nvSpPr>
            <p:cNvPr id="38" name="Freeform 37"/>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9" name="Freeform 38"/>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40" name="Group 39"/>
          <p:cNvGrpSpPr/>
          <p:nvPr/>
        </p:nvGrpSpPr>
        <p:grpSpPr>
          <a:xfrm rot="0">
            <a:off x="3395345" y="6353175"/>
            <a:ext cx="1941195" cy="292735"/>
            <a:chOff x="5347" y="4079"/>
            <a:chExt cx="3057" cy="432"/>
          </a:xfrm>
        </p:grpSpPr>
        <p:sp>
          <p:nvSpPr>
            <p:cNvPr id="41" name="Freeform 40"/>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42" name="Freeform 41"/>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sp>
        <p:nvSpPr>
          <p:cNvPr id="56" name="Rounded Rectangle 55"/>
          <p:cNvSpPr/>
          <p:nvPr/>
        </p:nvSpPr>
        <p:spPr>
          <a:xfrm>
            <a:off x="5511800" y="495427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Options Available</a:t>
            </a:r>
            <a:endParaRPr lang="en-US">
              <a:solidFill>
                <a:schemeClr val="accent2">
                  <a:lumMod val="20000"/>
                  <a:lumOff val="80000"/>
                </a:schemeClr>
              </a:solidFill>
              <a:sym typeface="+mn-ea"/>
            </a:endParaRPr>
          </a:p>
        </p:txBody>
      </p:sp>
      <p:sp>
        <p:nvSpPr>
          <p:cNvPr id="13" name="Rounded Rectangle 12"/>
          <p:cNvSpPr/>
          <p:nvPr/>
        </p:nvSpPr>
        <p:spPr>
          <a:xfrm>
            <a:off x="5511800" y="5495925"/>
            <a:ext cx="2194560" cy="122555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Patterns</a:t>
            </a:r>
            <a:endParaRPr lang="en-US">
              <a:solidFill>
                <a:schemeClr val="accent2">
                  <a:lumMod val="20000"/>
                  <a:lumOff val="80000"/>
                </a:schemeClr>
              </a:solidFill>
              <a:sym typeface="+mn-ea"/>
            </a:endParaRPr>
          </a:p>
        </p:txBody>
      </p:sp>
      <p:sp>
        <p:nvSpPr>
          <p:cNvPr id="45" name="Text Box 44"/>
          <p:cNvSpPr txBox="1"/>
          <p:nvPr/>
        </p:nvSpPr>
        <p:spPr>
          <a:xfrm>
            <a:off x="8242935" y="6537325"/>
            <a:ext cx="1715135" cy="60261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Shows list of patterns that suggest/require use of this type of notion.</a:t>
            </a:r>
            <a:endParaRPr lang="en-US" sz="1200">
              <a:solidFill>
                <a:schemeClr val="accent1">
                  <a:lumMod val="50000"/>
                </a:schemeClr>
              </a:solidFill>
              <a:sym typeface="+mn-ea"/>
            </a:endParaRPr>
          </a:p>
        </p:txBody>
      </p:sp>
      <p:cxnSp>
        <p:nvCxnSpPr>
          <p:cNvPr id="15" name="Straight Connector 14"/>
          <p:cNvCxnSpPr>
            <a:stCxn id="13" idx="3"/>
            <a:endCxn id="45" idx="0"/>
          </p:cNvCxnSpPr>
          <p:nvPr/>
        </p:nvCxnSpPr>
        <p:spPr>
          <a:xfrm>
            <a:off x="7706360" y="6108700"/>
            <a:ext cx="1394460" cy="4286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58" name="Text Box 57"/>
          <p:cNvSpPr txBox="1"/>
          <p:nvPr/>
        </p:nvSpPr>
        <p:spPr>
          <a:xfrm>
            <a:off x="8242935" y="2539365"/>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showing list of current projects using this notion. If a project is selected, opens project page.</a:t>
            </a:r>
            <a:endParaRPr lang="en-US" sz="1200">
              <a:solidFill>
                <a:schemeClr val="accent1">
                  <a:lumMod val="50000"/>
                </a:schemeClr>
              </a:solidFill>
              <a:sym typeface="+mn-ea"/>
            </a:endParaRPr>
          </a:p>
        </p:txBody>
      </p:sp>
      <p:cxnSp>
        <p:nvCxnSpPr>
          <p:cNvPr id="59" name="Straight Connector 58"/>
          <p:cNvCxnSpPr>
            <a:stCxn id="10" idx="3"/>
            <a:endCxn id="58" idx="1"/>
          </p:cNvCxnSpPr>
          <p:nvPr/>
        </p:nvCxnSpPr>
        <p:spPr>
          <a:xfrm flipV="1">
            <a:off x="7706360" y="2974975"/>
            <a:ext cx="536575" cy="114744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8242935" y="3686810"/>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showing list of completed projects using this notion. If a project is selected, opens archived project page.</a:t>
            </a:r>
            <a:endParaRPr lang="en-US" sz="1200">
              <a:solidFill>
                <a:schemeClr val="accent1">
                  <a:lumMod val="50000"/>
                </a:schemeClr>
              </a:solidFill>
              <a:sym typeface="+mn-ea"/>
            </a:endParaRPr>
          </a:p>
        </p:txBody>
      </p:sp>
      <p:cxnSp>
        <p:nvCxnSpPr>
          <p:cNvPr id="17" name="Straight Connector 16"/>
          <p:cNvCxnSpPr>
            <a:stCxn id="11" idx="3"/>
            <a:endCxn id="16" idx="1"/>
          </p:cNvCxnSpPr>
          <p:nvPr/>
        </p:nvCxnSpPr>
        <p:spPr>
          <a:xfrm flipV="1">
            <a:off x="7706360" y="4122420"/>
            <a:ext cx="536575" cy="5416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9" name="Text Box 18"/>
          <p:cNvSpPr txBox="1"/>
          <p:nvPr/>
        </p:nvSpPr>
        <p:spPr>
          <a:xfrm>
            <a:off x="8242935" y="4961255"/>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there are multiple options of this notion that were added together as a bulk listing, displays list of available options.</a:t>
            </a:r>
            <a:endParaRPr lang="en-US" sz="1200">
              <a:solidFill>
                <a:schemeClr val="accent1">
                  <a:lumMod val="50000"/>
                </a:schemeClr>
              </a:solidFill>
              <a:sym typeface="+mn-ea"/>
            </a:endParaRPr>
          </a:p>
        </p:txBody>
      </p:sp>
      <p:cxnSp>
        <p:nvCxnSpPr>
          <p:cNvPr id="20" name="Straight Connector 19"/>
          <p:cNvCxnSpPr>
            <a:stCxn id="56" idx="3"/>
            <a:endCxn id="19" idx="1"/>
          </p:cNvCxnSpPr>
          <p:nvPr/>
        </p:nvCxnSpPr>
        <p:spPr>
          <a:xfrm>
            <a:off x="7706360" y="5205730"/>
            <a:ext cx="536575" cy="1911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View Notion Page</a:t>
            </a:r>
            <a:endParaRPr lang="en-US">
              <a:solidFill>
                <a:schemeClr val="accent1">
                  <a:lumMod val="50000"/>
                </a:schemeClr>
              </a:solidFill>
              <a:sym typeface="+mn-ea"/>
            </a:endParaRPr>
          </a:p>
        </p:txBody>
      </p:sp>
      <p:sp>
        <p:nvSpPr>
          <p:cNvPr id="46" name="Text Box 45"/>
          <p:cNvSpPr txBox="1"/>
          <p:nvPr/>
        </p:nvSpPr>
        <p:spPr>
          <a:xfrm>
            <a:off x="230505" y="3093085"/>
            <a:ext cx="2233295" cy="24434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When adding a new tool to inventory, if the new tool matches the color name and brand type of an already existing tool, it should be added to the inventory of the tool, and the purchase location and price should be added to purchase history. If source is already listed in purchase history, price should update to match the new price entered, not be added as a new section. </a:t>
            </a:r>
            <a:endParaRPr lang="en-US" sz="1200">
              <a:solidFill>
                <a:schemeClr val="accent1">
                  <a:lumMod val="50000"/>
                </a:schemeClr>
              </a:solidFill>
              <a:sym typeface="+mn-ea"/>
            </a:endParaRPr>
          </a:p>
        </p:txBody>
      </p:sp>
      <p:cxnSp>
        <p:nvCxnSpPr>
          <p:cNvPr id="47" name="Straight Connector 46"/>
          <p:cNvCxnSpPr>
            <a:stCxn id="46" idx="3"/>
            <a:endCxn id="7" idx="0"/>
          </p:cNvCxnSpPr>
          <p:nvPr/>
        </p:nvCxnSpPr>
        <p:spPr>
          <a:xfrm flipV="1">
            <a:off x="2463800" y="4279900"/>
            <a:ext cx="853440" cy="349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Freeform 4"/>
          <p:cNvSpPr/>
          <p:nvPr/>
        </p:nvSpPr>
        <p:spPr>
          <a:xfrm>
            <a:off x="4295140" y="1021080"/>
            <a:ext cx="3364230" cy="540639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Notion</a:t>
            </a:r>
            <a:endParaRPr lang="en-US">
              <a:solidFill>
                <a:schemeClr val="accent2">
                  <a:lumMod val="40000"/>
                  <a:lumOff val="60000"/>
                </a:schemeClr>
              </a:solidFill>
              <a:sym typeface="+mn-ea"/>
            </a:endParaRPr>
          </a:p>
        </p:txBody>
      </p:sp>
      <p:sp>
        <p:nvSpPr>
          <p:cNvPr id="2" name="Rounded Rectangle 1"/>
          <p:cNvSpPr/>
          <p:nvPr/>
        </p:nvSpPr>
        <p:spPr>
          <a:xfrm>
            <a:off x="4841240" y="134874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Brand</a:t>
            </a:r>
            <a:endParaRPr lang="en-US">
              <a:solidFill>
                <a:schemeClr val="accent2">
                  <a:lumMod val="20000"/>
                  <a:lumOff val="80000"/>
                </a:schemeClr>
              </a:solidFill>
              <a:sym typeface="+mn-ea"/>
            </a:endParaRPr>
          </a:p>
        </p:txBody>
      </p:sp>
      <p:sp>
        <p:nvSpPr>
          <p:cNvPr id="13" name="Rounded Rectangle 12"/>
          <p:cNvSpPr/>
          <p:nvPr/>
        </p:nvSpPr>
        <p:spPr>
          <a:xfrm>
            <a:off x="4841240" y="179768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Type</a:t>
            </a:r>
            <a:endParaRPr lang="en-US">
              <a:solidFill>
                <a:schemeClr val="accent2">
                  <a:lumMod val="20000"/>
                  <a:lumOff val="80000"/>
                </a:schemeClr>
              </a:solidFill>
              <a:sym typeface="+mn-ea"/>
            </a:endParaRPr>
          </a:p>
        </p:txBody>
      </p:sp>
      <p:sp>
        <p:nvSpPr>
          <p:cNvPr id="14" name="Rounded Rectangle 13"/>
          <p:cNvSpPr/>
          <p:nvPr/>
        </p:nvSpPr>
        <p:spPr>
          <a:xfrm>
            <a:off x="4841240" y="224663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Size</a:t>
            </a:r>
            <a:endParaRPr lang="en-US">
              <a:solidFill>
                <a:schemeClr val="accent2">
                  <a:lumMod val="20000"/>
                  <a:lumOff val="80000"/>
                </a:schemeClr>
              </a:solidFill>
              <a:sym typeface="+mn-ea"/>
            </a:endParaRPr>
          </a:p>
        </p:txBody>
      </p:sp>
      <p:sp>
        <p:nvSpPr>
          <p:cNvPr id="15" name="Rounded Rectangle 14"/>
          <p:cNvSpPr/>
          <p:nvPr/>
        </p:nvSpPr>
        <p:spPr>
          <a:xfrm>
            <a:off x="4841240" y="2695575"/>
            <a:ext cx="2272030" cy="129222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Description</a:t>
            </a:r>
            <a:endParaRPr lang="en-US">
              <a:solidFill>
                <a:schemeClr val="accent2">
                  <a:lumMod val="20000"/>
                  <a:lumOff val="80000"/>
                </a:schemeClr>
              </a:solidFill>
              <a:sym typeface="+mn-ea"/>
            </a:endParaRPr>
          </a:p>
        </p:txBody>
      </p:sp>
      <p:sp>
        <p:nvSpPr>
          <p:cNvPr id="17" name="Rounded Rectangle 16"/>
          <p:cNvSpPr/>
          <p:nvPr/>
        </p:nvSpPr>
        <p:spPr>
          <a:xfrm>
            <a:off x="4841240" y="496506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Source</a:t>
            </a:r>
            <a:endParaRPr lang="en-US">
              <a:solidFill>
                <a:schemeClr val="accent2">
                  <a:lumMod val="20000"/>
                  <a:lumOff val="80000"/>
                </a:schemeClr>
              </a:solidFill>
              <a:sym typeface="+mn-ea"/>
            </a:endParaRPr>
          </a:p>
        </p:txBody>
      </p:sp>
      <p:sp>
        <p:nvSpPr>
          <p:cNvPr id="18" name="Rounded Rectangle 17"/>
          <p:cNvSpPr/>
          <p:nvPr/>
        </p:nvSpPr>
        <p:spPr>
          <a:xfrm>
            <a:off x="4841240" y="541401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Price</a:t>
            </a:r>
            <a:endParaRPr lang="en-US">
              <a:solidFill>
                <a:schemeClr val="accent2">
                  <a:lumMod val="20000"/>
                  <a:lumOff val="80000"/>
                </a:schemeClr>
              </a:solidFill>
              <a:sym typeface="+mn-ea"/>
            </a:endParaRPr>
          </a:p>
        </p:txBody>
      </p:sp>
      <p:sp>
        <p:nvSpPr>
          <p:cNvPr id="45" name="Text Box 44"/>
          <p:cNvSpPr txBox="1"/>
          <p:nvPr/>
        </p:nvSpPr>
        <p:spPr>
          <a:xfrm>
            <a:off x="1402080" y="1021080"/>
            <a:ext cx="1715135" cy="161353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boxes with Correlating items and “Add New” options.</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If “Add New” is selected, a typing box should come up, and the entry should be added to the correlating list.</a:t>
            </a:r>
            <a:endParaRPr lang="en-US" sz="1200">
              <a:solidFill>
                <a:schemeClr val="accent1">
                  <a:lumMod val="50000"/>
                </a:schemeClr>
              </a:solidFill>
              <a:sym typeface="+mn-ea"/>
            </a:endParaRPr>
          </a:p>
        </p:txBody>
      </p:sp>
      <p:sp>
        <p:nvSpPr>
          <p:cNvPr id="21" name="Text Box 20"/>
          <p:cNvSpPr txBox="1"/>
          <p:nvPr/>
        </p:nvSpPr>
        <p:spPr>
          <a:xfrm>
            <a:off x="9037320" y="1021080"/>
            <a:ext cx="1715135" cy="108013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 typing box should appear for the entry. These entries should be used only for the Notion entry.</a:t>
            </a:r>
            <a:endParaRPr lang="en-US" sz="1200">
              <a:solidFill>
                <a:schemeClr val="accent1">
                  <a:lumMod val="50000"/>
                </a:schemeClr>
              </a:solidFill>
              <a:sym typeface="+mn-ea"/>
            </a:endParaRPr>
          </a:p>
        </p:txBody>
      </p:sp>
      <p:cxnSp>
        <p:nvCxnSpPr>
          <p:cNvPr id="22" name="Straight Connector 21"/>
          <p:cNvCxnSpPr>
            <a:stCxn id="18" idx="3"/>
            <a:endCxn id="21" idx="1"/>
          </p:cNvCxnSpPr>
          <p:nvPr/>
        </p:nvCxnSpPr>
        <p:spPr>
          <a:xfrm flipV="1">
            <a:off x="7113270" y="1561465"/>
            <a:ext cx="1924050" cy="403733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3" name="Straight Connector 22"/>
          <p:cNvCxnSpPr>
            <a:stCxn id="15" idx="3"/>
            <a:endCxn id="21" idx="1"/>
          </p:cNvCxnSpPr>
          <p:nvPr/>
        </p:nvCxnSpPr>
        <p:spPr>
          <a:xfrm flipV="1">
            <a:off x="7113270" y="1561465"/>
            <a:ext cx="1924050" cy="17805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4" name="Straight Connector 23"/>
          <p:cNvCxnSpPr>
            <a:stCxn id="14" idx="3"/>
            <a:endCxn id="21" idx="1"/>
          </p:cNvCxnSpPr>
          <p:nvPr/>
        </p:nvCxnSpPr>
        <p:spPr>
          <a:xfrm flipV="1">
            <a:off x="7113270" y="1561465"/>
            <a:ext cx="1924050" cy="8699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5" name="Straight Connector 24"/>
          <p:cNvCxnSpPr>
            <a:stCxn id="13" idx="3"/>
            <a:endCxn id="21" idx="1"/>
          </p:cNvCxnSpPr>
          <p:nvPr/>
        </p:nvCxnSpPr>
        <p:spPr>
          <a:xfrm flipV="1">
            <a:off x="7113270" y="1561465"/>
            <a:ext cx="1924050" cy="42100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7" name="Straight Connector 26"/>
          <p:cNvCxnSpPr>
            <a:stCxn id="45" idx="3"/>
            <a:endCxn id="17" idx="1"/>
          </p:cNvCxnSpPr>
          <p:nvPr/>
        </p:nvCxnSpPr>
        <p:spPr>
          <a:xfrm>
            <a:off x="3117215" y="1828165"/>
            <a:ext cx="1724025" cy="33216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8" name="Straight Connector 27"/>
          <p:cNvCxnSpPr>
            <a:stCxn id="45" idx="3"/>
            <a:endCxn id="2" idx="1"/>
          </p:cNvCxnSpPr>
          <p:nvPr/>
        </p:nvCxnSpPr>
        <p:spPr>
          <a:xfrm flipV="1">
            <a:off x="3117215" y="1533525"/>
            <a:ext cx="1724025" cy="2946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Notions</a:t>
            </a:r>
            <a:endParaRPr lang="en-US">
              <a:solidFill>
                <a:schemeClr val="accent1">
                  <a:lumMod val="50000"/>
                </a:schemeClr>
              </a:solidFill>
              <a:sym typeface="+mn-ea"/>
            </a:endParaRPr>
          </a:p>
        </p:txBody>
      </p:sp>
      <p:sp>
        <p:nvSpPr>
          <p:cNvPr id="4" name="Rounded Rectangle 3"/>
          <p:cNvSpPr/>
          <p:nvPr/>
        </p:nvSpPr>
        <p:spPr>
          <a:xfrm>
            <a:off x="4841240" y="6022340"/>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Add</a:t>
            </a:r>
            <a:endParaRPr lang="en-US">
              <a:solidFill>
                <a:schemeClr val="accent2">
                  <a:lumMod val="20000"/>
                  <a:lumOff val="80000"/>
                </a:schemeClr>
              </a:solidFill>
              <a:sym typeface="+mn-ea"/>
            </a:endParaRPr>
          </a:p>
        </p:txBody>
      </p:sp>
      <p:sp>
        <p:nvSpPr>
          <p:cNvPr id="6" name="Text Box 5"/>
          <p:cNvSpPr txBox="1"/>
          <p:nvPr/>
        </p:nvSpPr>
        <p:spPr>
          <a:xfrm>
            <a:off x="2079625" y="5537835"/>
            <a:ext cx="1715135" cy="9696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Saves current notion selections to the project list, and clears selections for adding multiple yarns.</a:t>
            </a:r>
            <a:endParaRPr lang="en-US" sz="1200">
              <a:solidFill>
                <a:schemeClr val="accent1">
                  <a:lumMod val="50000"/>
                </a:schemeClr>
              </a:solidFill>
              <a:sym typeface="+mn-ea"/>
            </a:endParaRPr>
          </a:p>
        </p:txBody>
      </p:sp>
      <p:cxnSp>
        <p:nvCxnSpPr>
          <p:cNvPr id="12" name="Straight Connector 11"/>
          <p:cNvCxnSpPr>
            <a:stCxn id="4" idx="1"/>
            <a:endCxn id="6" idx="3"/>
          </p:cNvCxnSpPr>
          <p:nvPr/>
        </p:nvCxnSpPr>
        <p:spPr>
          <a:xfrm flipH="1" flipV="1">
            <a:off x="3794760" y="6022975"/>
            <a:ext cx="1046480" cy="1841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7" name="Rounded Rectangle 6"/>
          <p:cNvSpPr/>
          <p:nvPr/>
        </p:nvSpPr>
        <p:spPr>
          <a:xfrm>
            <a:off x="6047740" y="6016625"/>
            <a:ext cx="106108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Finish</a:t>
            </a:r>
            <a:endParaRPr lang="en-US">
              <a:solidFill>
                <a:schemeClr val="accent2">
                  <a:lumMod val="20000"/>
                  <a:lumOff val="80000"/>
                </a:schemeClr>
              </a:solidFill>
              <a:sym typeface="+mn-ea"/>
            </a:endParaRPr>
          </a:p>
        </p:txBody>
      </p:sp>
      <p:sp>
        <p:nvSpPr>
          <p:cNvPr id="8" name="Text Box 7"/>
          <p:cNvSpPr txBox="1"/>
          <p:nvPr/>
        </p:nvSpPr>
        <p:spPr>
          <a:xfrm>
            <a:off x="8571865" y="5334635"/>
            <a:ext cx="1715135" cy="79565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Returns to Notion List or Pattern/Project Supply List page, depending on current action. </a:t>
            </a:r>
            <a:endParaRPr lang="en-US" sz="1200">
              <a:solidFill>
                <a:schemeClr val="accent1">
                  <a:lumMod val="50000"/>
                </a:schemeClr>
              </a:solidFill>
              <a:sym typeface="+mn-ea"/>
            </a:endParaRPr>
          </a:p>
        </p:txBody>
      </p:sp>
      <p:cxnSp>
        <p:nvCxnSpPr>
          <p:cNvPr id="9" name="Straight Connector 8"/>
          <p:cNvCxnSpPr>
            <a:stCxn id="7" idx="3"/>
            <a:endCxn id="8" idx="1"/>
          </p:cNvCxnSpPr>
          <p:nvPr/>
        </p:nvCxnSpPr>
        <p:spPr>
          <a:xfrm flipV="1">
            <a:off x="7108825" y="5732780"/>
            <a:ext cx="1463040" cy="46863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 name="Rounded Rectangle 2"/>
          <p:cNvSpPr/>
          <p:nvPr/>
        </p:nvSpPr>
        <p:spPr>
          <a:xfrm>
            <a:off x="4841240" y="406717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Size/s</a:t>
            </a:r>
            <a:endParaRPr lang="en-US">
              <a:solidFill>
                <a:schemeClr val="accent2">
                  <a:lumMod val="20000"/>
                  <a:lumOff val="80000"/>
                </a:schemeClr>
              </a:solidFill>
              <a:sym typeface="+mn-ea"/>
            </a:endParaRPr>
          </a:p>
        </p:txBody>
      </p:sp>
      <p:sp>
        <p:nvSpPr>
          <p:cNvPr id="10" name="Rounded Rectangle 9"/>
          <p:cNvSpPr/>
          <p:nvPr/>
        </p:nvSpPr>
        <p:spPr>
          <a:xfrm>
            <a:off x="4841240" y="451612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Color/s</a:t>
            </a:r>
            <a:endParaRPr lang="en-US">
              <a:solidFill>
                <a:schemeClr val="accent2">
                  <a:lumMod val="20000"/>
                  <a:lumOff val="80000"/>
                </a:schemeClr>
              </a:solidFill>
              <a:sym typeface="+mn-ea"/>
            </a:endParaRPr>
          </a:p>
        </p:txBody>
      </p:sp>
      <p:sp>
        <p:nvSpPr>
          <p:cNvPr id="11" name="Text Box 10"/>
          <p:cNvSpPr txBox="1"/>
          <p:nvPr/>
        </p:nvSpPr>
        <p:spPr>
          <a:xfrm>
            <a:off x="822960" y="2827655"/>
            <a:ext cx="2236470" cy="251714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 typing box should appear for the entry. If multiple sizes or colors are added, an option should pop up when the add or finish button is pressed that offers to turn each size/color into it’s own listing. If both size and color boxes are given multiple entries, and user elects to have multiple listings created, an option should be given to associate each size to a specific color.</a:t>
            </a:r>
            <a:endParaRPr lang="en-US" sz="1200">
              <a:solidFill>
                <a:schemeClr val="accent1">
                  <a:lumMod val="50000"/>
                </a:schemeClr>
              </a:solidFill>
              <a:sym typeface="+mn-ea"/>
            </a:endParaRPr>
          </a:p>
        </p:txBody>
      </p:sp>
      <p:cxnSp>
        <p:nvCxnSpPr>
          <p:cNvPr id="16" name="Straight Connector 15"/>
          <p:cNvCxnSpPr>
            <a:stCxn id="10" idx="1"/>
            <a:endCxn id="11" idx="3"/>
          </p:cNvCxnSpPr>
          <p:nvPr/>
        </p:nvCxnSpPr>
        <p:spPr>
          <a:xfrm flipH="1" flipV="1">
            <a:off x="3059430" y="4086225"/>
            <a:ext cx="1781810" cy="61468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9" name="Straight Connector 18"/>
          <p:cNvCxnSpPr>
            <a:stCxn id="3" idx="1"/>
            <a:endCxn id="11" idx="3"/>
          </p:cNvCxnSpPr>
          <p:nvPr/>
        </p:nvCxnSpPr>
        <p:spPr>
          <a:xfrm flipH="1" flipV="1">
            <a:off x="3059430" y="4086225"/>
            <a:ext cx="1781810" cy="1657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49" name="Text Box 48"/>
          <p:cNvSpPr txBox="1"/>
          <p:nvPr/>
        </p:nvSpPr>
        <p:spPr>
          <a:xfrm>
            <a:off x="8335645" y="3389630"/>
            <a:ext cx="2416810" cy="139382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This box should have an option to mark a sale price. If the price is marked as a sale price, and this is added to the inventory of an already existing item, it should NOT update the price of an existing source for the listing.</a:t>
            </a:r>
            <a:endParaRPr lang="en-US" sz="1200">
              <a:solidFill>
                <a:schemeClr val="accent1">
                  <a:lumMod val="50000"/>
                </a:schemeClr>
              </a:solidFill>
              <a:sym typeface="+mn-ea"/>
            </a:endParaRPr>
          </a:p>
        </p:txBody>
      </p:sp>
      <p:cxnSp>
        <p:nvCxnSpPr>
          <p:cNvPr id="50" name="Straight Connector 49"/>
          <p:cNvCxnSpPr>
            <a:stCxn id="18" idx="3"/>
            <a:endCxn id="49" idx="1"/>
          </p:cNvCxnSpPr>
          <p:nvPr/>
        </p:nvCxnSpPr>
        <p:spPr>
          <a:xfrm flipV="1">
            <a:off x="7113270" y="4086860"/>
            <a:ext cx="1222375" cy="15119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 name="Text Box 42"/>
          <p:cNvSpPr txBox="1"/>
          <p:nvPr/>
        </p:nvSpPr>
        <p:spPr>
          <a:xfrm>
            <a:off x="3825240" y="6047740"/>
            <a:ext cx="2951480" cy="9594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downs. Offers lists of the sizes/colors that were input on add page. Shows check boxes that are ticked when a color is added to the each size.</a:t>
            </a:r>
            <a:endParaRPr lang="en-US" sz="1200">
              <a:solidFill>
                <a:schemeClr val="accent1">
                  <a:lumMod val="50000"/>
                </a:schemeClr>
              </a:solidFill>
              <a:sym typeface="+mn-ea"/>
            </a:endParaRPr>
          </a:p>
        </p:txBody>
      </p:sp>
      <p:sp>
        <p:nvSpPr>
          <p:cNvPr id="20" name="Freeform 19"/>
          <p:cNvSpPr/>
          <p:nvPr/>
        </p:nvSpPr>
        <p:spPr>
          <a:xfrm>
            <a:off x="3803650" y="1371600"/>
            <a:ext cx="3191510" cy="162496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Add Size/Color</a:t>
            </a:r>
            <a:endParaRPr lang="en-US">
              <a:solidFill>
                <a:schemeClr val="accent2">
                  <a:lumMod val="40000"/>
                  <a:lumOff val="60000"/>
                </a:schemeClr>
              </a:solidFill>
              <a:sym typeface="+mn-ea"/>
            </a:endParaRPr>
          </a:p>
        </p:txBody>
      </p:sp>
      <p:sp>
        <p:nvSpPr>
          <p:cNvPr id="29" name="Rounded Rectangle 28"/>
          <p:cNvSpPr/>
          <p:nvPr/>
        </p:nvSpPr>
        <p:spPr>
          <a:xfrm>
            <a:off x="3884930" y="1687830"/>
            <a:ext cx="3044825" cy="46863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New Size/Color</a:t>
            </a:r>
            <a:endParaRPr lang="en-US">
              <a:solidFill>
                <a:schemeClr val="accent2">
                  <a:lumMod val="20000"/>
                  <a:lumOff val="80000"/>
                </a:schemeClr>
              </a:solidFill>
              <a:sym typeface="+mn-ea"/>
            </a:endParaRPr>
          </a:p>
        </p:txBody>
      </p:sp>
      <p:sp>
        <p:nvSpPr>
          <p:cNvPr id="31" name="Rounded Rectangle 30"/>
          <p:cNvSpPr/>
          <p:nvPr/>
        </p:nvSpPr>
        <p:spPr>
          <a:xfrm>
            <a:off x="4308475" y="2321560"/>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Add</a:t>
            </a:r>
            <a:endParaRPr lang="en-US">
              <a:solidFill>
                <a:schemeClr val="accent2">
                  <a:lumMod val="20000"/>
                  <a:lumOff val="80000"/>
                </a:schemeClr>
              </a:solidFill>
              <a:sym typeface="+mn-ea"/>
            </a:endParaRPr>
          </a:p>
        </p:txBody>
      </p:sp>
      <p:sp>
        <p:nvSpPr>
          <p:cNvPr id="32" name="Rounded Rectangle 31"/>
          <p:cNvSpPr/>
          <p:nvPr/>
        </p:nvSpPr>
        <p:spPr>
          <a:xfrm>
            <a:off x="5514975" y="2315845"/>
            <a:ext cx="106108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Finish</a:t>
            </a:r>
            <a:endParaRPr lang="en-US">
              <a:solidFill>
                <a:schemeClr val="accent2">
                  <a:lumMod val="20000"/>
                  <a:lumOff val="80000"/>
                </a:schemeClr>
              </a:solidFill>
              <a:sym typeface="+mn-ea"/>
            </a:endParaRPr>
          </a:p>
        </p:txBody>
      </p:sp>
      <p:sp>
        <p:nvSpPr>
          <p:cNvPr id="33" name="Freeform 32"/>
          <p:cNvSpPr/>
          <p:nvPr/>
        </p:nvSpPr>
        <p:spPr>
          <a:xfrm>
            <a:off x="3790950" y="3142615"/>
            <a:ext cx="3191510" cy="120078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Add Sizes/Colors as individual listings?</a:t>
            </a:r>
            <a:endParaRPr lang="en-US">
              <a:solidFill>
                <a:schemeClr val="accent2">
                  <a:lumMod val="40000"/>
                  <a:lumOff val="60000"/>
                </a:schemeClr>
              </a:solidFill>
              <a:sym typeface="+mn-ea"/>
            </a:endParaRPr>
          </a:p>
        </p:txBody>
      </p:sp>
      <p:sp>
        <p:nvSpPr>
          <p:cNvPr id="37" name="Rounded Rectangle 36"/>
          <p:cNvSpPr/>
          <p:nvPr/>
        </p:nvSpPr>
        <p:spPr>
          <a:xfrm>
            <a:off x="4168775" y="3776345"/>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Yes</a:t>
            </a:r>
            <a:endParaRPr lang="en-US">
              <a:solidFill>
                <a:schemeClr val="accent2">
                  <a:lumMod val="20000"/>
                  <a:lumOff val="80000"/>
                </a:schemeClr>
              </a:solidFill>
              <a:sym typeface="+mn-ea"/>
            </a:endParaRPr>
          </a:p>
        </p:txBody>
      </p:sp>
      <p:sp>
        <p:nvSpPr>
          <p:cNvPr id="38" name="Rounded Rectangle 37"/>
          <p:cNvSpPr/>
          <p:nvPr/>
        </p:nvSpPr>
        <p:spPr>
          <a:xfrm>
            <a:off x="5414010" y="3776345"/>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No</a:t>
            </a:r>
            <a:endParaRPr lang="en-US">
              <a:solidFill>
                <a:schemeClr val="accent2">
                  <a:lumMod val="20000"/>
                  <a:lumOff val="80000"/>
                </a:schemeClr>
              </a:solidFill>
              <a:sym typeface="+mn-ea"/>
            </a:endParaRPr>
          </a:p>
        </p:txBody>
      </p:sp>
      <p:cxnSp>
        <p:nvCxnSpPr>
          <p:cNvPr id="39" name="Straight Connector 38"/>
          <p:cNvCxnSpPr>
            <a:stCxn id="20" idx="5"/>
            <a:endCxn id="33" idx="2"/>
          </p:cNvCxnSpPr>
          <p:nvPr/>
        </p:nvCxnSpPr>
        <p:spPr>
          <a:xfrm>
            <a:off x="6776085" y="2996565"/>
            <a:ext cx="635" cy="1460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40" name="Freeform 39"/>
          <p:cNvSpPr/>
          <p:nvPr/>
        </p:nvSpPr>
        <p:spPr>
          <a:xfrm>
            <a:off x="3790950" y="4496435"/>
            <a:ext cx="3191510" cy="120078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Please specify colors for individual listings.</a:t>
            </a:r>
            <a:endParaRPr lang="en-US">
              <a:solidFill>
                <a:schemeClr val="accent2">
                  <a:lumMod val="40000"/>
                  <a:lumOff val="60000"/>
                </a:schemeClr>
              </a:solidFill>
              <a:sym typeface="+mn-ea"/>
            </a:endParaRPr>
          </a:p>
        </p:txBody>
      </p:sp>
      <p:sp>
        <p:nvSpPr>
          <p:cNvPr id="41" name="Rounded Rectangle 40"/>
          <p:cNvSpPr/>
          <p:nvPr/>
        </p:nvSpPr>
        <p:spPr>
          <a:xfrm>
            <a:off x="3884930" y="5224780"/>
            <a:ext cx="140208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Sizes</a:t>
            </a:r>
            <a:endParaRPr lang="en-US">
              <a:solidFill>
                <a:schemeClr val="accent2">
                  <a:lumMod val="20000"/>
                  <a:lumOff val="80000"/>
                </a:schemeClr>
              </a:solidFill>
              <a:sym typeface="+mn-ea"/>
            </a:endParaRPr>
          </a:p>
        </p:txBody>
      </p:sp>
      <p:sp>
        <p:nvSpPr>
          <p:cNvPr id="42" name="Rounded Rectangle 41"/>
          <p:cNvSpPr/>
          <p:nvPr/>
        </p:nvSpPr>
        <p:spPr>
          <a:xfrm>
            <a:off x="5414010" y="5224780"/>
            <a:ext cx="142176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Colors</a:t>
            </a:r>
            <a:endParaRPr lang="en-US">
              <a:solidFill>
                <a:schemeClr val="accent2">
                  <a:lumMod val="20000"/>
                  <a:lumOff val="80000"/>
                </a:schemeClr>
              </a:solidFill>
              <a:sym typeface="+mn-ea"/>
            </a:endParaRPr>
          </a:p>
        </p:txBody>
      </p:sp>
      <p:cxnSp>
        <p:nvCxnSpPr>
          <p:cNvPr id="44" name="Straight Connector 43"/>
          <p:cNvCxnSpPr>
            <a:stCxn id="33" idx="5"/>
            <a:endCxn id="40" idx="2"/>
          </p:cNvCxnSpPr>
          <p:nvPr/>
        </p:nvCxnSpPr>
        <p:spPr>
          <a:xfrm>
            <a:off x="6763385" y="4343400"/>
            <a:ext cx="13335" cy="1530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0" name="Title 79"/>
          <p:cNvSpPr>
            <a:spLocks noGrp="1"/>
          </p:cNvSpPr>
          <p:nvPr/>
        </p:nvSpPr>
        <p:spPr>
          <a:xfrm>
            <a:off x="205105" y="38100"/>
            <a:ext cx="10390505"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Notions as Separate Listings</a:t>
            </a:r>
            <a:endParaRPr lang="en-US">
              <a:solidFill>
                <a:schemeClr val="accent1">
                  <a:lumMod val="50000"/>
                </a:schemeClr>
              </a:solidFill>
              <a:sym typeface="+mn-ea"/>
            </a:endParaRPr>
          </a:p>
        </p:txBody>
      </p:sp>
      <p:cxnSp>
        <p:nvCxnSpPr>
          <p:cNvPr id="2" name="Straight Connector 1"/>
          <p:cNvCxnSpPr>
            <a:stCxn id="41" idx="2"/>
            <a:endCxn id="43" idx="0"/>
          </p:cNvCxnSpPr>
          <p:nvPr/>
        </p:nvCxnSpPr>
        <p:spPr>
          <a:xfrm>
            <a:off x="4585970" y="5594350"/>
            <a:ext cx="715010" cy="45339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3" name="Straight Connector 2"/>
          <p:cNvCxnSpPr>
            <a:stCxn id="42" idx="2"/>
          </p:cNvCxnSpPr>
          <p:nvPr/>
        </p:nvCxnSpPr>
        <p:spPr>
          <a:xfrm flipH="1">
            <a:off x="5292090" y="5594350"/>
            <a:ext cx="833120" cy="4445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Group 3"/>
          <p:cNvGrpSpPr/>
          <p:nvPr/>
        </p:nvGrpSpPr>
        <p:grpSpPr>
          <a:xfrm>
            <a:off x="3251835" y="2109470"/>
            <a:ext cx="4572000" cy="4506595"/>
            <a:chOff x="5121" y="4062"/>
            <a:chExt cx="7200" cy="7097"/>
          </a:xfrm>
        </p:grpSpPr>
        <p:sp>
          <p:nvSpPr>
            <p:cNvPr id="5" name="Rounded Rectangle 4"/>
            <p:cNvSpPr/>
            <p:nvPr/>
          </p:nvSpPr>
          <p:spPr>
            <a:xfrm>
              <a:off x="5121" y="4062"/>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a:t>
              </a:r>
              <a:endParaRPr lang="en-US">
                <a:solidFill>
                  <a:schemeClr val="accent2">
                    <a:lumMod val="40000"/>
                    <a:lumOff val="60000"/>
                  </a:schemeClr>
                </a:solidFill>
                <a:sym typeface="+mn-ea"/>
              </a:endParaRPr>
            </a:p>
          </p:txBody>
        </p:sp>
        <p:sp>
          <p:nvSpPr>
            <p:cNvPr id="6" name="Rounded Rectangle 5"/>
            <p:cNvSpPr/>
            <p:nvPr/>
          </p:nvSpPr>
          <p:spPr>
            <a:xfrm>
              <a:off x="5223" y="4166"/>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8" name="Rounded Rectangle 27"/>
            <p:cNvSpPr/>
            <p:nvPr/>
          </p:nvSpPr>
          <p:spPr>
            <a:xfrm>
              <a:off x="5121" y="5251"/>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a:t>
              </a:r>
              <a:endParaRPr lang="en-US">
                <a:solidFill>
                  <a:schemeClr val="accent2">
                    <a:lumMod val="40000"/>
                    <a:lumOff val="60000"/>
                  </a:schemeClr>
                </a:solidFill>
                <a:sym typeface="+mn-ea"/>
              </a:endParaRPr>
            </a:p>
          </p:txBody>
        </p:sp>
        <p:sp>
          <p:nvSpPr>
            <p:cNvPr id="29" name="Rounded Rectangle 28"/>
            <p:cNvSpPr/>
            <p:nvPr/>
          </p:nvSpPr>
          <p:spPr>
            <a:xfrm>
              <a:off x="5223" y="5355"/>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1" name="Rounded Rectangle 30"/>
            <p:cNvSpPr/>
            <p:nvPr/>
          </p:nvSpPr>
          <p:spPr>
            <a:xfrm>
              <a:off x="5121" y="6440"/>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a:t>
              </a:r>
              <a:endParaRPr lang="en-US">
                <a:solidFill>
                  <a:schemeClr val="accent2">
                    <a:lumMod val="40000"/>
                    <a:lumOff val="60000"/>
                  </a:schemeClr>
                </a:solidFill>
                <a:sym typeface="+mn-ea"/>
              </a:endParaRPr>
            </a:p>
          </p:txBody>
        </p:sp>
        <p:sp>
          <p:nvSpPr>
            <p:cNvPr id="32" name="Rounded Rectangle 31"/>
            <p:cNvSpPr/>
            <p:nvPr/>
          </p:nvSpPr>
          <p:spPr>
            <a:xfrm>
              <a:off x="5223" y="6544"/>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7" name="Rounded Rectangle 36"/>
            <p:cNvSpPr/>
            <p:nvPr/>
          </p:nvSpPr>
          <p:spPr>
            <a:xfrm>
              <a:off x="5121" y="7629"/>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a:t>
              </a:r>
              <a:endParaRPr lang="en-US">
                <a:solidFill>
                  <a:schemeClr val="accent2">
                    <a:lumMod val="40000"/>
                    <a:lumOff val="60000"/>
                  </a:schemeClr>
                </a:solidFill>
                <a:sym typeface="+mn-ea"/>
              </a:endParaRPr>
            </a:p>
          </p:txBody>
        </p:sp>
        <p:sp>
          <p:nvSpPr>
            <p:cNvPr id="38" name="Rounded Rectangle 37"/>
            <p:cNvSpPr/>
            <p:nvPr/>
          </p:nvSpPr>
          <p:spPr>
            <a:xfrm>
              <a:off x="5223" y="7733"/>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0" name="Rounded Rectangle 39"/>
            <p:cNvSpPr/>
            <p:nvPr/>
          </p:nvSpPr>
          <p:spPr>
            <a:xfrm>
              <a:off x="5121" y="8818"/>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a:t>
              </a:r>
              <a:endParaRPr lang="en-US">
                <a:solidFill>
                  <a:schemeClr val="accent2">
                    <a:lumMod val="40000"/>
                    <a:lumOff val="60000"/>
                  </a:schemeClr>
                </a:solidFill>
                <a:sym typeface="+mn-ea"/>
              </a:endParaRPr>
            </a:p>
          </p:txBody>
        </p:sp>
        <p:sp>
          <p:nvSpPr>
            <p:cNvPr id="41" name="Rounded Rectangle 40"/>
            <p:cNvSpPr/>
            <p:nvPr/>
          </p:nvSpPr>
          <p:spPr>
            <a:xfrm>
              <a:off x="5223" y="8922"/>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3" name="Rounded Rectangle 42"/>
            <p:cNvSpPr/>
            <p:nvPr/>
          </p:nvSpPr>
          <p:spPr>
            <a:xfrm>
              <a:off x="5121" y="10007"/>
              <a:ext cx="7200" cy="115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Type/Brand</a:t>
              </a:r>
              <a:endParaRPr lang="en-US">
                <a:solidFill>
                  <a:schemeClr val="accent2">
                    <a:lumMod val="40000"/>
                    <a:lumOff val="60000"/>
                  </a:schemeClr>
                </a:solidFill>
                <a:sym typeface="+mn-ea"/>
              </a:endParaRPr>
            </a:p>
          </p:txBody>
        </p:sp>
        <p:sp>
          <p:nvSpPr>
            <p:cNvPr id="44" name="Rounded Rectangle 43"/>
            <p:cNvSpPr/>
            <p:nvPr/>
          </p:nvSpPr>
          <p:spPr>
            <a:xfrm>
              <a:off x="5223" y="10111"/>
              <a:ext cx="1352" cy="944"/>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grpSp>
      <p:sp>
        <p:nvSpPr>
          <p:cNvPr id="64" name="Rounded Rectangle 63"/>
          <p:cNvSpPr/>
          <p:nvPr/>
        </p:nvSpPr>
        <p:spPr>
          <a:xfrm>
            <a:off x="3251835" y="1433830"/>
            <a:ext cx="1784985"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Filter </a:t>
            </a:r>
            <a:r>
              <a:rPr lang="en-US">
                <a:solidFill>
                  <a:schemeClr val="accent2">
                    <a:lumMod val="40000"/>
                    <a:lumOff val="60000"/>
                  </a:schemeClr>
                </a:solidFill>
                <a:sym typeface="+mn-ea"/>
              </a:rPr>
              <a:t>By</a:t>
            </a:r>
            <a:endParaRPr lang="en-US">
              <a:solidFill>
                <a:schemeClr val="accent2">
                  <a:lumMod val="40000"/>
                  <a:lumOff val="60000"/>
                </a:schemeClr>
              </a:solidFill>
              <a:sym typeface="+mn-ea"/>
            </a:endParaRPr>
          </a:p>
        </p:txBody>
      </p:sp>
      <p:sp>
        <p:nvSpPr>
          <p:cNvPr id="66" name="Rounded Rectangle 65"/>
          <p:cNvSpPr/>
          <p:nvPr/>
        </p:nvSpPr>
        <p:spPr>
          <a:xfrm>
            <a:off x="6726555" y="1433830"/>
            <a:ext cx="109728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New</a:t>
            </a:r>
            <a:endParaRPr lang="en-US">
              <a:solidFill>
                <a:schemeClr val="accent2">
                  <a:lumMod val="40000"/>
                  <a:lumOff val="60000"/>
                </a:schemeClr>
              </a:solidFill>
              <a:sym typeface="+mn-ea"/>
            </a:endParaRPr>
          </a:p>
        </p:txBody>
      </p:sp>
      <p:sp>
        <p:nvSpPr>
          <p:cNvPr id="85" name="Rounded Rectangle 84"/>
          <p:cNvSpPr/>
          <p:nvPr/>
        </p:nvSpPr>
        <p:spPr>
          <a:xfrm>
            <a:off x="5062855" y="1433830"/>
            <a:ext cx="163703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Sort By</a:t>
            </a:r>
            <a:endParaRPr lang="en-US">
              <a:solidFill>
                <a:schemeClr val="accent2">
                  <a:lumMod val="40000"/>
                  <a:lumOff val="60000"/>
                </a:schemeClr>
              </a:solidFill>
              <a:sym typeface="+mn-ea"/>
            </a:endParaRPr>
          </a:p>
        </p:txBody>
      </p:sp>
      <p:sp>
        <p:nvSpPr>
          <p:cNvPr id="45" name="Text Box 44"/>
          <p:cNvSpPr txBox="1"/>
          <p:nvPr/>
        </p:nvSpPr>
        <p:spPr>
          <a:xfrm>
            <a:off x="1002665" y="1679575"/>
            <a:ext cx="1715135" cy="42926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Allows filtering by type, brand, size, and color</a:t>
            </a:r>
            <a:endParaRPr lang="en-US" sz="1200">
              <a:solidFill>
                <a:schemeClr val="accent1">
                  <a:lumMod val="50000"/>
                </a:schemeClr>
              </a:solidFill>
              <a:sym typeface="+mn-ea"/>
            </a:endParaRPr>
          </a:p>
        </p:txBody>
      </p:sp>
      <p:cxnSp>
        <p:nvCxnSpPr>
          <p:cNvPr id="42" name="Straight Connector 41"/>
          <p:cNvCxnSpPr>
            <a:stCxn id="64" idx="1"/>
            <a:endCxn id="45" idx="3"/>
          </p:cNvCxnSpPr>
          <p:nvPr/>
        </p:nvCxnSpPr>
        <p:spPr>
          <a:xfrm flipH="1">
            <a:off x="2717800" y="1753870"/>
            <a:ext cx="534035" cy="1403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7" name="Straight Connector 26"/>
          <p:cNvCxnSpPr>
            <a:stCxn id="85" idx="2"/>
            <a:endCxn id="33" idx="1"/>
          </p:cNvCxnSpPr>
          <p:nvPr/>
        </p:nvCxnSpPr>
        <p:spPr>
          <a:xfrm flipV="1">
            <a:off x="5881370" y="2017395"/>
            <a:ext cx="2360295" cy="5651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3" name="Text Box 32"/>
          <p:cNvSpPr txBox="1"/>
          <p:nvPr/>
        </p:nvSpPr>
        <p:spPr>
          <a:xfrm>
            <a:off x="8241665" y="1679575"/>
            <a:ext cx="1715135" cy="67500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Sorting options by brand, size, color, type of notion</a:t>
            </a:r>
            <a:endParaRPr lang="en-US" sz="1200">
              <a:solidFill>
                <a:schemeClr val="accent1">
                  <a:lumMod val="50000"/>
                </a:schemeClr>
              </a:solidFill>
              <a:sym typeface="+mn-ea"/>
            </a:endParaRPr>
          </a:p>
        </p:txBody>
      </p: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Notions Inventory Page</a:t>
            </a:r>
            <a:endParaRPr lang="en-US">
              <a:solidFill>
                <a:schemeClr val="accent1">
                  <a:lumMod val="50000"/>
                </a:schemeClr>
              </a:solidFill>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 name="Freeform 63"/>
          <p:cNvSpPr/>
          <p:nvPr/>
        </p:nvSpPr>
        <p:spPr>
          <a:xfrm>
            <a:off x="3228207" y="1438910"/>
            <a:ext cx="4653848" cy="5369560"/>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6" name="Rounded Rectangle 5"/>
          <p:cNvSpPr/>
          <p:nvPr/>
        </p:nvSpPr>
        <p:spPr>
          <a:xfrm>
            <a:off x="3404870" y="1545590"/>
            <a:ext cx="430149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Brand/Type/Size</a:t>
            </a:r>
            <a:endParaRPr lang="en-US">
              <a:solidFill>
                <a:schemeClr val="accent2">
                  <a:lumMod val="20000"/>
                  <a:lumOff val="80000"/>
                </a:schemeClr>
              </a:solidFill>
              <a:sym typeface="+mn-ea"/>
            </a:endParaRPr>
          </a:p>
        </p:txBody>
      </p:sp>
      <p:sp>
        <p:nvSpPr>
          <p:cNvPr id="4" name="Rounded Rectangle 3"/>
          <p:cNvSpPr/>
          <p:nvPr/>
        </p:nvSpPr>
        <p:spPr>
          <a:xfrm>
            <a:off x="5511800" y="2245360"/>
            <a:ext cx="2194560" cy="158559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Description</a:t>
            </a:r>
            <a:endParaRPr lang="en-US">
              <a:solidFill>
                <a:schemeClr val="accent2">
                  <a:lumMod val="20000"/>
                  <a:lumOff val="80000"/>
                </a:schemeClr>
              </a:solidFill>
              <a:sym typeface="+mn-ea"/>
            </a:endParaRPr>
          </a:p>
        </p:txBody>
      </p:sp>
      <p:sp>
        <p:nvSpPr>
          <p:cNvPr id="8" name="Rounded Rectangle 7"/>
          <p:cNvSpPr/>
          <p:nvPr/>
        </p:nvSpPr>
        <p:spPr>
          <a:xfrm>
            <a:off x="3317240" y="2245360"/>
            <a:ext cx="2106930" cy="17373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10" name="Rounded Rectangle 9"/>
          <p:cNvSpPr/>
          <p:nvPr/>
        </p:nvSpPr>
        <p:spPr>
          <a:xfrm>
            <a:off x="5511800" y="387096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Projects Active</a:t>
            </a:r>
            <a:endParaRPr lang="en-US">
              <a:solidFill>
                <a:schemeClr val="accent2">
                  <a:lumMod val="20000"/>
                  <a:lumOff val="80000"/>
                </a:schemeClr>
              </a:solidFill>
              <a:sym typeface="+mn-ea"/>
            </a:endParaRPr>
          </a:p>
        </p:txBody>
      </p:sp>
      <p:sp>
        <p:nvSpPr>
          <p:cNvPr id="11" name="Rounded Rectangle 10"/>
          <p:cNvSpPr/>
          <p:nvPr/>
        </p:nvSpPr>
        <p:spPr>
          <a:xfrm>
            <a:off x="5511800" y="4412615"/>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Project History</a:t>
            </a:r>
            <a:endParaRPr lang="en-US">
              <a:solidFill>
                <a:schemeClr val="accent2">
                  <a:lumMod val="20000"/>
                  <a:lumOff val="80000"/>
                </a:schemeClr>
              </a:solidFill>
              <a:sym typeface="+mn-ea"/>
            </a:endParaRPr>
          </a:p>
        </p:txBody>
      </p:sp>
      <p:sp>
        <p:nvSpPr>
          <p:cNvPr id="7" name="Freeform 6"/>
          <p:cNvSpPr/>
          <p:nvPr/>
        </p:nvSpPr>
        <p:spPr>
          <a:xfrm>
            <a:off x="3317240" y="4083050"/>
            <a:ext cx="2106930" cy="2638425"/>
          </a:xfrm>
          <a:custGeom>
            <a:avLst/>
            <a:gdLst>
              <a:gd name="connsiteX0" fmla="*/ 0 w 3318"/>
              <a:gd name="connsiteY0" fmla="*/ 310 h 4155"/>
              <a:gd name="connsiteX1" fmla="*/ 341 w 3318"/>
              <a:gd name="connsiteY1" fmla="*/ 0 h 4155"/>
              <a:gd name="connsiteX2" fmla="*/ 3008 w 3318"/>
              <a:gd name="connsiteY2" fmla="*/ 0 h 4155"/>
              <a:gd name="connsiteX3" fmla="*/ 3318 w 3318"/>
              <a:gd name="connsiteY3" fmla="*/ 310 h 4155"/>
              <a:gd name="connsiteX4" fmla="*/ 3318 w 3318"/>
              <a:gd name="connsiteY4" fmla="*/ 3814 h 4155"/>
              <a:gd name="connsiteX5" fmla="*/ 3008 w 3318"/>
              <a:gd name="connsiteY5" fmla="*/ 4155 h 4155"/>
              <a:gd name="connsiteX6" fmla="*/ 341 w 3318"/>
              <a:gd name="connsiteY6" fmla="*/ 4155 h 4155"/>
              <a:gd name="connsiteX7" fmla="*/ 31 w 3318"/>
              <a:gd name="connsiteY7" fmla="*/ 3814 h 4155"/>
              <a:gd name="connsiteX8" fmla="*/ 0 w 3318"/>
              <a:gd name="connsiteY8" fmla="*/ 31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 h="4155">
                <a:moveTo>
                  <a:pt x="0" y="310"/>
                </a:moveTo>
                <a:cubicBezTo>
                  <a:pt x="0" y="8"/>
                  <a:pt x="39" y="0"/>
                  <a:pt x="341" y="0"/>
                </a:cubicBezTo>
                <a:lnTo>
                  <a:pt x="3008" y="0"/>
                </a:lnTo>
                <a:cubicBezTo>
                  <a:pt x="3310" y="0"/>
                  <a:pt x="3318" y="8"/>
                  <a:pt x="3318" y="310"/>
                </a:cubicBezTo>
                <a:lnTo>
                  <a:pt x="3318" y="3814"/>
                </a:lnTo>
                <a:cubicBezTo>
                  <a:pt x="3318" y="4116"/>
                  <a:pt x="3310" y="4155"/>
                  <a:pt x="3008" y="4155"/>
                </a:cubicBezTo>
                <a:lnTo>
                  <a:pt x="341" y="4155"/>
                </a:lnTo>
                <a:cubicBezTo>
                  <a:pt x="39" y="4155"/>
                  <a:pt x="31" y="4116"/>
                  <a:pt x="31" y="3814"/>
                </a:cubicBezTo>
                <a:lnTo>
                  <a:pt x="0" y="310"/>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Purchase History</a:t>
            </a:r>
            <a:endParaRPr lang="en-US">
              <a:solidFill>
                <a:schemeClr val="accent2">
                  <a:lumMod val="20000"/>
                  <a:lumOff val="80000"/>
                </a:schemeClr>
              </a:solidFill>
              <a:sym typeface="+mn-ea"/>
            </a:endParaRPr>
          </a:p>
        </p:txBody>
      </p:sp>
      <p:grpSp>
        <p:nvGrpSpPr>
          <p:cNvPr id="24" name="Group 23"/>
          <p:cNvGrpSpPr/>
          <p:nvPr/>
        </p:nvGrpSpPr>
        <p:grpSpPr>
          <a:xfrm rot="0">
            <a:off x="3395345" y="4337685"/>
            <a:ext cx="1941195" cy="292735"/>
            <a:chOff x="5347" y="4079"/>
            <a:chExt cx="3057" cy="432"/>
          </a:xfrm>
        </p:grpSpPr>
        <p:sp>
          <p:nvSpPr>
            <p:cNvPr id="14" name="Freeform 13"/>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Source</a:t>
              </a:r>
              <a:endParaRPr lang="en-US" sz="1200">
                <a:solidFill>
                  <a:schemeClr val="accent2">
                    <a:lumMod val="40000"/>
                    <a:lumOff val="60000"/>
                  </a:schemeClr>
                </a:solidFill>
                <a:sym typeface="+mn-ea"/>
              </a:endParaRPr>
            </a:p>
          </p:txBody>
        </p:sp>
        <p:sp>
          <p:nvSpPr>
            <p:cNvPr id="18" name="Freeform 17"/>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a:t>
              </a:r>
              <a:endParaRPr lang="en-US" sz="1200">
                <a:solidFill>
                  <a:schemeClr val="accent2">
                    <a:lumMod val="40000"/>
                    <a:lumOff val="60000"/>
                  </a:schemeClr>
                </a:solidFill>
                <a:sym typeface="+mn-ea"/>
              </a:endParaRPr>
            </a:p>
          </p:txBody>
        </p:sp>
      </p:grpSp>
      <p:grpSp>
        <p:nvGrpSpPr>
          <p:cNvPr id="25" name="Group 24"/>
          <p:cNvGrpSpPr/>
          <p:nvPr/>
        </p:nvGrpSpPr>
        <p:grpSpPr>
          <a:xfrm rot="0">
            <a:off x="3395345" y="4673600"/>
            <a:ext cx="1941195" cy="292735"/>
            <a:chOff x="5347" y="4079"/>
            <a:chExt cx="3057" cy="432"/>
          </a:xfrm>
        </p:grpSpPr>
        <p:sp>
          <p:nvSpPr>
            <p:cNvPr id="26" name="Freeform 25"/>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Michael’s</a:t>
              </a:r>
              <a:endParaRPr lang="en-US" sz="1200">
                <a:solidFill>
                  <a:schemeClr val="accent2">
                    <a:lumMod val="40000"/>
                    <a:lumOff val="60000"/>
                  </a:schemeClr>
                </a:solidFill>
                <a:sym typeface="+mn-ea"/>
              </a:endParaRPr>
            </a:p>
          </p:txBody>
        </p:sp>
        <p:sp>
          <p:nvSpPr>
            <p:cNvPr id="27" name="Freeform 26"/>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200">
                  <a:solidFill>
                    <a:schemeClr val="accent2">
                      <a:lumMod val="40000"/>
                      <a:lumOff val="60000"/>
                    </a:schemeClr>
                  </a:solidFill>
                  <a:sym typeface="+mn-ea"/>
                </a:rPr>
                <a:t>4.99</a:t>
              </a:r>
              <a:endParaRPr lang="en-US" sz="1200">
                <a:solidFill>
                  <a:schemeClr val="accent2">
                    <a:lumMod val="40000"/>
                    <a:lumOff val="60000"/>
                  </a:schemeClr>
                </a:solidFill>
                <a:sym typeface="+mn-ea"/>
              </a:endParaRPr>
            </a:p>
          </p:txBody>
        </p:sp>
      </p:grpSp>
      <p:grpSp>
        <p:nvGrpSpPr>
          <p:cNvPr id="28" name="Group 27"/>
          <p:cNvGrpSpPr/>
          <p:nvPr/>
        </p:nvGrpSpPr>
        <p:grpSpPr>
          <a:xfrm rot="0">
            <a:off x="3395345" y="5009515"/>
            <a:ext cx="1941195" cy="292735"/>
            <a:chOff x="5347" y="4079"/>
            <a:chExt cx="3057" cy="432"/>
          </a:xfrm>
        </p:grpSpPr>
        <p:sp>
          <p:nvSpPr>
            <p:cNvPr id="29" name="Freeform 28"/>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0" name="Freeform 29"/>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1" name="Group 30"/>
          <p:cNvGrpSpPr/>
          <p:nvPr/>
        </p:nvGrpSpPr>
        <p:grpSpPr>
          <a:xfrm rot="0">
            <a:off x="3395345" y="5345430"/>
            <a:ext cx="1941195" cy="292735"/>
            <a:chOff x="5347" y="4079"/>
            <a:chExt cx="3057" cy="432"/>
          </a:xfrm>
        </p:grpSpPr>
        <p:sp>
          <p:nvSpPr>
            <p:cNvPr id="32" name="Freeform 31"/>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3" name="Freeform 32"/>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4" name="Group 33"/>
          <p:cNvGrpSpPr/>
          <p:nvPr/>
        </p:nvGrpSpPr>
        <p:grpSpPr>
          <a:xfrm rot="0">
            <a:off x="3395345" y="5681345"/>
            <a:ext cx="1941195" cy="292735"/>
            <a:chOff x="5347" y="4079"/>
            <a:chExt cx="3057" cy="432"/>
          </a:xfrm>
        </p:grpSpPr>
        <p:sp>
          <p:nvSpPr>
            <p:cNvPr id="35" name="Freeform 34"/>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6" name="Freeform 35"/>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37" name="Group 36"/>
          <p:cNvGrpSpPr/>
          <p:nvPr/>
        </p:nvGrpSpPr>
        <p:grpSpPr>
          <a:xfrm rot="0">
            <a:off x="3395345" y="6017260"/>
            <a:ext cx="1941195" cy="292735"/>
            <a:chOff x="5347" y="4079"/>
            <a:chExt cx="3057" cy="432"/>
          </a:xfrm>
        </p:grpSpPr>
        <p:sp>
          <p:nvSpPr>
            <p:cNvPr id="38" name="Freeform 37"/>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39" name="Freeform 38"/>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grpSp>
        <p:nvGrpSpPr>
          <p:cNvPr id="40" name="Group 39"/>
          <p:cNvGrpSpPr/>
          <p:nvPr/>
        </p:nvGrpSpPr>
        <p:grpSpPr>
          <a:xfrm rot="0">
            <a:off x="3395345" y="6353175"/>
            <a:ext cx="1941195" cy="292735"/>
            <a:chOff x="5347" y="4079"/>
            <a:chExt cx="3057" cy="432"/>
          </a:xfrm>
        </p:grpSpPr>
        <p:sp>
          <p:nvSpPr>
            <p:cNvPr id="41" name="Freeform 40"/>
            <p:cNvSpPr/>
            <p:nvPr/>
          </p:nvSpPr>
          <p:spPr>
            <a:xfrm>
              <a:off x="5347" y="4079"/>
              <a:ext cx="2160"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sp>
          <p:nvSpPr>
            <p:cNvPr id="42" name="Freeform 41"/>
            <p:cNvSpPr/>
            <p:nvPr/>
          </p:nvSpPr>
          <p:spPr>
            <a:xfrm>
              <a:off x="7612" y="4079"/>
              <a:ext cx="792" cy="432"/>
            </a:xfrm>
            <a:custGeom>
              <a:avLst/>
              <a:gdLst>
                <a:gd name="connsiteX0" fmla="*/ 10 w 7328"/>
                <a:gd name="connsiteY0" fmla="*/ 1226 h 8456"/>
                <a:gd name="connsiteX1" fmla="*/ 556 w 7328"/>
                <a:gd name="connsiteY1" fmla="*/ 0 h 8456"/>
                <a:gd name="connsiteX2" fmla="*/ 6745 w 7328"/>
                <a:gd name="connsiteY2" fmla="*/ 0 h 8456"/>
                <a:gd name="connsiteX3" fmla="*/ 7325 w 7328"/>
                <a:gd name="connsiteY3" fmla="*/ 1226 h 8456"/>
                <a:gd name="connsiteX4" fmla="*/ 7325 w 7328"/>
                <a:gd name="connsiteY4" fmla="*/ 7660 h 8456"/>
                <a:gd name="connsiteX5" fmla="*/ 6622 w 7328"/>
                <a:gd name="connsiteY5" fmla="*/ 8456 h 8456"/>
                <a:gd name="connsiteX6" fmla="*/ 739 w 7328"/>
                <a:gd name="connsiteY6" fmla="*/ 8456 h 8456"/>
                <a:gd name="connsiteX7" fmla="*/ 3 w 7328"/>
                <a:gd name="connsiteY7" fmla="*/ 7629 h 8456"/>
                <a:gd name="connsiteX8" fmla="*/ 10 w 7328"/>
                <a:gd name="connsiteY8" fmla="*/ 1226 h 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9" h="8456">
                  <a:moveTo>
                    <a:pt x="10" y="1226"/>
                  </a:moveTo>
                  <a:cubicBezTo>
                    <a:pt x="10" y="553"/>
                    <a:pt x="-117" y="0"/>
                    <a:pt x="556" y="0"/>
                  </a:cubicBezTo>
                  <a:lnTo>
                    <a:pt x="6745" y="0"/>
                  </a:lnTo>
                  <a:cubicBezTo>
                    <a:pt x="7418" y="0"/>
                    <a:pt x="7325" y="553"/>
                    <a:pt x="7325" y="1226"/>
                  </a:cubicBezTo>
                  <a:lnTo>
                    <a:pt x="7325" y="7660"/>
                  </a:lnTo>
                  <a:cubicBezTo>
                    <a:pt x="7325" y="8333"/>
                    <a:pt x="7295" y="8456"/>
                    <a:pt x="6622" y="8456"/>
                  </a:cubicBezTo>
                  <a:lnTo>
                    <a:pt x="739" y="8456"/>
                  </a:lnTo>
                  <a:cubicBezTo>
                    <a:pt x="66" y="8456"/>
                    <a:pt x="3" y="8302"/>
                    <a:pt x="3" y="7629"/>
                  </a:cubicBezTo>
                  <a:lnTo>
                    <a:pt x="10" y="122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200">
                <a:solidFill>
                  <a:schemeClr val="accent2">
                    <a:lumMod val="40000"/>
                    <a:lumOff val="60000"/>
                  </a:schemeClr>
                </a:solidFill>
                <a:sym typeface="+mn-ea"/>
              </a:endParaRPr>
            </a:p>
          </p:txBody>
        </p:sp>
      </p:grpSp>
      <p:sp>
        <p:nvSpPr>
          <p:cNvPr id="56" name="Rounded Rectangle 55"/>
          <p:cNvSpPr/>
          <p:nvPr/>
        </p:nvSpPr>
        <p:spPr>
          <a:xfrm>
            <a:off x="5511800" y="4954270"/>
            <a:ext cx="2194560" cy="50228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Options Available</a:t>
            </a:r>
            <a:endParaRPr lang="en-US">
              <a:solidFill>
                <a:schemeClr val="accent2">
                  <a:lumMod val="20000"/>
                  <a:lumOff val="80000"/>
                </a:schemeClr>
              </a:solidFill>
              <a:sym typeface="+mn-ea"/>
            </a:endParaRPr>
          </a:p>
        </p:txBody>
      </p:sp>
      <p:sp>
        <p:nvSpPr>
          <p:cNvPr id="13" name="Rounded Rectangle 12"/>
          <p:cNvSpPr/>
          <p:nvPr/>
        </p:nvSpPr>
        <p:spPr>
          <a:xfrm>
            <a:off x="5511800" y="5495925"/>
            <a:ext cx="2194560" cy="122555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rIns="91440"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Patterns</a:t>
            </a:r>
            <a:endParaRPr lang="en-US">
              <a:solidFill>
                <a:schemeClr val="accent2">
                  <a:lumMod val="20000"/>
                  <a:lumOff val="80000"/>
                </a:schemeClr>
              </a:solidFill>
              <a:sym typeface="+mn-ea"/>
            </a:endParaRPr>
          </a:p>
        </p:txBody>
      </p:sp>
      <p:sp>
        <p:nvSpPr>
          <p:cNvPr id="45" name="Text Box 44"/>
          <p:cNvSpPr txBox="1"/>
          <p:nvPr/>
        </p:nvSpPr>
        <p:spPr>
          <a:xfrm>
            <a:off x="8242935" y="6537325"/>
            <a:ext cx="1715135" cy="60261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Shows list of patterns that suggest/require use of this type of notion.</a:t>
            </a:r>
            <a:endParaRPr lang="en-US" sz="1200">
              <a:solidFill>
                <a:schemeClr val="accent1">
                  <a:lumMod val="50000"/>
                </a:schemeClr>
              </a:solidFill>
              <a:sym typeface="+mn-ea"/>
            </a:endParaRPr>
          </a:p>
        </p:txBody>
      </p:sp>
      <p:cxnSp>
        <p:nvCxnSpPr>
          <p:cNvPr id="15" name="Straight Connector 14"/>
          <p:cNvCxnSpPr>
            <a:stCxn id="13" idx="3"/>
            <a:endCxn id="45" idx="0"/>
          </p:cNvCxnSpPr>
          <p:nvPr/>
        </p:nvCxnSpPr>
        <p:spPr>
          <a:xfrm>
            <a:off x="7706360" y="6108700"/>
            <a:ext cx="1394460" cy="4286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58" name="Text Box 57"/>
          <p:cNvSpPr txBox="1"/>
          <p:nvPr/>
        </p:nvSpPr>
        <p:spPr>
          <a:xfrm>
            <a:off x="8242935" y="2539365"/>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showing list of current projects using this notion. If a project is selected, opens project page.</a:t>
            </a:r>
            <a:endParaRPr lang="en-US" sz="1200">
              <a:solidFill>
                <a:schemeClr val="accent1">
                  <a:lumMod val="50000"/>
                </a:schemeClr>
              </a:solidFill>
              <a:sym typeface="+mn-ea"/>
            </a:endParaRPr>
          </a:p>
        </p:txBody>
      </p:sp>
      <p:cxnSp>
        <p:nvCxnSpPr>
          <p:cNvPr id="59" name="Straight Connector 58"/>
          <p:cNvCxnSpPr>
            <a:stCxn id="10" idx="3"/>
            <a:endCxn id="58" idx="1"/>
          </p:cNvCxnSpPr>
          <p:nvPr/>
        </p:nvCxnSpPr>
        <p:spPr>
          <a:xfrm flipV="1">
            <a:off x="7706360" y="2974975"/>
            <a:ext cx="536575" cy="114744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8242935" y="3686810"/>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showing list of completed projects using this notion. If a project is selected, opens archived project page.</a:t>
            </a:r>
            <a:endParaRPr lang="en-US" sz="1200">
              <a:solidFill>
                <a:schemeClr val="accent1">
                  <a:lumMod val="50000"/>
                </a:schemeClr>
              </a:solidFill>
              <a:sym typeface="+mn-ea"/>
            </a:endParaRPr>
          </a:p>
        </p:txBody>
      </p:sp>
      <p:cxnSp>
        <p:nvCxnSpPr>
          <p:cNvPr id="17" name="Straight Connector 16"/>
          <p:cNvCxnSpPr>
            <a:stCxn id="11" idx="3"/>
            <a:endCxn id="16" idx="1"/>
          </p:cNvCxnSpPr>
          <p:nvPr/>
        </p:nvCxnSpPr>
        <p:spPr>
          <a:xfrm flipV="1">
            <a:off x="7706360" y="4122420"/>
            <a:ext cx="536575" cy="5416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9" name="Text Box 18"/>
          <p:cNvSpPr txBox="1"/>
          <p:nvPr/>
        </p:nvSpPr>
        <p:spPr>
          <a:xfrm>
            <a:off x="8242935" y="4961255"/>
            <a:ext cx="2176780" cy="8705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there are multiple options of this notion that were added together as a bulk listing, displays list of available options.</a:t>
            </a:r>
            <a:endParaRPr lang="en-US" sz="1200">
              <a:solidFill>
                <a:schemeClr val="accent1">
                  <a:lumMod val="50000"/>
                </a:schemeClr>
              </a:solidFill>
              <a:sym typeface="+mn-ea"/>
            </a:endParaRPr>
          </a:p>
        </p:txBody>
      </p:sp>
      <p:cxnSp>
        <p:nvCxnSpPr>
          <p:cNvPr id="20" name="Straight Connector 19"/>
          <p:cNvCxnSpPr>
            <a:stCxn id="56" idx="3"/>
            <a:endCxn id="19" idx="1"/>
          </p:cNvCxnSpPr>
          <p:nvPr/>
        </p:nvCxnSpPr>
        <p:spPr>
          <a:xfrm>
            <a:off x="7706360" y="5205730"/>
            <a:ext cx="536575" cy="1911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View Notion Page</a:t>
            </a:r>
            <a:endParaRPr lang="en-US">
              <a:solidFill>
                <a:schemeClr val="accent1">
                  <a:lumMod val="50000"/>
                </a:schemeClr>
              </a:solidFill>
              <a:sym typeface="+mn-ea"/>
            </a:endParaRPr>
          </a:p>
        </p:txBody>
      </p:sp>
      <p:sp>
        <p:nvSpPr>
          <p:cNvPr id="46" name="Text Box 45"/>
          <p:cNvSpPr txBox="1"/>
          <p:nvPr/>
        </p:nvSpPr>
        <p:spPr>
          <a:xfrm>
            <a:off x="230505" y="3093085"/>
            <a:ext cx="2233295" cy="24434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When adding a new tool to inventory, if the new tool matches the color name and brand type of an already existing tool, it should be added to the inventory of the tool, and the purchase location and price should be added to purchase history. If source is already listed in purchase history, price should update to match the new price entered, not be added as a new section. </a:t>
            </a:r>
            <a:endParaRPr lang="en-US" sz="1200">
              <a:solidFill>
                <a:schemeClr val="accent1">
                  <a:lumMod val="50000"/>
                </a:schemeClr>
              </a:solidFill>
              <a:sym typeface="+mn-ea"/>
            </a:endParaRPr>
          </a:p>
        </p:txBody>
      </p:sp>
      <p:cxnSp>
        <p:nvCxnSpPr>
          <p:cNvPr id="47" name="Straight Connector 46"/>
          <p:cNvCxnSpPr>
            <a:stCxn id="46" idx="3"/>
            <a:endCxn id="7" idx="0"/>
          </p:cNvCxnSpPr>
          <p:nvPr/>
        </p:nvCxnSpPr>
        <p:spPr>
          <a:xfrm flipV="1">
            <a:off x="2463800" y="4279900"/>
            <a:ext cx="853440" cy="3492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Freeform 4"/>
          <p:cNvSpPr/>
          <p:nvPr/>
        </p:nvSpPr>
        <p:spPr>
          <a:xfrm>
            <a:off x="4295140" y="1021080"/>
            <a:ext cx="3364230" cy="540639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Notion</a:t>
            </a:r>
            <a:endParaRPr lang="en-US">
              <a:solidFill>
                <a:schemeClr val="accent2">
                  <a:lumMod val="40000"/>
                  <a:lumOff val="60000"/>
                </a:schemeClr>
              </a:solidFill>
              <a:sym typeface="+mn-ea"/>
            </a:endParaRPr>
          </a:p>
        </p:txBody>
      </p:sp>
      <p:sp>
        <p:nvSpPr>
          <p:cNvPr id="2" name="Rounded Rectangle 1"/>
          <p:cNvSpPr/>
          <p:nvPr/>
        </p:nvSpPr>
        <p:spPr>
          <a:xfrm>
            <a:off x="4841240" y="134874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Brand</a:t>
            </a:r>
            <a:endParaRPr lang="en-US">
              <a:solidFill>
                <a:schemeClr val="accent2">
                  <a:lumMod val="20000"/>
                  <a:lumOff val="80000"/>
                </a:schemeClr>
              </a:solidFill>
              <a:sym typeface="+mn-ea"/>
            </a:endParaRPr>
          </a:p>
        </p:txBody>
      </p:sp>
      <p:sp>
        <p:nvSpPr>
          <p:cNvPr id="13" name="Rounded Rectangle 12"/>
          <p:cNvSpPr/>
          <p:nvPr/>
        </p:nvSpPr>
        <p:spPr>
          <a:xfrm>
            <a:off x="4841240" y="179768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Type</a:t>
            </a:r>
            <a:endParaRPr lang="en-US">
              <a:solidFill>
                <a:schemeClr val="accent2">
                  <a:lumMod val="20000"/>
                  <a:lumOff val="80000"/>
                </a:schemeClr>
              </a:solidFill>
              <a:sym typeface="+mn-ea"/>
            </a:endParaRPr>
          </a:p>
        </p:txBody>
      </p:sp>
      <p:sp>
        <p:nvSpPr>
          <p:cNvPr id="14" name="Rounded Rectangle 13"/>
          <p:cNvSpPr/>
          <p:nvPr/>
        </p:nvSpPr>
        <p:spPr>
          <a:xfrm>
            <a:off x="4841240" y="224663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Size</a:t>
            </a:r>
            <a:endParaRPr lang="en-US">
              <a:solidFill>
                <a:schemeClr val="accent2">
                  <a:lumMod val="20000"/>
                  <a:lumOff val="80000"/>
                </a:schemeClr>
              </a:solidFill>
              <a:sym typeface="+mn-ea"/>
            </a:endParaRPr>
          </a:p>
        </p:txBody>
      </p:sp>
      <p:sp>
        <p:nvSpPr>
          <p:cNvPr id="15" name="Rounded Rectangle 14"/>
          <p:cNvSpPr/>
          <p:nvPr/>
        </p:nvSpPr>
        <p:spPr>
          <a:xfrm>
            <a:off x="4841240" y="2695575"/>
            <a:ext cx="2272030" cy="129222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Description</a:t>
            </a:r>
            <a:endParaRPr lang="en-US">
              <a:solidFill>
                <a:schemeClr val="accent2">
                  <a:lumMod val="20000"/>
                  <a:lumOff val="80000"/>
                </a:schemeClr>
              </a:solidFill>
              <a:sym typeface="+mn-ea"/>
            </a:endParaRPr>
          </a:p>
        </p:txBody>
      </p:sp>
      <p:sp>
        <p:nvSpPr>
          <p:cNvPr id="17" name="Rounded Rectangle 16"/>
          <p:cNvSpPr/>
          <p:nvPr/>
        </p:nvSpPr>
        <p:spPr>
          <a:xfrm>
            <a:off x="4841240" y="496506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Source</a:t>
            </a:r>
            <a:endParaRPr lang="en-US">
              <a:solidFill>
                <a:schemeClr val="accent2">
                  <a:lumMod val="20000"/>
                  <a:lumOff val="80000"/>
                </a:schemeClr>
              </a:solidFill>
              <a:sym typeface="+mn-ea"/>
            </a:endParaRPr>
          </a:p>
        </p:txBody>
      </p:sp>
      <p:sp>
        <p:nvSpPr>
          <p:cNvPr id="18" name="Rounded Rectangle 17"/>
          <p:cNvSpPr/>
          <p:nvPr/>
        </p:nvSpPr>
        <p:spPr>
          <a:xfrm>
            <a:off x="4841240" y="541401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Price</a:t>
            </a:r>
            <a:endParaRPr lang="en-US">
              <a:solidFill>
                <a:schemeClr val="accent2">
                  <a:lumMod val="20000"/>
                  <a:lumOff val="80000"/>
                </a:schemeClr>
              </a:solidFill>
              <a:sym typeface="+mn-ea"/>
            </a:endParaRPr>
          </a:p>
        </p:txBody>
      </p:sp>
      <p:sp>
        <p:nvSpPr>
          <p:cNvPr id="45" name="Text Box 44"/>
          <p:cNvSpPr txBox="1"/>
          <p:nvPr/>
        </p:nvSpPr>
        <p:spPr>
          <a:xfrm>
            <a:off x="1402080" y="1021080"/>
            <a:ext cx="1715135" cy="161353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boxes with Correlating items and “Add New” options.</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If “Add New” is selected, a typing box should come up, and the entry should be added to the correlating list.</a:t>
            </a:r>
            <a:endParaRPr lang="en-US" sz="1200">
              <a:solidFill>
                <a:schemeClr val="accent1">
                  <a:lumMod val="50000"/>
                </a:schemeClr>
              </a:solidFill>
              <a:sym typeface="+mn-ea"/>
            </a:endParaRPr>
          </a:p>
        </p:txBody>
      </p:sp>
      <p:sp>
        <p:nvSpPr>
          <p:cNvPr id="21" name="Text Box 20"/>
          <p:cNvSpPr txBox="1"/>
          <p:nvPr/>
        </p:nvSpPr>
        <p:spPr>
          <a:xfrm>
            <a:off x="9037320" y="1021080"/>
            <a:ext cx="1715135" cy="108013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 typing box should appear for the entry. These entries should be used only for the Notion entry.</a:t>
            </a:r>
            <a:endParaRPr lang="en-US" sz="1200">
              <a:solidFill>
                <a:schemeClr val="accent1">
                  <a:lumMod val="50000"/>
                </a:schemeClr>
              </a:solidFill>
              <a:sym typeface="+mn-ea"/>
            </a:endParaRPr>
          </a:p>
        </p:txBody>
      </p:sp>
      <p:cxnSp>
        <p:nvCxnSpPr>
          <p:cNvPr id="22" name="Straight Connector 21"/>
          <p:cNvCxnSpPr>
            <a:stCxn id="18" idx="3"/>
            <a:endCxn id="21" idx="1"/>
          </p:cNvCxnSpPr>
          <p:nvPr/>
        </p:nvCxnSpPr>
        <p:spPr>
          <a:xfrm flipV="1">
            <a:off x="7113270" y="1561465"/>
            <a:ext cx="1924050" cy="403733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3" name="Straight Connector 22"/>
          <p:cNvCxnSpPr>
            <a:stCxn id="15" idx="3"/>
            <a:endCxn id="21" idx="1"/>
          </p:cNvCxnSpPr>
          <p:nvPr/>
        </p:nvCxnSpPr>
        <p:spPr>
          <a:xfrm flipV="1">
            <a:off x="7113270" y="1561465"/>
            <a:ext cx="1924050" cy="17805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4" name="Straight Connector 23"/>
          <p:cNvCxnSpPr>
            <a:stCxn id="14" idx="3"/>
            <a:endCxn id="21" idx="1"/>
          </p:cNvCxnSpPr>
          <p:nvPr/>
        </p:nvCxnSpPr>
        <p:spPr>
          <a:xfrm flipV="1">
            <a:off x="7113270" y="1561465"/>
            <a:ext cx="1924050" cy="8699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5" name="Straight Connector 24"/>
          <p:cNvCxnSpPr>
            <a:stCxn id="13" idx="3"/>
            <a:endCxn id="21" idx="1"/>
          </p:cNvCxnSpPr>
          <p:nvPr/>
        </p:nvCxnSpPr>
        <p:spPr>
          <a:xfrm flipV="1">
            <a:off x="7113270" y="1561465"/>
            <a:ext cx="1924050" cy="42100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7" name="Straight Connector 26"/>
          <p:cNvCxnSpPr>
            <a:stCxn id="45" idx="3"/>
            <a:endCxn id="17" idx="1"/>
          </p:cNvCxnSpPr>
          <p:nvPr/>
        </p:nvCxnSpPr>
        <p:spPr>
          <a:xfrm>
            <a:off x="3117215" y="1828165"/>
            <a:ext cx="1724025" cy="33216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28" name="Straight Connector 27"/>
          <p:cNvCxnSpPr>
            <a:stCxn id="45" idx="3"/>
            <a:endCxn id="2" idx="1"/>
          </p:cNvCxnSpPr>
          <p:nvPr/>
        </p:nvCxnSpPr>
        <p:spPr>
          <a:xfrm flipV="1">
            <a:off x="3117215" y="1533525"/>
            <a:ext cx="1724025" cy="2946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Notions</a:t>
            </a:r>
            <a:endParaRPr lang="en-US">
              <a:solidFill>
                <a:schemeClr val="accent1">
                  <a:lumMod val="50000"/>
                </a:schemeClr>
              </a:solidFill>
              <a:sym typeface="+mn-ea"/>
            </a:endParaRPr>
          </a:p>
        </p:txBody>
      </p:sp>
      <p:sp>
        <p:nvSpPr>
          <p:cNvPr id="4" name="Rounded Rectangle 3"/>
          <p:cNvSpPr/>
          <p:nvPr/>
        </p:nvSpPr>
        <p:spPr>
          <a:xfrm>
            <a:off x="4841240" y="6022340"/>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Add</a:t>
            </a:r>
            <a:endParaRPr lang="en-US">
              <a:solidFill>
                <a:schemeClr val="accent2">
                  <a:lumMod val="20000"/>
                  <a:lumOff val="80000"/>
                </a:schemeClr>
              </a:solidFill>
              <a:sym typeface="+mn-ea"/>
            </a:endParaRPr>
          </a:p>
        </p:txBody>
      </p:sp>
      <p:sp>
        <p:nvSpPr>
          <p:cNvPr id="6" name="Text Box 5"/>
          <p:cNvSpPr txBox="1"/>
          <p:nvPr/>
        </p:nvSpPr>
        <p:spPr>
          <a:xfrm>
            <a:off x="2079625" y="5537835"/>
            <a:ext cx="1715135" cy="9696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Saves current notion selections to the project list, and clears selections for adding multiple yarns.</a:t>
            </a:r>
            <a:endParaRPr lang="en-US" sz="1200">
              <a:solidFill>
                <a:schemeClr val="accent1">
                  <a:lumMod val="50000"/>
                </a:schemeClr>
              </a:solidFill>
              <a:sym typeface="+mn-ea"/>
            </a:endParaRPr>
          </a:p>
        </p:txBody>
      </p:sp>
      <p:cxnSp>
        <p:nvCxnSpPr>
          <p:cNvPr id="12" name="Straight Connector 11"/>
          <p:cNvCxnSpPr>
            <a:stCxn id="4" idx="1"/>
            <a:endCxn id="6" idx="3"/>
          </p:cNvCxnSpPr>
          <p:nvPr/>
        </p:nvCxnSpPr>
        <p:spPr>
          <a:xfrm flipH="1" flipV="1">
            <a:off x="3794760" y="6022975"/>
            <a:ext cx="1046480" cy="1841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7" name="Rounded Rectangle 6"/>
          <p:cNvSpPr/>
          <p:nvPr/>
        </p:nvSpPr>
        <p:spPr>
          <a:xfrm>
            <a:off x="6047740" y="6016625"/>
            <a:ext cx="106108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Finish</a:t>
            </a:r>
            <a:endParaRPr lang="en-US">
              <a:solidFill>
                <a:schemeClr val="accent2">
                  <a:lumMod val="20000"/>
                  <a:lumOff val="80000"/>
                </a:schemeClr>
              </a:solidFill>
              <a:sym typeface="+mn-ea"/>
            </a:endParaRPr>
          </a:p>
        </p:txBody>
      </p:sp>
      <p:sp>
        <p:nvSpPr>
          <p:cNvPr id="8" name="Text Box 7"/>
          <p:cNvSpPr txBox="1"/>
          <p:nvPr/>
        </p:nvSpPr>
        <p:spPr>
          <a:xfrm>
            <a:off x="8571865" y="5334635"/>
            <a:ext cx="1715135" cy="79565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Returns to Notion List or Pattern/Project Supply List page, depending on current action. </a:t>
            </a:r>
            <a:endParaRPr lang="en-US" sz="1200">
              <a:solidFill>
                <a:schemeClr val="accent1">
                  <a:lumMod val="50000"/>
                </a:schemeClr>
              </a:solidFill>
              <a:sym typeface="+mn-ea"/>
            </a:endParaRPr>
          </a:p>
        </p:txBody>
      </p:sp>
      <p:cxnSp>
        <p:nvCxnSpPr>
          <p:cNvPr id="9" name="Straight Connector 8"/>
          <p:cNvCxnSpPr>
            <a:stCxn id="7" idx="3"/>
            <a:endCxn id="8" idx="1"/>
          </p:cNvCxnSpPr>
          <p:nvPr/>
        </p:nvCxnSpPr>
        <p:spPr>
          <a:xfrm flipV="1">
            <a:off x="7108825" y="5732780"/>
            <a:ext cx="1463040" cy="46863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 name="Rounded Rectangle 2"/>
          <p:cNvSpPr/>
          <p:nvPr/>
        </p:nvSpPr>
        <p:spPr>
          <a:xfrm>
            <a:off x="4841240" y="4067175"/>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Size/s</a:t>
            </a:r>
            <a:endParaRPr lang="en-US">
              <a:solidFill>
                <a:schemeClr val="accent2">
                  <a:lumMod val="20000"/>
                  <a:lumOff val="80000"/>
                </a:schemeClr>
              </a:solidFill>
              <a:sym typeface="+mn-ea"/>
            </a:endParaRPr>
          </a:p>
        </p:txBody>
      </p:sp>
      <p:sp>
        <p:nvSpPr>
          <p:cNvPr id="10" name="Rounded Rectangle 9"/>
          <p:cNvSpPr/>
          <p:nvPr/>
        </p:nvSpPr>
        <p:spPr>
          <a:xfrm>
            <a:off x="4841240" y="4516120"/>
            <a:ext cx="227203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Color/s</a:t>
            </a:r>
            <a:endParaRPr lang="en-US">
              <a:solidFill>
                <a:schemeClr val="accent2">
                  <a:lumMod val="20000"/>
                  <a:lumOff val="80000"/>
                </a:schemeClr>
              </a:solidFill>
              <a:sym typeface="+mn-ea"/>
            </a:endParaRPr>
          </a:p>
        </p:txBody>
      </p:sp>
      <p:sp>
        <p:nvSpPr>
          <p:cNvPr id="11" name="Text Box 10"/>
          <p:cNvSpPr txBox="1"/>
          <p:nvPr/>
        </p:nvSpPr>
        <p:spPr>
          <a:xfrm>
            <a:off x="822960" y="2827655"/>
            <a:ext cx="2236470" cy="251714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 typing box should appear for the entry. If multiple sizes or colors are added, an option should pop up when the add or finish button is pressed that offers to turn each size/color into it’s own listing. If both size and color boxes are given multiple entries, and user elects to have multiple listings created, an option should be given to associate each size to a specific color.</a:t>
            </a:r>
            <a:endParaRPr lang="en-US" sz="1200">
              <a:solidFill>
                <a:schemeClr val="accent1">
                  <a:lumMod val="50000"/>
                </a:schemeClr>
              </a:solidFill>
              <a:sym typeface="+mn-ea"/>
            </a:endParaRPr>
          </a:p>
        </p:txBody>
      </p:sp>
      <p:cxnSp>
        <p:nvCxnSpPr>
          <p:cNvPr id="16" name="Straight Connector 15"/>
          <p:cNvCxnSpPr>
            <a:stCxn id="10" idx="1"/>
            <a:endCxn id="11" idx="3"/>
          </p:cNvCxnSpPr>
          <p:nvPr/>
        </p:nvCxnSpPr>
        <p:spPr>
          <a:xfrm flipH="1" flipV="1">
            <a:off x="3059430" y="4086225"/>
            <a:ext cx="1781810" cy="61468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9" name="Straight Connector 18"/>
          <p:cNvCxnSpPr>
            <a:stCxn id="3" idx="1"/>
            <a:endCxn id="11" idx="3"/>
          </p:cNvCxnSpPr>
          <p:nvPr/>
        </p:nvCxnSpPr>
        <p:spPr>
          <a:xfrm flipH="1" flipV="1">
            <a:off x="3059430" y="4086225"/>
            <a:ext cx="1781810" cy="1657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49" name="Text Box 48"/>
          <p:cNvSpPr txBox="1"/>
          <p:nvPr/>
        </p:nvSpPr>
        <p:spPr>
          <a:xfrm>
            <a:off x="8335645" y="3389630"/>
            <a:ext cx="2416810" cy="139382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This box should have an option to mark a sale price. If the price is marked as a sale price, and this is added to the inventory of an already existing item, it should NOT update the price of an existing source for the listing.</a:t>
            </a:r>
            <a:endParaRPr lang="en-US" sz="1200">
              <a:solidFill>
                <a:schemeClr val="accent1">
                  <a:lumMod val="50000"/>
                </a:schemeClr>
              </a:solidFill>
              <a:sym typeface="+mn-ea"/>
            </a:endParaRPr>
          </a:p>
        </p:txBody>
      </p:sp>
      <p:cxnSp>
        <p:nvCxnSpPr>
          <p:cNvPr id="50" name="Straight Connector 49"/>
          <p:cNvCxnSpPr>
            <a:stCxn id="18" idx="3"/>
            <a:endCxn id="49" idx="1"/>
          </p:cNvCxnSpPr>
          <p:nvPr/>
        </p:nvCxnSpPr>
        <p:spPr>
          <a:xfrm flipV="1">
            <a:off x="7113270" y="4086860"/>
            <a:ext cx="1222375" cy="15119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 name="Text Box 42"/>
          <p:cNvSpPr txBox="1"/>
          <p:nvPr/>
        </p:nvSpPr>
        <p:spPr>
          <a:xfrm>
            <a:off x="3825240" y="6047740"/>
            <a:ext cx="2951480" cy="9594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downs. Offers lists of the sizes/colors that were input on add page. Shows check boxes that are ticked when a color is added to the each size.</a:t>
            </a:r>
            <a:endParaRPr lang="en-US" sz="1200">
              <a:solidFill>
                <a:schemeClr val="accent1">
                  <a:lumMod val="50000"/>
                </a:schemeClr>
              </a:solidFill>
              <a:sym typeface="+mn-ea"/>
            </a:endParaRPr>
          </a:p>
        </p:txBody>
      </p:sp>
      <p:sp>
        <p:nvSpPr>
          <p:cNvPr id="20" name="Freeform 19"/>
          <p:cNvSpPr/>
          <p:nvPr/>
        </p:nvSpPr>
        <p:spPr>
          <a:xfrm>
            <a:off x="3803650" y="1371600"/>
            <a:ext cx="3191510" cy="162496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Add Size/Color</a:t>
            </a:r>
            <a:endParaRPr lang="en-US">
              <a:solidFill>
                <a:schemeClr val="accent2">
                  <a:lumMod val="40000"/>
                  <a:lumOff val="60000"/>
                </a:schemeClr>
              </a:solidFill>
              <a:sym typeface="+mn-ea"/>
            </a:endParaRPr>
          </a:p>
        </p:txBody>
      </p:sp>
      <p:sp>
        <p:nvSpPr>
          <p:cNvPr id="29" name="Rounded Rectangle 28"/>
          <p:cNvSpPr/>
          <p:nvPr/>
        </p:nvSpPr>
        <p:spPr>
          <a:xfrm>
            <a:off x="3884930" y="1687830"/>
            <a:ext cx="3044825" cy="46863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New Size/Color</a:t>
            </a:r>
            <a:endParaRPr lang="en-US">
              <a:solidFill>
                <a:schemeClr val="accent2">
                  <a:lumMod val="20000"/>
                  <a:lumOff val="80000"/>
                </a:schemeClr>
              </a:solidFill>
              <a:sym typeface="+mn-ea"/>
            </a:endParaRPr>
          </a:p>
        </p:txBody>
      </p:sp>
      <p:sp>
        <p:nvSpPr>
          <p:cNvPr id="31" name="Rounded Rectangle 30"/>
          <p:cNvSpPr/>
          <p:nvPr/>
        </p:nvSpPr>
        <p:spPr>
          <a:xfrm>
            <a:off x="4308475" y="2321560"/>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Add</a:t>
            </a:r>
            <a:endParaRPr lang="en-US">
              <a:solidFill>
                <a:schemeClr val="accent2">
                  <a:lumMod val="20000"/>
                  <a:lumOff val="80000"/>
                </a:schemeClr>
              </a:solidFill>
              <a:sym typeface="+mn-ea"/>
            </a:endParaRPr>
          </a:p>
        </p:txBody>
      </p:sp>
      <p:sp>
        <p:nvSpPr>
          <p:cNvPr id="32" name="Rounded Rectangle 31"/>
          <p:cNvSpPr/>
          <p:nvPr/>
        </p:nvSpPr>
        <p:spPr>
          <a:xfrm>
            <a:off x="5514975" y="2315845"/>
            <a:ext cx="106108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Finish</a:t>
            </a:r>
            <a:endParaRPr lang="en-US">
              <a:solidFill>
                <a:schemeClr val="accent2">
                  <a:lumMod val="20000"/>
                  <a:lumOff val="80000"/>
                </a:schemeClr>
              </a:solidFill>
              <a:sym typeface="+mn-ea"/>
            </a:endParaRPr>
          </a:p>
        </p:txBody>
      </p:sp>
      <p:sp>
        <p:nvSpPr>
          <p:cNvPr id="33" name="Freeform 32"/>
          <p:cNvSpPr/>
          <p:nvPr/>
        </p:nvSpPr>
        <p:spPr>
          <a:xfrm>
            <a:off x="3790950" y="3142615"/>
            <a:ext cx="3191510" cy="120078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Add Sizes/Colors as individual listings?</a:t>
            </a:r>
            <a:endParaRPr lang="en-US">
              <a:solidFill>
                <a:schemeClr val="accent2">
                  <a:lumMod val="40000"/>
                  <a:lumOff val="60000"/>
                </a:schemeClr>
              </a:solidFill>
              <a:sym typeface="+mn-ea"/>
            </a:endParaRPr>
          </a:p>
        </p:txBody>
      </p:sp>
      <p:sp>
        <p:nvSpPr>
          <p:cNvPr id="37" name="Rounded Rectangle 36"/>
          <p:cNvSpPr/>
          <p:nvPr/>
        </p:nvSpPr>
        <p:spPr>
          <a:xfrm>
            <a:off x="4168775" y="3776345"/>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Yes</a:t>
            </a:r>
            <a:endParaRPr lang="en-US">
              <a:solidFill>
                <a:schemeClr val="accent2">
                  <a:lumMod val="20000"/>
                  <a:lumOff val="80000"/>
                </a:schemeClr>
              </a:solidFill>
              <a:sym typeface="+mn-ea"/>
            </a:endParaRPr>
          </a:p>
        </p:txBody>
      </p:sp>
      <p:sp>
        <p:nvSpPr>
          <p:cNvPr id="38" name="Rounded Rectangle 37"/>
          <p:cNvSpPr/>
          <p:nvPr/>
        </p:nvSpPr>
        <p:spPr>
          <a:xfrm>
            <a:off x="5414010" y="3776345"/>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No</a:t>
            </a:r>
            <a:endParaRPr lang="en-US">
              <a:solidFill>
                <a:schemeClr val="accent2">
                  <a:lumMod val="20000"/>
                  <a:lumOff val="80000"/>
                </a:schemeClr>
              </a:solidFill>
              <a:sym typeface="+mn-ea"/>
            </a:endParaRPr>
          </a:p>
        </p:txBody>
      </p:sp>
      <p:cxnSp>
        <p:nvCxnSpPr>
          <p:cNvPr id="39" name="Straight Connector 38"/>
          <p:cNvCxnSpPr>
            <a:stCxn id="20" idx="5"/>
            <a:endCxn id="33" idx="2"/>
          </p:cNvCxnSpPr>
          <p:nvPr/>
        </p:nvCxnSpPr>
        <p:spPr>
          <a:xfrm>
            <a:off x="6776085" y="2996565"/>
            <a:ext cx="635" cy="1460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40" name="Freeform 39"/>
          <p:cNvSpPr/>
          <p:nvPr/>
        </p:nvSpPr>
        <p:spPr>
          <a:xfrm>
            <a:off x="3790950" y="4496435"/>
            <a:ext cx="3191510" cy="120078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Please specify colors for individual listings.</a:t>
            </a:r>
            <a:endParaRPr lang="en-US">
              <a:solidFill>
                <a:schemeClr val="accent2">
                  <a:lumMod val="40000"/>
                  <a:lumOff val="60000"/>
                </a:schemeClr>
              </a:solidFill>
              <a:sym typeface="+mn-ea"/>
            </a:endParaRPr>
          </a:p>
        </p:txBody>
      </p:sp>
      <p:sp>
        <p:nvSpPr>
          <p:cNvPr id="41" name="Rounded Rectangle 40"/>
          <p:cNvSpPr/>
          <p:nvPr/>
        </p:nvSpPr>
        <p:spPr>
          <a:xfrm>
            <a:off x="3884930" y="5224780"/>
            <a:ext cx="1402080"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Sizes</a:t>
            </a:r>
            <a:endParaRPr lang="en-US">
              <a:solidFill>
                <a:schemeClr val="accent2">
                  <a:lumMod val="20000"/>
                  <a:lumOff val="80000"/>
                </a:schemeClr>
              </a:solidFill>
              <a:sym typeface="+mn-ea"/>
            </a:endParaRPr>
          </a:p>
        </p:txBody>
      </p:sp>
      <p:sp>
        <p:nvSpPr>
          <p:cNvPr id="42" name="Rounded Rectangle 41"/>
          <p:cNvSpPr/>
          <p:nvPr/>
        </p:nvSpPr>
        <p:spPr>
          <a:xfrm>
            <a:off x="5414010" y="5224780"/>
            <a:ext cx="142176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Colors</a:t>
            </a:r>
            <a:endParaRPr lang="en-US">
              <a:solidFill>
                <a:schemeClr val="accent2">
                  <a:lumMod val="20000"/>
                  <a:lumOff val="80000"/>
                </a:schemeClr>
              </a:solidFill>
              <a:sym typeface="+mn-ea"/>
            </a:endParaRPr>
          </a:p>
        </p:txBody>
      </p:sp>
      <p:cxnSp>
        <p:nvCxnSpPr>
          <p:cNvPr id="44" name="Straight Connector 43"/>
          <p:cNvCxnSpPr>
            <a:stCxn id="33" idx="5"/>
            <a:endCxn id="40" idx="2"/>
          </p:cNvCxnSpPr>
          <p:nvPr/>
        </p:nvCxnSpPr>
        <p:spPr>
          <a:xfrm>
            <a:off x="6763385" y="4343400"/>
            <a:ext cx="13335" cy="15303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0" name="Title 79"/>
          <p:cNvSpPr>
            <a:spLocks noGrp="1"/>
          </p:cNvSpPr>
          <p:nvPr/>
        </p:nvSpPr>
        <p:spPr>
          <a:xfrm>
            <a:off x="205105" y="38100"/>
            <a:ext cx="10390505"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Notions as Separate Listings</a:t>
            </a:r>
            <a:endParaRPr lang="en-US">
              <a:solidFill>
                <a:schemeClr val="accent1">
                  <a:lumMod val="50000"/>
                </a:schemeClr>
              </a:solidFill>
              <a:sym typeface="+mn-ea"/>
            </a:endParaRPr>
          </a:p>
        </p:txBody>
      </p:sp>
      <p:cxnSp>
        <p:nvCxnSpPr>
          <p:cNvPr id="2" name="Straight Connector 1"/>
          <p:cNvCxnSpPr>
            <a:stCxn id="41" idx="2"/>
            <a:endCxn id="43" idx="0"/>
          </p:cNvCxnSpPr>
          <p:nvPr/>
        </p:nvCxnSpPr>
        <p:spPr>
          <a:xfrm>
            <a:off x="4585970" y="5594350"/>
            <a:ext cx="715010" cy="45339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3" name="Straight Connector 2"/>
          <p:cNvCxnSpPr>
            <a:stCxn id="42" idx="2"/>
          </p:cNvCxnSpPr>
          <p:nvPr/>
        </p:nvCxnSpPr>
        <p:spPr>
          <a:xfrm flipH="1">
            <a:off x="5292090" y="5594350"/>
            <a:ext cx="833120" cy="4445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ph type="title"/>
          </p:nvPr>
        </p:nvSpPr>
        <p:spPr>
          <a:xfrm>
            <a:off x="822960" y="38100"/>
            <a:ext cx="9464040" cy="822960"/>
          </a:xfrm>
          <a:ln w="28575" cmpd="dbl">
            <a:solidFill>
              <a:schemeClr val="accent1">
                <a:lumMod val="50000"/>
              </a:schemeClr>
            </a:solidFill>
            <a:prstDash val="solid"/>
          </a:ln>
        </p:spPr>
        <p:txBody>
          <a:bodyPr anchor="t" anchorCtr="1">
            <a:normAutofit/>
          </a:bodyPr>
          <a:p>
            <a:r>
              <a:rPr lang="en-US">
                <a:solidFill>
                  <a:schemeClr val="accent1">
                    <a:lumMod val="50000"/>
                  </a:schemeClr>
                </a:solidFill>
                <a:sym typeface="+mn-ea"/>
              </a:rPr>
              <a:t>Kit List Page</a:t>
            </a:r>
            <a:endParaRPr lang="en-US">
              <a:solidFill>
                <a:schemeClr val="accent1">
                  <a:lumMod val="50000"/>
                </a:schemeClr>
              </a:solidFill>
              <a:sym typeface="+mn-ea"/>
            </a:endParaRPr>
          </a:p>
        </p:txBody>
      </p:sp>
      <p:sp>
        <p:nvSpPr>
          <p:cNvPr id="5" name="Rounded Rectangle 4"/>
          <p:cNvSpPr/>
          <p:nvPr/>
        </p:nvSpPr>
        <p:spPr>
          <a:xfrm>
            <a:off x="3251835" y="2579370"/>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6" name="Rounded Rectangle 5"/>
          <p:cNvSpPr/>
          <p:nvPr/>
        </p:nvSpPr>
        <p:spPr>
          <a:xfrm>
            <a:off x="3316605" y="2645410"/>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8" name="Rounded Rectangle 27"/>
          <p:cNvSpPr/>
          <p:nvPr/>
        </p:nvSpPr>
        <p:spPr>
          <a:xfrm>
            <a:off x="3251835" y="3334385"/>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29" name="Rounded Rectangle 28"/>
          <p:cNvSpPr/>
          <p:nvPr/>
        </p:nvSpPr>
        <p:spPr>
          <a:xfrm>
            <a:off x="3316605" y="3400425"/>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1" name="Rounded Rectangle 30"/>
          <p:cNvSpPr/>
          <p:nvPr/>
        </p:nvSpPr>
        <p:spPr>
          <a:xfrm>
            <a:off x="3251835" y="4089400"/>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32" name="Rounded Rectangle 31"/>
          <p:cNvSpPr/>
          <p:nvPr/>
        </p:nvSpPr>
        <p:spPr>
          <a:xfrm>
            <a:off x="3316605" y="4155440"/>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37" name="Rounded Rectangle 36"/>
          <p:cNvSpPr/>
          <p:nvPr/>
        </p:nvSpPr>
        <p:spPr>
          <a:xfrm>
            <a:off x="3251835" y="4844415"/>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38" name="Rounded Rectangle 37"/>
          <p:cNvSpPr/>
          <p:nvPr/>
        </p:nvSpPr>
        <p:spPr>
          <a:xfrm>
            <a:off x="3316605" y="4910455"/>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0" name="Rounded Rectangle 39"/>
          <p:cNvSpPr/>
          <p:nvPr/>
        </p:nvSpPr>
        <p:spPr>
          <a:xfrm>
            <a:off x="3251835" y="5599430"/>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41" name="Rounded Rectangle 40"/>
          <p:cNvSpPr/>
          <p:nvPr/>
        </p:nvSpPr>
        <p:spPr>
          <a:xfrm>
            <a:off x="3316605" y="5665470"/>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43" name="Rounded Rectangle 42"/>
          <p:cNvSpPr/>
          <p:nvPr/>
        </p:nvSpPr>
        <p:spPr>
          <a:xfrm>
            <a:off x="3251835" y="6354445"/>
            <a:ext cx="4572000" cy="7315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Title</a:t>
            </a:r>
            <a:endParaRPr lang="en-US">
              <a:solidFill>
                <a:schemeClr val="accent2">
                  <a:lumMod val="40000"/>
                  <a:lumOff val="60000"/>
                </a:schemeClr>
              </a:solidFill>
              <a:sym typeface="+mn-ea"/>
            </a:endParaRPr>
          </a:p>
        </p:txBody>
      </p:sp>
      <p:sp>
        <p:nvSpPr>
          <p:cNvPr id="44" name="Rounded Rectangle 43"/>
          <p:cNvSpPr/>
          <p:nvPr/>
        </p:nvSpPr>
        <p:spPr>
          <a:xfrm>
            <a:off x="3316605" y="6420485"/>
            <a:ext cx="858520" cy="59944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63" name="Text Box 62"/>
          <p:cNvSpPr txBox="1"/>
          <p:nvPr/>
        </p:nvSpPr>
        <p:spPr>
          <a:xfrm>
            <a:off x="294005" y="1318260"/>
            <a:ext cx="2387600" cy="184404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700">
                <a:solidFill>
                  <a:schemeClr val="accent1">
                    <a:lumMod val="50000"/>
                  </a:schemeClr>
                </a:solidFill>
                <a:sym typeface="+mn-ea"/>
              </a:rPr>
              <a:t>Sorted by most recent by default, ability to sort</a:t>
            </a:r>
            <a:r>
              <a:rPr lang="en-US" sz="1700">
                <a:solidFill>
                  <a:schemeClr val="accent1">
                    <a:lumMod val="50000"/>
                  </a:schemeClr>
                </a:solidFill>
                <a:sym typeface="+mn-ea"/>
              </a:rPr>
              <a:t>/filter</a:t>
            </a:r>
            <a:r>
              <a:rPr lang="en-US" sz="1700">
                <a:solidFill>
                  <a:schemeClr val="accent1">
                    <a:lumMod val="50000"/>
                  </a:schemeClr>
                </a:solidFill>
                <a:sym typeface="+mn-ea"/>
              </a:rPr>
              <a:t> by kit theme, main color, difficulty, completion percentage, whether or not complete</a:t>
            </a:r>
            <a:endParaRPr lang="en-US" sz="1700">
              <a:solidFill>
                <a:schemeClr val="accent1">
                  <a:lumMod val="50000"/>
                </a:schemeClr>
              </a:solidFill>
              <a:sym typeface="+mn-ea"/>
            </a:endParaRPr>
          </a:p>
        </p:txBody>
      </p:sp>
      <p:sp>
        <p:nvSpPr>
          <p:cNvPr id="64" name="Rounded Rectangle 63"/>
          <p:cNvSpPr/>
          <p:nvPr/>
        </p:nvSpPr>
        <p:spPr>
          <a:xfrm>
            <a:off x="3251835" y="1433830"/>
            <a:ext cx="1784985"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Filter </a:t>
            </a:r>
            <a:r>
              <a:rPr lang="en-US">
                <a:solidFill>
                  <a:schemeClr val="accent2">
                    <a:lumMod val="40000"/>
                    <a:lumOff val="60000"/>
                  </a:schemeClr>
                </a:solidFill>
                <a:sym typeface="+mn-ea"/>
              </a:rPr>
              <a:t>By</a:t>
            </a:r>
            <a:endParaRPr lang="en-US">
              <a:solidFill>
                <a:schemeClr val="accent2">
                  <a:lumMod val="40000"/>
                  <a:lumOff val="60000"/>
                </a:schemeClr>
              </a:solidFill>
              <a:sym typeface="+mn-ea"/>
            </a:endParaRPr>
          </a:p>
        </p:txBody>
      </p:sp>
      <p:sp>
        <p:nvSpPr>
          <p:cNvPr id="66" name="Rounded Rectangle 65"/>
          <p:cNvSpPr/>
          <p:nvPr/>
        </p:nvSpPr>
        <p:spPr>
          <a:xfrm>
            <a:off x="6726555" y="1433830"/>
            <a:ext cx="109728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New</a:t>
            </a:r>
            <a:endParaRPr lang="en-US">
              <a:solidFill>
                <a:schemeClr val="accent2">
                  <a:lumMod val="40000"/>
                  <a:lumOff val="60000"/>
                </a:schemeClr>
              </a:solidFill>
              <a:sym typeface="+mn-ea"/>
            </a:endParaRPr>
          </a:p>
        </p:txBody>
      </p:sp>
      <p:sp>
        <p:nvSpPr>
          <p:cNvPr id="69" name="Rounded Rectangle 68"/>
          <p:cNvSpPr/>
          <p:nvPr/>
        </p:nvSpPr>
        <p:spPr>
          <a:xfrm>
            <a:off x="3238500" y="2098040"/>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Crochet Patterns</a:t>
            </a:r>
            <a:endParaRPr lang="en-US">
              <a:solidFill>
                <a:schemeClr val="accent2">
                  <a:lumMod val="40000"/>
                  <a:lumOff val="60000"/>
                </a:schemeClr>
              </a:solidFill>
              <a:sym typeface="+mn-ea"/>
            </a:endParaRPr>
          </a:p>
        </p:txBody>
      </p:sp>
      <p:sp>
        <p:nvSpPr>
          <p:cNvPr id="70" name="Rounded Rectangle 69"/>
          <p:cNvSpPr/>
          <p:nvPr/>
        </p:nvSpPr>
        <p:spPr>
          <a:xfrm>
            <a:off x="5629275" y="2098675"/>
            <a:ext cx="219456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Knit Patterns</a:t>
            </a:r>
            <a:endParaRPr lang="en-US">
              <a:solidFill>
                <a:schemeClr val="accent2">
                  <a:lumMod val="40000"/>
                  <a:lumOff val="60000"/>
                </a:schemeClr>
              </a:solidFill>
              <a:sym typeface="+mn-ea"/>
            </a:endParaRPr>
          </a:p>
        </p:txBody>
      </p:sp>
      <p:sp>
        <p:nvSpPr>
          <p:cNvPr id="71" name="Text Box 70"/>
          <p:cNvSpPr txBox="1"/>
          <p:nvPr/>
        </p:nvSpPr>
        <p:spPr>
          <a:xfrm>
            <a:off x="8439150" y="1318260"/>
            <a:ext cx="1080135" cy="75565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Filters by Kit Type</a:t>
            </a:r>
            <a:r>
              <a:rPr lang="en-US" sz="1200">
                <a:solidFill>
                  <a:schemeClr val="accent1">
                    <a:lumMod val="50000"/>
                  </a:schemeClr>
                </a:solidFill>
                <a:sym typeface="+mn-ea"/>
              </a:rPr>
              <a:t>, toggleable.</a:t>
            </a:r>
            <a:endParaRPr lang="en-US" sz="1200">
              <a:solidFill>
                <a:schemeClr val="accent1">
                  <a:lumMod val="50000"/>
                </a:schemeClr>
              </a:solidFill>
              <a:sym typeface="+mn-ea"/>
            </a:endParaRPr>
          </a:p>
        </p:txBody>
      </p:sp>
      <p:cxnSp>
        <p:nvCxnSpPr>
          <p:cNvPr id="82" name="Straight Connector 81"/>
          <p:cNvCxnSpPr>
            <a:stCxn id="71" idx="1"/>
            <a:endCxn id="69" idx="3"/>
          </p:cNvCxnSpPr>
          <p:nvPr/>
        </p:nvCxnSpPr>
        <p:spPr>
          <a:xfrm flipH="1">
            <a:off x="5433060" y="1696085"/>
            <a:ext cx="3006090" cy="6305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83" name="Straight Connector 82"/>
          <p:cNvCxnSpPr>
            <a:stCxn id="71" idx="1"/>
            <a:endCxn id="70" idx="3"/>
          </p:cNvCxnSpPr>
          <p:nvPr/>
        </p:nvCxnSpPr>
        <p:spPr>
          <a:xfrm flipH="1">
            <a:off x="7823835" y="1696085"/>
            <a:ext cx="615315" cy="63119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85" name="Rounded Rectangle 84"/>
          <p:cNvSpPr/>
          <p:nvPr/>
        </p:nvSpPr>
        <p:spPr>
          <a:xfrm>
            <a:off x="5062855" y="1433830"/>
            <a:ext cx="1637030" cy="6400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Sort By</a:t>
            </a:r>
            <a:endParaRPr lang="en-US">
              <a:solidFill>
                <a:schemeClr val="accent2">
                  <a:lumMod val="40000"/>
                  <a:lumOff val="60000"/>
                </a:schemeClr>
              </a:solidFill>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Freeform 6"/>
          <p:cNvSpPr/>
          <p:nvPr/>
        </p:nvSpPr>
        <p:spPr>
          <a:xfrm>
            <a:off x="3133725" y="3190875"/>
            <a:ext cx="3009900" cy="3674745"/>
          </a:xfrm>
          <a:custGeom>
            <a:avLst/>
            <a:gdLst>
              <a:gd name="connsiteX0" fmla="*/ 0 w 4740"/>
              <a:gd name="connsiteY0" fmla="*/ 450 h 7200"/>
              <a:gd name="connsiteX1" fmla="*/ 779 w 4740"/>
              <a:gd name="connsiteY1" fmla="*/ 1 h 7200"/>
              <a:gd name="connsiteX2" fmla="*/ 4110 w 4740"/>
              <a:gd name="connsiteY2" fmla="*/ 0 h 7200"/>
              <a:gd name="connsiteX3" fmla="*/ 4740 w 4740"/>
              <a:gd name="connsiteY3" fmla="*/ 540 h 7200"/>
              <a:gd name="connsiteX4" fmla="*/ 4740 w 4740"/>
              <a:gd name="connsiteY4" fmla="*/ 6540 h 7200"/>
              <a:gd name="connsiteX5" fmla="*/ 4200 w 4740"/>
              <a:gd name="connsiteY5" fmla="*/ 7200 h 7200"/>
              <a:gd name="connsiteX6" fmla="*/ 660 w 4740"/>
              <a:gd name="connsiteY6" fmla="*/ 7200 h 7200"/>
              <a:gd name="connsiteX7" fmla="*/ 0 w 4740"/>
              <a:gd name="connsiteY7" fmla="*/ 6660 h 7200"/>
              <a:gd name="connsiteX8" fmla="*/ 0 w 4740"/>
              <a:gd name="connsiteY8" fmla="*/ 450 h 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0" h="7200">
                <a:moveTo>
                  <a:pt x="0" y="450"/>
                </a:moveTo>
                <a:cubicBezTo>
                  <a:pt x="0" y="13"/>
                  <a:pt x="342" y="1"/>
                  <a:pt x="779" y="1"/>
                </a:cubicBezTo>
                <a:lnTo>
                  <a:pt x="4110" y="0"/>
                </a:lnTo>
                <a:cubicBezTo>
                  <a:pt x="4547" y="0"/>
                  <a:pt x="4740" y="103"/>
                  <a:pt x="4740" y="540"/>
                </a:cubicBezTo>
                <a:lnTo>
                  <a:pt x="4740" y="6540"/>
                </a:lnTo>
                <a:cubicBezTo>
                  <a:pt x="4740" y="6977"/>
                  <a:pt x="4637" y="7200"/>
                  <a:pt x="4200" y="7200"/>
                </a:cubicBezTo>
                <a:lnTo>
                  <a:pt x="660" y="7200"/>
                </a:lnTo>
                <a:cubicBezTo>
                  <a:pt x="223" y="7200"/>
                  <a:pt x="0" y="7097"/>
                  <a:pt x="0" y="6660"/>
                </a:cubicBezTo>
                <a:lnTo>
                  <a:pt x="0" y="45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a:t>
            </a:r>
            <a:endParaRPr lang="en-US">
              <a:solidFill>
                <a:schemeClr val="accent2">
                  <a:lumMod val="40000"/>
                  <a:lumOff val="60000"/>
                </a:schemeClr>
              </a:solidFill>
              <a:sym typeface="+mn-ea"/>
            </a:endParaRPr>
          </a:p>
        </p:txBody>
      </p:sp>
      <p:sp>
        <p:nvSpPr>
          <p:cNvPr id="8" name="Text Box 7"/>
          <p:cNvSpPr txBox="1"/>
          <p:nvPr/>
        </p:nvSpPr>
        <p:spPr>
          <a:xfrm>
            <a:off x="510540" y="2131695"/>
            <a:ext cx="1958340" cy="25450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Pattern rows/rounds listed with checkboxes. As the boxes are ticked, the stitch count from each is added to the total completed stitches, and determines completion percentage. Some patterns have rows/rounds that are the same, and are shown in 5-7 format. A box for each row would be nice.</a:t>
            </a:r>
            <a:r>
              <a:rPr lang="en-US" sz="1200">
                <a:solidFill>
                  <a:schemeClr val="accent1">
                    <a:lumMod val="50000"/>
                  </a:schemeClr>
                </a:solidFill>
                <a:sym typeface="+mn-ea"/>
              </a:rPr>
              <a:t> Box expands to show whole pattern if necessary.</a:t>
            </a:r>
            <a:endParaRPr lang="en-US" sz="1200">
              <a:solidFill>
                <a:schemeClr val="accent1">
                  <a:lumMod val="50000"/>
                </a:schemeClr>
              </a:solidFill>
              <a:sym typeface="+mn-ea"/>
            </a:endParaRPr>
          </a:p>
        </p:txBody>
      </p:sp>
      <p:sp>
        <p:nvSpPr>
          <p:cNvPr id="11" name="Text Box 10"/>
          <p:cNvSpPr txBox="1"/>
          <p:nvPr/>
        </p:nvSpPr>
        <p:spPr>
          <a:xfrm>
            <a:off x="8291195" y="2017395"/>
            <a:ext cx="1675130" cy="8712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Timer with</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Play/Pause</a:t>
            </a:r>
            <a:r>
              <a:rPr lang="en-US" sz="1200">
                <a:solidFill>
                  <a:schemeClr val="accent1">
                    <a:lumMod val="50000"/>
                  </a:schemeClr>
                </a:solidFill>
                <a:sym typeface="+mn-ea"/>
              </a:rPr>
              <a:t> </a:t>
            </a:r>
            <a:r>
              <a:rPr lang="en-US" sz="1200">
                <a:solidFill>
                  <a:schemeClr val="accent1">
                    <a:lumMod val="50000"/>
                  </a:schemeClr>
                </a:solidFill>
                <a:sym typeface="+mn-ea"/>
              </a:rPr>
              <a:t>option.</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Shows total time spent on piece.</a:t>
            </a:r>
            <a:endParaRPr lang="en-US" sz="1200">
              <a:solidFill>
                <a:schemeClr val="accent1">
                  <a:lumMod val="50000"/>
                </a:schemeClr>
              </a:solidFill>
              <a:sym typeface="+mn-ea"/>
            </a:endParaRPr>
          </a:p>
        </p:txBody>
      </p:sp>
      <p:grpSp>
        <p:nvGrpSpPr>
          <p:cNvPr id="45" name="Group 44"/>
          <p:cNvGrpSpPr/>
          <p:nvPr/>
        </p:nvGrpSpPr>
        <p:grpSpPr>
          <a:xfrm>
            <a:off x="3125470" y="1623060"/>
            <a:ext cx="4726305" cy="1497965"/>
            <a:chOff x="4922" y="2556"/>
            <a:chExt cx="7443" cy="2359"/>
          </a:xfrm>
        </p:grpSpPr>
        <p:sp>
          <p:nvSpPr>
            <p:cNvPr id="5" name="Rounded Rectangle 4"/>
            <p:cNvSpPr/>
            <p:nvPr/>
          </p:nvSpPr>
          <p:spPr>
            <a:xfrm>
              <a:off x="4922" y="2556"/>
              <a:ext cx="7443" cy="2359"/>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40000"/>
                    <a:lumOff val="60000"/>
                  </a:schemeClr>
                </a:solidFill>
                <a:sym typeface="+mn-ea"/>
              </a:endParaRPr>
            </a:p>
          </p:txBody>
        </p:sp>
        <p:sp>
          <p:nvSpPr>
            <p:cNvPr id="6" name="Rounded Rectangle 5"/>
            <p:cNvSpPr/>
            <p:nvPr/>
          </p:nvSpPr>
          <p:spPr>
            <a:xfrm>
              <a:off x="5064" y="2694"/>
              <a:ext cx="2666" cy="2083"/>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6" name="Rounded Rectangle 25"/>
            <p:cNvSpPr/>
            <p:nvPr/>
          </p:nvSpPr>
          <p:spPr>
            <a:xfrm>
              <a:off x="8015" y="2694"/>
              <a:ext cx="3998"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Title</a:t>
              </a:r>
              <a:endParaRPr lang="en-US">
                <a:solidFill>
                  <a:schemeClr val="accent2">
                    <a:lumMod val="20000"/>
                    <a:lumOff val="80000"/>
                  </a:schemeClr>
                </a:solidFill>
                <a:sym typeface="+mn-ea"/>
              </a:endParaRPr>
            </a:p>
          </p:txBody>
        </p:sp>
        <p:sp>
          <p:nvSpPr>
            <p:cNvPr id="28" name="Rounded Rectangle 27"/>
            <p:cNvSpPr/>
            <p:nvPr/>
          </p:nvSpPr>
          <p:spPr>
            <a:xfrm>
              <a:off x="8015" y="3398"/>
              <a:ext cx="3998"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Theme</a:t>
              </a:r>
              <a:endParaRPr lang="en-US">
                <a:solidFill>
                  <a:schemeClr val="accent2">
                    <a:lumMod val="20000"/>
                    <a:lumOff val="80000"/>
                  </a:schemeClr>
                </a:solidFill>
                <a:sym typeface="+mn-ea"/>
              </a:endParaRPr>
            </a:p>
          </p:txBody>
        </p:sp>
        <p:sp>
          <p:nvSpPr>
            <p:cNvPr id="29" name="Rounded Rectangle 28"/>
            <p:cNvSpPr/>
            <p:nvPr/>
          </p:nvSpPr>
          <p:spPr>
            <a:xfrm>
              <a:off x="8015" y="4102"/>
              <a:ext cx="3998"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Main Color</a:t>
              </a:r>
              <a:endParaRPr lang="en-US">
                <a:solidFill>
                  <a:schemeClr val="accent2">
                    <a:lumMod val="20000"/>
                    <a:lumOff val="80000"/>
                  </a:schemeClr>
                </a:solidFill>
                <a:sym typeface="+mn-ea"/>
              </a:endParaRPr>
            </a:p>
          </p:txBody>
        </p:sp>
      </p:grpSp>
      <p:sp>
        <p:nvSpPr>
          <p:cNvPr id="80" name="Title 79"/>
          <p:cNvSpPr>
            <a:spLocks noGrp="1"/>
          </p:cNvSpPr>
          <p:nvPr>
            <p:ph type="title"/>
          </p:nvPr>
        </p:nvSpPr>
        <p:spPr>
          <a:xfrm>
            <a:off x="822960" y="38100"/>
            <a:ext cx="9464040" cy="822960"/>
          </a:xfrm>
          <a:ln w="28575" cmpd="dbl">
            <a:solidFill>
              <a:schemeClr val="accent1">
                <a:lumMod val="50000"/>
              </a:schemeClr>
            </a:solidFill>
            <a:prstDash val="solid"/>
          </a:ln>
        </p:spPr>
        <p:txBody>
          <a:bodyPr vert="horz" lIns="91440" tIns="45720" rIns="91440" bIns="45720" rtlCol="0" anchor="t" anchorCtr="1">
            <a:normAutofit/>
          </a:bodyPr>
          <a:p>
            <a:pPr lvl="0" algn="l">
              <a:buClrTx/>
              <a:buSzTx/>
              <a:buFontTx/>
            </a:pPr>
            <a:r>
              <a:rPr lang="en-US">
                <a:solidFill>
                  <a:schemeClr val="accent1">
                    <a:lumMod val="50000"/>
                  </a:schemeClr>
                </a:solidFill>
                <a:sym typeface="+mn-ea"/>
              </a:rPr>
              <a:t>View Kit</a:t>
            </a:r>
            <a:endParaRPr lang="en-US">
              <a:solidFill>
                <a:schemeClr val="accent1">
                  <a:lumMod val="50000"/>
                </a:schemeClr>
              </a:solidFill>
              <a:sym typeface="+mn-ea"/>
            </a:endParaRPr>
          </a:p>
        </p:txBody>
      </p:sp>
      <p:grpSp>
        <p:nvGrpSpPr>
          <p:cNvPr id="18" name="Group 17"/>
          <p:cNvGrpSpPr/>
          <p:nvPr/>
        </p:nvGrpSpPr>
        <p:grpSpPr>
          <a:xfrm>
            <a:off x="6175375" y="3183890"/>
            <a:ext cx="1645920" cy="1334770"/>
            <a:chOff x="9725" y="5014"/>
            <a:chExt cx="2592" cy="2102"/>
          </a:xfrm>
        </p:grpSpPr>
        <p:sp>
          <p:nvSpPr>
            <p:cNvPr id="10" name="Freeform 9"/>
            <p:cNvSpPr/>
            <p:nvPr/>
          </p:nvSpPr>
          <p:spPr>
            <a:xfrm>
              <a:off x="9725" y="5014"/>
              <a:ext cx="2592" cy="2102"/>
            </a:xfrm>
            <a:custGeom>
              <a:avLst/>
              <a:gdLst>
                <a:gd name="connsiteX0" fmla="*/ 0 w 2593"/>
                <a:gd name="connsiteY0" fmla="*/ 266 h 1590"/>
                <a:gd name="connsiteX1" fmla="*/ 171 w 2593"/>
                <a:gd name="connsiteY1" fmla="*/ 0 h 1590"/>
                <a:gd name="connsiteX2" fmla="*/ 2451 w 2593"/>
                <a:gd name="connsiteY2" fmla="*/ 0 h 1590"/>
                <a:gd name="connsiteX3" fmla="*/ 2593 w 2593"/>
                <a:gd name="connsiteY3" fmla="*/ 266 h 1590"/>
                <a:gd name="connsiteX4" fmla="*/ 2593 w 2593"/>
                <a:gd name="connsiteY4" fmla="*/ 1322 h 1590"/>
                <a:gd name="connsiteX5" fmla="*/ 2421 w 2593"/>
                <a:gd name="connsiteY5" fmla="*/ 1590 h 1590"/>
                <a:gd name="connsiteX6" fmla="*/ 171 w 2593"/>
                <a:gd name="connsiteY6" fmla="*/ 1590 h 1590"/>
                <a:gd name="connsiteX7" fmla="*/ 0 w 2593"/>
                <a:gd name="connsiteY7" fmla="*/ 1322 h 1590"/>
                <a:gd name="connsiteX8" fmla="*/ 0 w 2593"/>
                <a:gd name="connsiteY8" fmla="*/ 266 h 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3" h="1590">
                  <a:moveTo>
                    <a:pt x="0" y="266"/>
                  </a:moveTo>
                  <a:cubicBezTo>
                    <a:pt x="0" y="120"/>
                    <a:pt x="25" y="0"/>
                    <a:pt x="171" y="0"/>
                  </a:cubicBezTo>
                  <a:lnTo>
                    <a:pt x="2451" y="0"/>
                  </a:lnTo>
                  <a:cubicBezTo>
                    <a:pt x="2597" y="0"/>
                    <a:pt x="2593" y="120"/>
                    <a:pt x="2593" y="266"/>
                  </a:cubicBezTo>
                  <a:lnTo>
                    <a:pt x="2593" y="1322"/>
                  </a:lnTo>
                  <a:cubicBezTo>
                    <a:pt x="2593" y="1468"/>
                    <a:pt x="2567" y="1590"/>
                    <a:pt x="2421" y="1590"/>
                  </a:cubicBezTo>
                  <a:lnTo>
                    <a:pt x="171" y="1590"/>
                  </a:lnTo>
                  <a:cubicBezTo>
                    <a:pt x="25" y="1590"/>
                    <a:pt x="0" y="1468"/>
                    <a:pt x="0" y="1322"/>
                  </a:cubicBezTo>
                  <a:lnTo>
                    <a:pt x="0" y="26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tIns="0" rtlCol="0" anchor="t" anchorCtr="1"/>
            <a:p>
              <a:pPr algn="ctr"/>
              <a:r>
                <a:rPr lang="en-US">
                  <a:solidFill>
                    <a:schemeClr val="accent2">
                      <a:lumMod val="40000"/>
                      <a:lumOff val="60000"/>
                    </a:schemeClr>
                  </a:solidFill>
                </a:rPr>
                <a:t>Pattern</a:t>
              </a:r>
              <a:endParaRPr lang="en-US">
                <a:solidFill>
                  <a:schemeClr val="accent2">
                    <a:lumMod val="40000"/>
                    <a:lumOff val="60000"/>
                  </a:schemeClr>
                </a:solidFill>
              </a:endParaRPr>
            </a:p>
          </p:txBody>
        </p:sp>
        <p:grpSp>
          <p:nvGrpSpPr>
            <p:cNvPr id="17" name="Group 16"/>
            <p:cNvGrpSpPr/>
            <p:nvPr/>
          </p:nvGrpSpPr>
          <p:grpSpPr>
            <a:xfrm>
              <a:off x="9863" y="5936"/>
              <a:ext cx="2347" cy="1117"/>
              <a:chOff x="9855" y="6095"/>
              <a:chExt cx="2347" cy="1117"/>
            </a:xfrm>
          </p:grpSpPr>
          <p:sp>
            <p:nvSpPr>
              <p:cNvPr id="30" name="Rounded Rectangle 29"/>
              <p:cNvSpPr/>
              <p:nvPr/>
            </p:nvSpPr>
            <p:spPr>
              <a:xfrm>
                <a:off x="9855" y="6102"/>
                <a:ext cx="962" cy="492"/>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solidFill>
                      <a:schemeClr val="accent2">
                        <a:lumMod val="20000"/>
                        <a:lumOff val="80000"/>
                      </a:schemeClr>
                    </a:solidFill>
                  </a:rPr>
                  <a:t>Completed</a:t>
                </a:r>
                <a:endParaRPr lang="en-US" sz="600">
                  <a:solidFill>
                    <a:schemeClr val="accent2">
                      <a:lumMod val="20000"/>
                      <a:lumOff val="80000"/>
                    </a:schemeClr>
                  </a:solidFill>
                </a:endParaRPr>
              </a:p>
              <a:p>
                <a:pPr algn="ctr"/>
                <a:r>
                  <a:rPr lang="en-US" sz="600">
                    <a:solidFill>
                      <a:schemeClr val="accent2">
                        <a:lumMod val="20000"/>
                        <a:lumOff val="80000"/>
                      </a:schemeClr>
                    </a:solidFill>
                  </a:rPr>
                  <a:t>Stitches</a:t>
                </a:r>
                <a:endParaRPr lang="en-US" sz="600">
                  <a:solidFill>
                    <a:schemeClr val="accent2">
                      <a:lumMod val="20000"/>
                      <a:lumOff val="80000"/>
                    </a:schemeClr>
                  </a:solidFill>
                </a:endParaRPr>
              </a:p>
            </p:txBody>
          </p:sp>
          <p:sp>
            <p:nvSpPr>
              <p:cNvPr id="31" name="Rounded Rectangle 30"/>
              <p:cNvSpPr/>
              <p:nvPr/>
            </p:nvSpPr>
            <p:spPr>
              <a:xfrm>
                <a:off x="11235" y="6102"/>
                <a:ext cx="962" cy="492"/>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solidFill>
                      <a:schemeClr val="accent2">
                        <a:lumMod val="20000"/>
                        <a:lumOff val="80000"/>
                      </a:schemeClr>
                    </a:solidFill>
                  </a:rPr>
                  <a:t>Total</a:t>
                </a:r>
                <a:endParaRPr lang="en-US" sz="600">
                  <a:solidFill>
                    <a:schemeClr val="accent2">
                      <a:lumMod val="20000"/>
                      <a:lumOff val="80000"/>
                    </a:schemeClr>
                  </a:solidFill>
                </a:endParaRPr>
              </a:p>
              <a:p>
                <a:pPr algn="ctr"/>
                <a:r>
                  <a:rPr lang="en-US" sz="600">
                    <a:solidFill>
                      <a:schemeClr val="accent2">
                        <a:lumMod val="20000"/>
                        <a:lumOff val="80000"/>
                      </a:schemeClr>
                    </a:solidFill>
                  </a:rPr>
                  <a:t>Stitches</a:t>
                </a:r>
                <a:endParaRPr lang="en-US" sz="600">
                  <a:solidFill>
                    <a:schemeClr val="accent2">
                      <a:lumMod val="20000"/>
                      <a:lumOff val="80000"/>
                    </a:schemeClr>
                  </a:solidFill>
                </a:endParaRPr>
              </a:p>
            </p:txBody>
          </p:sp>
          <p:cxnSp>
            <p:nvCxnSpPr>
              <p:cNvPr id="32" name="Straight Connector 31"/>
              <p:cNvCxnSpPr/>
              <p:nvPr/>
            </p:nvCxnSpPr>
            <p:spPr>
              <a:xfrm>
                <a:off x="10817" y="6095"/>
                <a:ext cx="419" cy="496"/>
              </a:xfrm>
              <a:prstGeom prst="line">
                <a:avLst/>
              </a:prstGeom>
              <a:ln w="38100">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3" name="Rounded Rectangle 32"/>
              <p:cNvSpPr/>
              <p:nvPr/>
            </p:nvSpPr>
            <p:spPr>
              <a:xfrm>
                <a:off x="9856" y="6652"/>
                <a:ext cx="2347" cy="56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400">
                    <a:solidFill>
                      <a:schemeClr val="accent2">
                        <a:lumMod val="20000"/>
                        <a:lumOff val="80000"/>
                      </a:schemeClr>
                    </a:solidFill>
                  </a:rPr>
                  <a:t>Completion %</a:t>
                </a:r>
                <a:endParaRPr lang="en-US" sz="1400">
                  <a:solidFill>
                    <a:schemeClr val="accent2">
                      <a:lumMod val="20000"/>
                      <a:lumOff val="80000"/>
                    </a:schemeClr>
                  </a:solidFill>
                </a:endParaRPr>
              </a:p>
            </p:txBody>
          </p:sp>
        </p:grpSp>
        <p:grpSp>
          <p:nvGrpSpPr>
            <p:cNvPr id="27" name="Group 26"/>
            <p:cNvGrpSpPr/>
            <p:nvPr/>
          </p:nvGrpSpPr>
          <p:grpSpPr>
            <a:xfrm rot="0">
              <a:off x="9806" y="5367"/>
              <a:ext cx="2448" cy="576"/>
              <a:chOff x="9857" y="5089"/>
              <a:chExt cx="2448" cy="717"/>
            </a:xfrm>
          </p:grpSpPr>
          <p:sp>
            <p:nvSpPr>
              <p:cNvPr id="37" name="Freeform 36"/>
              <p:cNvSpPr/>
              <p:nvPr/>
            </p:nvSpPr>
            <p:spPr>
              <a:xfrm>
                <a:off x="9857" y="5196"/>
                <a:ext cx="2448" cy="510"/>
              </a:xfrm>
              <a:custGeom>
                <a:avLst/>
                <a:gdLst>
                  <a:gd name="connsiteX0" fmla="*/ 0 w 2593"/>
                  <a:gd name="connsiteY0" fmla="*/ 266 h 1590"/>
                  <a:gd name="connsiteX1" fmla="*/ 171 w 2593"/>
                  <a:gd name="connsiteY1" fmla="*/ 0 h 1590"/>
                  <a:gd name="connsiteX2" fmla="*/ 2451 w 2593"/>
                  <a:gd name="connsiteY2" fmla="*/ 0 h 1590"/>
                  <a:gd name="connsiteX3" fmla="*/ 2593 w 2593"/>
                  <a:gd name="connsiteY3" fmla="*/ 266 h 1590"/>
                  <a:gd name="connsiteX4" fmla="*/ 2593 w 2593"/>
                  <a:gd name="connsiteY4" fmla="*/ 1322 h 1590"/>
                  <a:gd name="connsiteX5" fmla="*/ 2421 w 2593"/>
                  <a:gd name="connsiteY5" fmla="*/ 1590 h 1590"/>
                  <a:gd name="connsiteX6" fmla="*/ 171 w 2593"/>
                  <a:gd name="connsiteY6" fmla="*/ 1590 h 1590"/>
                  <a:gd name="connsiteX7" fmla="*/ 0 w 2593"/>
                  <a:gd name="connsiteY7" fmla="*/ 1322 h 1590"/>
                  <a:gd name="connsiteX8" fmla="*/ 0 w 2593"/>
                  <a:gd name="connsiteY8" fmla="*/ 266 h 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3" h="1590">
                    <a:moveTo>
                      <a:pt x="0" y="266"/>
                    </a:moveTo>
                    <a:cubicBezTo>
                      <a:pt x="0" y="120"/>
                      <a:pt x="25" y="0"/>
                      <a:pt x="171" y="0"/>
                    </a:cubicBezTo>
                    <a:lnTo>
                      <a:pt x="2451" y="0"/>
                    </a:lnTo>
                    <a:cubicBezTo>
                      <a:pt x="2597" y="0"/>
                      <a:pt x="2593" y="120"/>
                      <a:pt x="2593" y="266"/>
                    </a:cubicBezTo>
                    <a:lnTo>
                      <a:pt x="2593" y="1322"/>
                    </a:lnTo>
                    <a:cubicBezTo>
                      <a:pt x="2593" y="1468"/>
                      <a:pt x="2567" y="1590"/>
                      <a:pt x="2421" y="1590"/>
                    </a:cubicBezTo>
                    <a:lnTo>
                      <a:pt x="171" y="1590"/>
                    </a:lnTo>
                    <a:cubicBezTo>
                      <a:pt x="25" y="1590"/>
                      <a:pt x="0" y="1468"/>
                      <a:pt x="0" y="1322"/>
                    </a:cubicBezTo>
                    <a:lnTo>
                      <a:pt x="0" y="266"/>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640080" bIns="0"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00:00:00</a:t>
                </a:r>
                <a:endParaRPr lang="en-US">
                  <a:solidFill>
                    <a:schemeClr val="accent2">
                      <a:lumMod val="40000"/>
                      <a:lumOff val="60000"/>
                    </a:schemeClr>
                  </a:solidFill>
                  <a:sym typeface="+mn-ea"/>
                </a:endParaRPr>
              </a:p>
            </p:txBody>
          </p:sp>
          <p:grpSp>
            <p:nvGrpSpPr>
              <p:cNvPr id="46" name="Group 45"/>
              <p:cNvGrpSpPr/>
              <p:nvPr/>
            </p:nvGrpSpPr>
            <p:grpSpPr>
              <a:xfrm rot="0">
                <a:off x="11477" y="5089"/>
                <a:ext cx="795" cy="717"/>
                <a:chOff x="10222" y="5727"/>
                <a:chExt cx="795" cy="717"/>
              </a:xfrm>
            </p:grpSpPr>
            <p:sp>
              <p:nvSpPr>
                <p:cNvPr id="14" name="Rounded Rectangle 13"/>
                <p:cNvSpPr/>
                <p:nvPr/>
              </p:nvSpPr>
              <p:spPr>
                <a:xfrm>
                  <a:off x="10275" y="5774"/>
                  <a:ext cx="740" cy="61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600">
                    <a:solidFill>
                      <a:schemeClr val="accent2">
                        <a:lumMod val="20000"/>
                        <a:lumOff val="80000"/>
                      </a:schemeClr>
                    </a:solidFill>
                    <a:sym typeface="+mn-ea"/>
                  </a:endParaRPr>
                </a:p>
              </p:txBody>
            </p:sp>
            <p:sp>
              <p:nvSpPr>
                <p:cNvPr id="12" name="Equal 11"/>
                <p:cNvSpPr/>
                <p:nvPr/>
              </p:nvSpPr>
              <p:spPr>
                <a:xfrm rot="5400000">
                  <a:off x="10374" y="5801"/>
                  <a:ext cx="717" cy="569"/>
                </a:xfrm>
                <a:prstGeom prst="mathEqual">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13" name="Right Triangle 12"/>
                <p:cNvSpPr/>
                <p:nvPr/>
              </p:nvSpPr>
              <p:spPr>
                <a:xfrm rot="13560000">
                  <a:off x="10186" y="5943"/>
                  <a:ext cx="359" cy="288"/>
                </a:xfrm>
                <a:prstGeom prst="rtTriangl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grpSp>
        </p:grpSp>
      </p:grpSp>
      <p:cxnSp>
        <p:nvCxnSpPr>
          <p:cNvPr id="39" name="Straight Connector 38"/>
          <p:cNvCxnSpPr>
            <a:stCxn id="8" idx="3"/>
            <a:endCxn id="7" idx="0"/>
          </p:cNvCxnSpPr>
          <p:nvPr/>
        </p:nvCxnSpPr>
        <p:spPr>
          <a:xfrm>
            <a:off x="2468880" y="3404235"/>
            <a:ext cx="664845" cy="1651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 name="Text Box 2"/>
          <p:cNvSpPr txBox="1"/>
          <p:nvPr/>
        </p:nvSpPr>
        <p:spPr>
          <a:xfrm>
            <a:off x="335915" y="5156835"/>
            <a:ext cx="2072640" cy="15671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pattern has multiple parts to be assembled, this box should show the name of the parts, and allow the pattern window to show the currently selected part. Order of pieces should be determined by order used when creating pattern.</a:t>
            </a:r>
            <a:endParaRPr lang="en-US" sz="1200">
              <a:solidFill>
                <a:schemeClr val="accent1">
                  <a:lumMod val="50000"/>
                </a:schemeClr>
              </a:solidFill>
              <a:sym typeface="+mn-ea"/>
            </a:endParaRPr>
          </a:p>
        </p:txBody>
      </p:sp>
      <p:cxnSp>
        <p:nvCxnSpPr>
          <p:cNvPr id="4" name="Straight Connector 3"/>
          <p:cNvCxnSpPr>
            <a:stCxn id="2" idx="0"/>
            <a:endCxn id="3" idx="3"/>
          </p:cNvCxnSpPr>
          <p:nvPr/>
        </p:nvCxnSpPr>
        <p:spPr>
          <a:xfrm flipH="1" flipV="1">
            <a:off x="2408555" y="5940425"/>
            <a:ext cx="797560" cy="69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49" name="Group 48"/>
          <p:cNvGrpSpPr/>
          <p:nvPr/>
        </p:nvGrpSpPr>
        <p:grpSpPr>
          <a:xfrm>
            <a:off x="3206115" y="5921375"/>
            <a:ext cx="2876550" cy="415290"/>
            <a:chOff x="5064" y="9325"/>
            <a:chExt cx="4530" cy="654"/>
          </a:xfrm>
        </p:grpSpPr>
        <p:sp>
          <p:nvSpPr>
            <p:cNvPr id="2" name="Freeform 1"/>
            <p:cNvSpPr/>
            <p:nvPr/>
          </p:nvSpPr>
          <p:spPr>
            <a:xfrm>
              <a:off x="5064" y="9325"/>
              <a:ext cx="4531" cy="654"/>
            </a:xfrm>
            <a:custGeom>
              <a:avLst/>
              <a:gdLst>
                <a:gd name="connsiteX0" fmla="*/ 0 w 4740"/>
                <a:gd name="connsiteY0" fmla="*/ 450 h 7200"/>
                <a:gd name="connsiteX1" fmla="*/ 779 w 4740"/>
                <a:gd name="connsiteY1" fmla="*/ 1 h 7200"/>
                <a:gd name="connsiteX2" fmla="*/ 4110 w 4740"/>
                <a:gd name="connsiteY2" fmla="*/ 0 h 7200"/>
                <a:gd name="connsiteX3" fmla="*/ 4740 w 4740"/>
                <a:gd name="connsiteY3" fmla="*/ 540 h 7200"/>
                <a:gd name="connsiteX4" fmla="*/ 4740 w 4740"/>
                <a:gd name="connsiteY4" fmla="*/ 6540 h 7200"/>
                <a:gd name="connsiteX5" fmla="*/ 4200 w 4740"/>
                <a:gd name="connsiteY5" fmla="*/ 7200 h 7200"/>
                <a:gd name="connsiteX6" fmla="*/ 660 w 4740"/>
                <a:gd name="connsiteY6" fmla="*/ 7200 h 7200"/>
                <a:gd name="connsiteX7" fmla="*/ 0 w 4740"/>
                <a:gd name="connsiteY7" fmla="*/ 6660 h 7200"/>
                <a:gd name="connsiteX8" fmla="*/ 0 w 4740"/>
                <a:gd name="connsiteY8" fmla="*/ 450 h 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0" h="7200">
                  <a:moveTo>
                    <a:pt x="0" y="450"/>
                  </a:moveTo>
                  <a:cubicBezTo>
                    <a:pt x="0" y="13"/>
                    <a:pt x="342" y="1"/>
                    <a:pt x="779" y="1"/>
                  </a:cubicBezTo>
                  <a:lnTo>
                    <a:pt x="4110" y="0"/>
                  </a:lnTo>
                  <a:cubicBezTo>
                    <a:pt x="4547" y="0"/>
                    <a:pt x="4740" y="103"/>
                    <a:pt x="4740" y="540"/>
                  </a:cubicBezTo>
                  <a:lnTo>
                    <a:pt x="4740" y="6540"/>
                  </a:lnTo>
                  <a:cubicBezTo>
                    <a:pt x="4740" y="6977"/>
                    <a:pt x="4637" y="7200"/>
                    <a:pt x="4200" y="7200"/>
                  </a:cubicBezTo>
                  <a:lnTo>
                    <a:pt x="660" y="7200"/>
                  </a:lnTo>
                  <a:cubicBezTo>
                    <a:pt x="223" y="7200"/>
                    <a:pt x="0" y="7097"/>
                    <a:pt x="0" y="6660"/>
                  </a:cubicBezTo>
                  <a:lnTo>
                    <a:pt x="0" y="450"/>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Pattern Piece</a:t>
              </a:r>
              <a:endParaRPr lang="en-US">
                <a:solidFill>
                  <a:schemeClr val="accent2">
                    <a:lumMod val="40000"/>
                    <a:lumOff val="60000"/>
                  </a:schemeClr>
                </a:solidFill>
                <a:sym typeface="+mn-ea"/>
              </a:endParaRPr>
            </a:p>
          </p:txBody>
        </p:sp>
        <p:sp>
          <p:nvSpPr>
            <p:cNvPr id="9" name="Right Triangle 8"/>
            <p:cNvSpPr/>
            <p:nvPr/>
          </p:nvSpPr>
          <p:spPr>
            <a:xfrm rot="2580000">
              <a:off x="5184" y="9469"/>
              <a:ext cx="325" cy="347"/>
            </a:xfrm>
            <a:prstGeom prst="rtTriangl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15" name="Right Triangle 14"/>
            <p:cNvSpPr/>
            <p:nvPr/>
          </p:nvSpPr>
          <p:spPr>
            <a:xfrm rot="13440000">
              <a:off x="9150" y="9469"/>
              <a:ext cx="325" cy="347"/>
            </a:xfrm>
            <a:prstGeom prst="rtTriangl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grpSp>
      <p:sp>
        <p:nvSpPr>
          <p:cNvPr id="43" name="Text Box 42"/>
          <p:cNvSpPr txBox="1"/>
          <p:nvPr/>
        </p:nvSpPr>
        <p:spPr>
          <a:xfrm>
            <a:off x="8465185" y="3881755"/>
            <a:ext cx="1876425" cy="83439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Gives completion percentage of pattern/currently selected pattern piece.</a:t>
            </a:r>
            <a:endParaRPr lang="en-US" sz="1200">
              <a:solidFill>
                <a:schemeClr val="accent1">
                  <a:lumMod val="50000"/>
                </a:schemeClr>
              </a:solidFill>
              <a:sym typeface="+mn-ea"/>
            </a:endParaRPr>
          </a:p>
        </p:txBody>
      </p:sp>
      <p:cxnSp>
        <p:nvCxnSpPr>
          <p:cNvPr id="44" name="Straight Connector 43"/>
          <p:cNvCxnSpPr>
            <a:stCxn id="53" idx="3"/>
            <a:endCxn id="43" idx="1"/>
          </p:cNvCxnSpPr>
          <p:nvPr/>
        </p:nvCxnSpPr>
        <p:spPr>
          <a:xfrm flipV="1">
            <a:off x="7820660" y="4298950"/>
            <a:ext cx="644525" cy="6813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8" name="Straight Connector 47"/>
          <p:cNvCxnSpPr>
            <a:stCxn id="10" idx="3"/>
            <a:endCxn id="43" idx="1"/>
          </p:cNvCxnSpPr>
          <p:nvPr/>
        </p:nvCxnSpPr>
        <p:spPr>
          <a:xfrm>
            <a:off x="7821295" y="3407410"/>
            <a:ext cx="643890" cy="8915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64" name="Text Box 63"/>
          <p:cNvSpPr txBox="1"/>
          <p:nvPr/>
        </p:nvSpPr>
        <p:spPr>
          <a:xfrm>
            <a:off x="8465185" y="4872355"/>
            <a:ext cx="1876425" cy="83439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Shows time spent on individual piece</a:t>
            </a:r>
            <a:endParaRPr lang="en-US" sz="1200">
              <a:solidFill>
                <a:schemeClr val="accent1">
                  <a:lumMod val="50000"/>
                </a:schemeClr>
              </a:solidFill>
              <a:sym typeface="+mn-ea"/>
            </a:endParaRPr>
          </a:p>
        </p:txBody>
      </p:sp>
      <p:cxnSp>
        <p:nvCxnSpPr>
          <p:cNvPr id="65" name="Straight Connector 64"/>
          <p:cNvCxnSpPr>
            <a:stCxn id="59" idx="3"/>
            <a:endCxn id="64" idx="1"/>
          </p:cNvCxnSpPr>
          <p:nvPr/>
        </p:nvCxnSpPr>
        <p:spPr>
          <a:xfrm>
            <a:off x="7776845" y="5107940"/>
            <a:ext cx="688340" cy="18161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0" name="Straight Connector 39"/>
          <p:cNvCxnSpPr>
            <a:stCxn id="14" idx="0"/>
            <a:endCxn id="11" idx="1"/>
          </p:cNvCxnSpPr>
          <p:nvPr/>
        </p:nvCxnSpPr>
        <p:spPr>
          <a:xfrm flipV="1">
            <a:off x="7524115" y="2453005"/>
            <a:ext cx="767080" cy="9791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19" name="Group 18"/>
          <p:cNvGrpSpPr/>
          <p:nvPr/>
        </p:nvGrpSpPr>
        <p:grpSpPr>
          <a:xfrm>
            <a:off x="6175375" y="4543425"/>
            <a:ext cx="1645920" cy="1334770"/>
            <a:chOff x="9725" y="5014"/>
            <a:chExt cx="2592" cy="2102"/>
          </a:xfrm>
        </p:grpSpPr>
        <p:sp>
          <p:nvSpPr>
            <p:cNvPr id="20" name="Freeform 19"/>
            <p:cNvSpPr/>
            <p:nvPr/>
          </p:nvSpPr>
          <p:spPr>
            <a:xfrm>
              <a:off x="9725" y="5014"/>
              <a:ext cx="2592" cy="2102"/>
            </a:xfrm>
            <a:custGeom>
              <a:avLst/>
              <a:gdLst>
                <a:gd name="connsiteX0" fmla="*/ 0 w 2593"/>
                <a:gd name="connsiteY0" fmla="*/ 266 h 1590"/>
                <a:gd name="connsiteX1" fmla="*/ 171 w 2593"/>
                <a:gd name="connsiteY1" fmla="*/ 0 h 1590"/>
                <a:gd name="connsiteX2" fmla="*/ 2451 w 2593"/>
                <a:gd name="connsiteY2" fmla="*/ 0 h 1590"/>
                <a:gd name="connsiteX3" fmla="*/ 2593 w 2593"/>
                <a:gd name="connsiteY3" fmla="*/ 266 h 1590"/>
                <a:gd name="connsiteX4" fmla="*/ 2593 w 2593"/>
                <a:gd name="connsiteY4" fmla="*/ 1322 h 1590"/>
                <a:gd name="connsiteX5" fmla="*/ 2421 w 2593"/>
                <a:gd name="connsiteY5" fmla="*/ 1590 h 1590"/>
                <a:gd name="connsiteX6" fmla="*/ 171 w 2593"/>
                <a:gd name="connsiteY6" fmla="*/ 1590 h 1590"/>
                <a:gd name="connsiteX7" fmla="*/ 0 w 2593"/>
                <a:gd name="connsiteY7" fmla="*/ 1322 h 1590"/>
                <a:gd name="connsiteX8" fmla="*/ 0 w 2593"/>
                <a:gd name="connsiteY8" fmla="*/ 266 h 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3" h="1590">
                  <a:moveTo>
                    <a:pt x="0" y="266"/>
                  </a:moveTo>
                  <a:cubicBezTo>
                    <a:pt x="0" y="120"/>
                    <a:pt x="25" y="0"/>
                    <a:pt x="171" y="0"/>
                  </a:cubicBezTo>
                  <a:lnTo>
                    <a:pt x="2451" y="0"/>
                  </a:lnTo>
                  <a:cubicBezTo>
                    <a:pt x="2597" y="0"/>
                    <a:pt x="2593" y="120"/>
                    <a:pt x="2593" y="266"/>
                  </a:cubicBezTo>
                  <a:lnTo>
                    <a:pt x="2593" y="1322"/>
                  </a:lnTo>
                  <a:cubicBezTo>
                    <a:pt x="2593" y="1468"/>
                    <a:pt x="2567" y="1590"/>
                    <a:pt x="2421" y="1590"/>
                  </a:cubicBezTo>
                  <a:lnTo>
                    <a:pt x="171" y="1590"/>
                  </a:lnTo>
                  <a:cubicBezTo>
                    <a:pt x="25" y="1590"/>
                    <a:pt x="0" y="1468"/>
                    <a:pt x="0" y="1322"/>
                  </a:cubicBezTo>
                  <a:lnTo>
                    <a:pt x="0" y="266"/>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tIns="0" rtlCol="0" anchor="t" anchorCtr="1"/>
            <a:p>
              <a:pPr algn="ctr"/>
              <a:r>
                <a:rPr lang="en-US">
                  <a:solidFill>
                    <a:schemeClr val="accent2">
                      <a:lumMod val="40000"/>
                      <a:lumOff val="60000"/>
                    </a:schemeClr>
                  </a:solidFill>
                </a:rPr>
                <a:t>Piece</a:t>
              </a:r>
              <a:endParaRPr lang="en-US">
                <a:solidFill>
                  <a:schemeClr val="accent2">
                    <a:lumMod val="40000"/>
                    <a:lumOff val="60000"/>
                  </a:schemeClr>
                </a:solidFill>
              </a:endParaRPr>
            </a:p>
          </p:txBody>
        </p:sp>
        <p:grpSp>
          <p:nvGrpSpPr>
            <p:cNvPr id="21" name="Group 20"/>
            <p:cNvGrpSpPr/>
            <p:nvPr/>
          </p:nvGrpSpPr>
          <p:grpSpPr>
            <a:xfrm>
              <a:off x="9863" y="5936"/>
              <a:ext cx="2347" cy="1117"/>
              <a:chOff x="9855" y="6095"/>
              <a:chExt cx="2347" cy="1117"/>
            </a:xfrm>
          </p:grpSpPr>
          <p:sp>
            <p:nvSpPr>
              <p:cNvPr id="22" name="Rounded Rectangle 21"/>
              <p:cNvSpPr/>
              <p:nvPr/>
            </p:nvSpPr>
            <p:spPr>
              <a:xfrm>
                <a:off x="9855" y="6102"/>
                <a:ext cx="962" cy="492"/>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solidFill>
                      <a:schemeClr val="accent2">
                        <a:lumMod val="20000"/>
                        <a:lumOff val="80000"/>
                      </a:schemeClr>
                    </a:solidFill>
                  </a:rPr>
                  <a:t>Completed</a:t>
                </a:r>
                <a:endParaRPr lang="en-US" sz="600">
                  <a:solidFill>
                    <a:schemeClr val="accent2">
                      <a:lumMod val="20000"/>
                      <a:lumOff val="80000"/>
                    </a:schemeClr>
                  </a:solidFill>
                </a:endParaRPr>
              </a:p>
              <a:p>
                <a:pPr algn="ctr"/>
                <a:r>
                  <a:rPr lang="en-US" sz="600">
                    <a:solidFill>
                      <a:schemeClr val="accent2">
                        <a:lumMod val="20000"/>
                        <a:lumOff val="80000"/>
                      </a:schemeClr>
                    </a:solidFill>
                  </a:rPr>
                  <a:t>Stitches</a:t>
                </a:r>
                <a:endParaRPr lang="en-US" sz="600">
                  <a:solidFill>
                    <a:schemeClr val="accent2">
                      <a:lumMod val="20000"/>
                      <a:lumOff val="80000"/>
                    </a:schemeClr>
                  </a:solidFill>
                </a:endParaRPr>
              </a:p>
            </p:txBody>
          </p:sp>
          <p:sp>
            <p:nvSpPr>
              <p:cNvPr id="23" name="Rounded Rectangle 22"/>
              <p:cNvSpPr/>
              <p:nvPr/>
            </p:nvSpPr>
            <p:spPr>
              <a:xfrm>
                <a:off x="11235" y="6102"/>
                <a:ext cx="962" cy="492"/>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solidFill>
                      <a:schemeClr val="accent2">
                        <a:lumMod val="20000"/>
                        <a:lumOff val="80000"/>
                      </a:schemeClr>
                    </a:solidFill>
                  </a:rPr>
                  <a:t>Total</a:t>
                </a:r>
                <a:endParaRPr lang="en-US" sz="600">
                  <a:solidFill>
                    <a:schemeClr val="accent2">
                      <a:lumMod val="20000"/>
                      <a:lumOff val="80000"/>
                    </a:schemeClr>
                  </a:solidFill>
                </a:endParaRPr>
              </a:p>
              <a:p>
                <a:pPr algn="ctr"/>
                <a:r>
                  <a:rPr lang="en-US" sz="600">
                    <a:solidFill>
                      <a:schemeClr val="accent2">
                        <a:lumMod val="20000"/>
                        <a:lumOff val="80000"/>
                      </a:schemeClr>
                    </a:solidFill>
                  </a:rPr>
                  <a:t>Stitches</a:t>
                </a:r>
                <a:endParaRPr lang="en-US" sz="600">
                  <a:solidFill>
                    <a:schemeClr val="accent2">
                      <a:lumMod val="20000"/>
                      <a:lumOff val="80000"/>
                    </a:schemeClr>
                  </a:solidFill>
                </a:endParaRPr>
              </a:p>
            </p:txBody>
          </p:sp>
          <p:cxnSp>
            <p:nvCxnSpPr>
              <p:cNvPr id="25" name="Straight Connector 24"/>
              <p:cNvCxnSpPr/>
              <p:nvPr/>
            </p:nvCxnSpPr>
            <p:spPr>
              <a:xfrm>
                <a:off x="10817" y="6095"/>
                <a:ext cx="419" cy="496"/>
              </a:xfrm>
              <a:prstGeom prst="line">
                <a:avLst/>
              </a:prstGeom>
              <a:ln w="38100">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4" name="Rounded Rectangle 33"/>
              <p:cNvSpPr/>
              <p:nvPr/>
            </p:nvSpPr>
            <p:spPr>
              <a:xfrm>
                <a:off x="9856" y="6652"/>
                <a:ext cx="2347" cy="56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400">
                    <a:solidFill>
                      <a:schemeClr val="accent2">
                        <a:lumMod val="20000"/>
                        <a:lumOff val="80000"/>
                      </a:schemeClr>
                    </a:solidFill>
                  </a:rPr>
                  <a:t>Completion %</a:t>
                </a:r>
                <a:endParaRPr lang="en-US" sz="1400">
                  <a:solidFill>
                    <a:schemeClr val="accent2">
                      <a:lumMod val="20000"/>
                      <a:lumOff val="80000"/>
                    </a:schemeClr>
                  </a:solidFill>
                </a:endParaRPr>
              </a:p>
            </p:txBody>
          </p:sp>
        </p:grpSp>
        <p:grpSp>
          <p:nvGrpSpPr>
            <p:cNvPr id="35" name="Group 34"/>
            <p:cNvGrpSpPr/>
            <p:nvPr/>
          </p:nvGrpSpPr>
          <p:grpSpPr>
            <a:xfrm rot="0">
              <a:off x="9806" y="5367"/>
              <a:ext cx="2448" cy="576"/>
              <a:chOff x="9857" y="5089"/>
              <a:chExt cx="2448" cy="717"/>
            </a:xfrm>
          </p:grpSpPr>
          <p:sp>
            <p:nvSpPr>
              <p:cNvPr id="36" name="Freeform 35"/>
              <p:cNvSpPr/>
              <p:nvPr/>
            </p:nvSpPr>
            <p:spPr>
              <a:xfrm>
                <a:off x="9857" y="5196"/>
                <a:ext cx="2448" cy="510"/>
              </a:xfrm>
              <a:custGeom>
                <a:avLst/>
                <a:gdLst>
                  <a:gd name="connsiteX0" fmla="*/ 0 w 2593"/>
                  <a:gd name="connsiteY0" fmla="*/ 266 h 1590"/>
                  <a:gd name="connsiteX1" fmla="*/ 171 w 2593"/>
                  <a:gd name="connsiteY1" fmla="*/ 0 h 1590"/>
                  <a:gd name="connsiteX2" fmla="*/ 2451 w 2593"/>
                  <a:gd name="connsiteY2" fmla="*/ 0 h 1590"/>
                  <a:gd name="connsiteX3" fmla="*/ 2593 w 2593"/>
                  <a:gd name="connsiteY3" fmla="*/ 266 h 1590"/>
                  <a:gd name="connsiteX4" fmla="*/ 2593 w 2593"/>
                  <a:gd name="connsiteY4" fmla="*/ 1322 h 1590"/>
                  <a:gd name="connsiteX5" fmla="*/ 2421 w 2593"/>
                  <a:gd name="connsiteY5" fmla="*/ 1590 h 1590"/>
                  <a:gd name="connsiteX6" fmla="*/ 171 w 2593"/>
                  <a:gd name="connsiteY6" fmla="*/ 1590 h 1590"/>
                  <a:gd name="connsiteX7" fmla="*/ 0 w 2593"/>
                  <a:gd name="connsiteY7" fmla="*/ 1322 h 1590"/>
                  <a:gd name="connsiteX8" fmla="*/ 0 w 2593"/>
                  <a:gd name="connsiteY8" fmla="*/ 266 h 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3" h="1590">
                    <a:moveTo>
                      <a:pt x="0" y="266"/>
                    </a:moveTo>
                    <a:cubicBezTo>
                      <a:pt x="0" y="120"/>
                      <a:pt x="25" y="0"/>
                      <a:pt x="171" y="0"/>
                    </a:cubicBezTo>
                    <a:lnTo>
                      <a:pt x="2451" y="0"/>
                    </a:lnTo>
                    <a:cubicBezTo>
                      <a:pt x="2597" y="0"/>
                      <a:pt x="2593" y="120"/>
                      <a:pt x="2593" y="266"/>
                    </a:cubicBezTo>
                    <a:lnTo>
                      <a:pt x="2593" y="1322"/>
                    </a:lnTo>
                    <a:cubicBezTo>
                      <a:pt x="2593" y="1468"/>
                      <a:pt x="2567" y="1590"/>
                      <a:pt x="2421" y="1590"/>
                    </a:cubicBezTo>
                    <a:lnTo>
                      <a:pt x="171" y="1590"/>
                    </a:lnTo>
                    <a:cubicBezTo>
                      <a:pt x="25" y="1590"/>
                      <a:pt x="0" y="1468"/>
                      <a:pt x="0" y="1322"/>
                    </a:cubicBezTo>
                    <a:lnTo>
                      <a:pt x="0" y="266"/>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640080" bIns="0"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00:00:00</a:t>
                </a:r>
                <a:endParaRPr lang="en-US">
                  <a:solidFill>
                    <a:schemeClr val="accent2">
                      <a:lumMod val="40000"/>
                      <a:lumOff val="60000"/>
                    </a:schemeClr>
                  </a:solidFill>
                  <a:sym typeface="+mn-ea"/>
                </a:endParaRPr>
              </a:p>
            </p:txBody>
          </p:sp>
          <p:grpSp>
            <p:nvGrpSpPr>
              <p:cNvPr id="38" name="Group 37"/>
              <p:cNvGrpSpPr/>
              <p:nvPr/>
            </p:nvGrpSpPr>
            <p:grpSpPr>
              <a:xfrm rot="0">
                <a:off x="11477" y="5089"/>
                <a:ext cx="795" cy="717"/>
                <a:chOff x="10222" y="5727"/>
                <a:chExt cx="795" cy="717"/>
              </a:xfrm>
            </p:grpSpPr>
            <p:sp>
              <p:nvSpPr>
                <p:cNvPr id="41" name="Rounded Rectangle 40"/>
                <p:cNvSpPr/>
                <p:nvPr/>
              </p:nvSpPr>
              <p:spPr>
                <a:xfrm>
                  <a:off x="10275" y="5774"/>
                  <a:ext cx="740" cy="61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600">
                    <a:solidFill>
                      <a:schemeClr val="accent2">
                        <a:lumMod val="20000"/>
                        <a:lumOff val="80000"/>
                      </a:schemeClr>
                    </a:solidFill>
                    <a:sym typeface="+mn-ea"/>
                  </a:endParaRPr>
                </a:p>
              </p:txBody>
            </p:sp>
            <p:sp>
              <p:nvSpPr>
                <p:cNvPr id="42" name="Equal 41"/>
                <p:cNvSpPr/>
                <p:nvPr/>
              </p:nvSpPr>
              <p:spPr>
                <a:xfrm rot="5400000">
                  <a:off x="10374" y="5801"/>
                  <a:ext cx="717" cy="569"/>
                </a:xfrm>
                <a:prstGeom prst="mathEqual">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47" name="Right Triangle 46"/>
                <p:cNvSpPr/>
                <p:nvPr/>
              </p:nvSpPr>
              <p:spPr>
                <a:xfrm rot="13560000">
                  <a:off x="10186" y="5943"/>
                  <a:ext cx="359" cy="288"/>
                </a:xfrm>
                <a:prstGeom prst="rtTriangl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grpSp>
        </p:grpSp>
      </p:grpSp>
      <p:sp>
        <p:nvSpPr>
          <p:cNvPr id="60" name="Freeform 59"/>
          <p:cNvSpPr/>
          <p:nvPr/>
        </p:nvSpPr>
        <p:spPr>
          <a:xfrm>
            <a:off x="6178550" y="5942330"/>
            <a:ext cx="1637665" cy="410845"/>
          </a:xfrm>
          <a:custGeom>
            <a:avLst/>
            <a:gdLst>
              <a:gd name="connsiteX0" fmla="*/ 0 w 4740"/>
              <a:gd name="connsiteY0" fmla="*/ 450 h 7200"/>
              <a:gd name="connsiteX1" fmla="*/ 779 w 4740"/>
              <a:gd name="connsiteY1" fmla="*/ 1 h 7200"/>
              <a:gd name="connsiteX2" fmla="*/ 4110 w 4740"/>
              <a:gd name="connsiteY2" fmla="*/ 0 h 7200"/>
              <a:gd name="connsiteX3" fmla="*/ 4740 w 4740"/>
              <a:gd name="connsiteY3" fmla="*/ 540 h 7200"/>
              <a:gd name="connsiteX4" fmla="*/ 4740 w 4740"/>
              <a:gd name="connsiteY4" fmla="*/ 6540 h 7200"/>
              <a:gd name="connsiteX5" fmla="*/ 4200 w 4740"/>
              <a:gd name="connsiteY5" fmla="*/ 7200 h 7200"/>
              <a:gd name="connsiteX6" fmla="*/ 660 w 4740"/>
              <a:gd name="connsiteY6" fmla="*/ 7200 h 7200"/>
              <a:gd name="connsiteX7" fmla="*/ 0 w 4740"/>
              <a:gd name="connsiteY7" fmla="*/ 6660 h 7200"/>
              <a:gd name="connsiteX8" fmla="*/ 0 w 4740"/>
              <a:gd name="connsiteY8" fmla="*/ 450 h 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0" h="7200">
                <a:moveTo>
                  <a:pt x="0" y="450"/>
                </a:moveTo>
                <a:cubicBezTo>
                  <a:pt x="0" y="13"/>
                  <a:pt x="342" y="1"/>
                  <a:pt x="779" y="1"/>
                </a:cubicBezTo>
                <a:lnTo>
                  <a:pt x="4110" y="0"/>
                </a:lnTo>
                <a:cubicBezTo>
                  <a:pt x="4547" y="0"/>
                  <a:pt x="4740" y="103"/>
                  <a:pt x="4740" y="540"/>
                </a:cubicBezTo>
                <a:lnTo>
                  <a:pt x="4740" y="6540"/>
                </a:lnTo>
                <a:cubicBezTo>
                  <a:pt x="4740" y="6977"/>
                  <a:pt x="4637" y="7200"/>
                  <a:pt x="4200" y="7200"/>
                </a:cubicBezTo>
                <a:lnTo>
                  <a:pt x="660" y="7200"/>
                </a:lnTo>
                <a:cubicBezTo>
                  <a:pt x="223" y="7200"/>
                  <a:pt x="0" y="7097"/>
                  <a:pt x="0" y="6660"/>
                </a:cubicBezTo>
                <a:lnTo>
                  <a:pt x="0" y="45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Complete</a:t>
            </a:r>
            <a:endParaRPr lang="en-US">
              <a:solidFill>
                <a:schemeClr val="accent2">
                  <a:lumMod val="40000"/>
                  <a:lumOff val="60000"/>
                </a:schemeClr>
              </a:solidFill>
              <a:sym typeface="+mn-ea"/>
            </a:endParaRPr>
          </a:p>
        </p:txBody>
      </p:sp>
      <p:grpSp>
        <p:nvGrpSpPr>
          <p:cNvPr id="16" name="Group 15"/>
          <p:cNvGrpSpPr/>
          <p:nvPr/>
        </p:nvGrpSpPr>
        <p:grpSpPr>
          <a:xfrm>
            <a:off x="3199130" y="6353175"/>
            <a:ext cx="2876550" cy="415290"/>
            <a:chOff x="5064" y="9325"/>
            <a:chExt cx="4530" cy="654"/>
          </a:xfrm>
        </p:grpSpPr>
        <p:sp>
          <p:nvSpPr>
            <p:cNvPr id="24" name="Freeform 23"/>
            <p:cNvSpPr/>
            <p:nvPr/>
          </p:nvSpPr>
          <p:spPr>
            <a:xfrm>
              <a:off x="5064" y="9325"/>
              <a:ext cx="4531" cy="654"/>
            </a:xfrm>
            <a:custGeom>
              <a:avLst/>
              <a:gdLst>
                <a:gd name="connsiteX0" fmla="*/ 0 w 4740"/>
                <a:gd name="connsiteY0" fmla="*/ 450 h 7200"/>
                <a:gd name="connsiteX1" fmla="*/ 779 w 4740"/>
                <a:gd name="connsiteY1" fmla="*/ 1 h 7200"/>
                <a:gd name="connsiteX2" fmla="*/ 4110 w 4740"/>
                <a:gd name="connsiteY2" fmla="*/ 0 h 7200"/>
                <a:gd name="connsiteX3" fmla="*/ 4740 w 4740"/>
                <a:gd name="connsiteY3" fmla="*/ 540 h 7200"/>
                <a:gd name="connsiteX4" fmla="*/ 4740 w 4740"/>
                <a:gd name="connsiteY4" fmla="*/ 6540 h 7200"/>
                <a:gd name="connsiteX5" fmla="*/ 4200 w 4740"/>
                <a:gd name="connsiteY5" fmla="*/ 7200 h 7200"/>
                <a:gd name="connsiteX6" fmla="*/ 660 w 4740"/>
                <a:gd name="connsiteY6" fmla="*/ 7200 h 7200"/>
                <a:gd name="connsiteX7" fmla="*/ 0 w 4740"/>
                <a:gd name="connsiteY7" fmla="*/ 6660 h 7200"/>
                <a:gd name="connsiteX8" fmla="*/ 0 w 4740"/>
                <a:gd name="connsiteY8" fmla="*/ 450 h 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0" h="7200">
                  <a:moveTo>
                    <a:pt x="0" y="450"/>
                  </a:moveTo>
                  <a:cubicBezTo>
                    <a:pt x="0" y="13"/>
                    <a:pt x="342" y="1"/>
                    <a:pt x="779" y="1"/>
                  </a:cubicBezTo>
                  <a:lnTo>
                    <a:pt x="4110" y="0"/>
                  </a:lnTo>
                  <a:cubicBezTo>
                    <a:pt x="4547" y="0"/>
                    <a:pt x="4740" y="103"/>
                    <a:pt x="4740" y="540"/>
                  </a:cubicBezTo>
                  <a:lnTo>
                    <a:pt x="4740" y="6540"/>
                  </a:lnTo>
                  <a:cubicBezTo>
                    <a:pt x="4740" y="6977"/>
                    <a:pt x="4637" y="7200"/>
                    <a:pt x="4200" y="7200"/>
                  </a:cubicBezTo>
                  <a:lnTo>
                    <a:pt x="660" y="7200"/>
                  </a:lnTo>
                  <a:cubicBezTo>
                    <a:pt x="223" y="7200"/>
                    <a:pt x="0" y="7097"/>
                    <a:pt x="0" y="6660"/>
                  </a:cubicBezTo>
                  <a:lnTo>
                    <a:pt x="0" y="450"/>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Kit Piece</a:t>
              </a:r>
              <a:endParaRPr lang="en-US">
                <a:solidFill>
                  <a:schemeClr val="accent2">
                    <a:lumMod val="40000"/>
                    <a:lumOff val="60000"/>
                  </a:schemeClr>
                </a:solidFill>
                <a:sym typeface="+mn-ea"/>
              </a:endParaRPr>
            </a:p>
          </p:txBody>
        </p:sp>
        <p:sp>
          <p:nvSpPr>
            <p:cNvPr id="50" name="Right Triangle 49"/>
            <p:cNvSpPr/>
            <p:nvPr/>
          </p:nvSpPr>
          <p:spPr>
            <a:xfrm rot="2580000">
              <a:off x="5184" y="9469"/>
              <a:ext cx="325" cy="347"/>
            </a:xfrm>
            <a:prstGeom prst="rtTriangl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51" name="Right Triangle 50"/>
            <p:cNvSpPr/>
            <p:nvPr/>
          </p:nvSpPr>
          <p:spPr>
            <a:xfrm rot="13440000">
              <a:off x="9150" y="9469"/>
              <a:ext cx="325" cy="347"/>
            </a:xfrm>
            <a:prstGeom prst="rtTriangl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grpSp>
      <p:sp>
        <p:nvSpPr>
          <p:cNvPr id="52" name="Text Box 51"/>
          <p:cNvSpPr txBox="1"/>
          <p:nvPr/>
        </p:nvSpPr>
        <p:spPr>
          <a:xfrm>
            <a:off x="8410575" y="5972175"/>
            <a:ext cx="1876425" cy="83439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Moves kit to archive list, even if not complete. Does not close page.</a:t>
            </a:r>
            <a:endParaRPr lang="en-US" sz="1200">
              <a:solidFill>
                <a:schemeClr val="accent1">
                  <a:lumMod val="50000"/>
                </a:schemeClr>
              </a:solidFill>
              <a:sym typeface="+mn-ea"/>
            </a:endParaRPr>
          </a:p>
        </p:txBody>
      </p:sp>
      <p:cxnSp>
        <p:nvCxnSpPr>
          <p:cNvPr id="53" name="Straight Connector 52"/>
          <p:cNvCxnSpPr>
            <a:stCxn id="60" idx="4"/>
            <a:endCxn id="52" idx="1"/>
          </p:cNvCxnSpPr>
          <p:nvPr/>
        </p:nvCxnSpPr>
        <p:spPr>
          <a:xfrm>
            <a:off x="7816215" y="6315710"/>
            <a:ext cx="594360" cy="7366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54" name="Freeform 53"/>
          <p:cNvSpPr/>
          <p:nvPr/>
        </p:nvSpPr>
        <p:spPr>
          <a:xfrm>
            <a:off x="3194050" y="3263265"/>
            <a:ext cx="2846705" cy="2618740"/>
          </a:xfrm>
          <a:custGeom>
            <a:avLst/>
            <a:gdLst>
              <a:gd name="connsiteX0" fmla="*/ 0 w 4483"/>
              <a:gd name="connsiteY0" fmla="*/ 418 h 4124"/>
              <a:gd name="connsiteX1" fmla="*/ 389 w 4483"/>
              <a:gd name="connsiteY1" fmla="*/ 0 h 4124"/>
              <a:gd name="connsiteX2" fmla="*/ 4094 w 4483"/>
              <a:gd name="connsiteY2" fmla="*/ 0 h 4124"/>
              <a:gd name="connsiteX3" fmla="*/ 4483 w 4483"/>
              <a:gd name="connsiteY3" fmla="*/ 389 h 4124"/>
              <a:gd name="connsiteX4" fmla="*/ 4483 w 4483"/>
              <a:gd name="connsiteY4" fmla="*/ 3706 h 4124"/>
              <a:gd name="connsiteX5" fmla="*/ 4094 w 4483"/>
              <a:gd name="connsiteY5" fmla="*/ 4124 h 4124"/>
              <a:gd name="connsiteX6" fmla="*/ 419 w 4483"/>
              <a:gd name="connsiteY6" fmla="*/ 4124 h 4124"/>
              <a:gd name="connsiteX7" fmla="*/ 0 w 4483"/>
              <a:gd name="connsiteY7" fmla="*/ 3735 h 4124"/>
              <a:gd name="connsiteX8" fmla="*/ 0 w 4483"/>
              <a:gd name="connsiteY8" fmla="*/ 418 h 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83" h="4124">
                <a:moveTo>
                  <a:pt x="0" y="418"/>
                </a:moveTo>
                <a:cubicBezTo>
                  <a:pt x="0" y="40"/>
                  <a:pt x="11" y="0"/>
                  <a:pt x="389" y="0"/>
                </a:cubicBezTo>
                <a:lnTo>
                  <a:pt x="4094" y="0"/>
                </a:lnTo>
                <a:cubicBezTo>
                  <a:pt x="4472" y="0"/>
                  <a:pt x="4483" y="11"/>
                  <a:pt x="4483" y="389"/>
                </a:cubicBezTo>
                <a:lnTo>
                  <a:pt x="4483" y="3706"/>
                </a:lnTo>
                <a:cubicBezTo>
                  <a:pt x="4483" y="4084"/>
                  <a:pt x="4472" y="4124"/>
                  <a:pt x="4094" y="4124"/>
                </a:cubicBezTo>
                <a:lnTo>
                  <a:pt x="419" y="4124"/>
                </a:lnTo>
                <a:cubicBezTo>
                  <a:pt x="41" y="4124"/>
                  <a:pt x="0" y="4113"/>
                  <a:pt x="0" y="3735"/>
                </a:cubicBezTo>
                <a:lnTo>
                  <a:pt x="0" y="418"/>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Rows/Rounds List</a:t>
            </a:r>
            <a:endParaRPr lang="en-US">
              <a:solidFill>
                <a:schemeClr val="accent2">
                  <a:lumMod val="20000"/>
                  <a:lumOff val="80000"/>
                </a:schemeClr>
              </a:solidFill>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Kit: Step 1</a:t>
            </a:r>
            <a:endParaRPr lang="en-US">
              <a:solidFill>
                <a:schemeClr val="accent1">
                  <a:lumMod val="50000"/>
                </a:schemeClr>
              </a:solidFill>
              <a:sym typeface="+mn-ea"/>
            </a:endParaRPr>
          </a:p>
        </p:txBody>
      </p:sp>
      <p:sp>
        <p:nvSpPr>
          <p:cNvPr id="19" name="Rounded Rectangle 18"/>
          <p:cNvSpPr/>
          <p:nvPr/>
        </p:nvSpPr>
        <p:spPr>
          <a:xfrm>
            <a:off x="5476240" y="3638550"/>
            <a:ext cx="230759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400">
                <a:solidFill>
                  <a:schemeClr val="accent2">
                    <a:lumMod val="40000"/>
                    <a:lumOff val="60000"/>
                  </a:schemeClr>
                </a:solidFill>
                <a:sym typeface="+mn-ea"/>
              </a:rPr>
              <a:t>Pattern Selection Dropdown</a:t>
            </a:r>
            <a:endParaRPr lang="en-US" sz="1400">
              <a:solidFill>
                <a:schemeClr val="accent2">
                  <a:lumMod val="40000"/>
                  <a:lumOff val="60000"/>
                </a:schemeClr>
              </a:solidFill>
              <a:sym typeface="+mn-ea"/>
            </a:endParaRPr>
          </a:p>
        </p:txBody>
      </p:sp>
      <p:sp>
        <p:nvSpPr>
          <p:cNvPr id="20" name="Rounded Rectangle 19"/>
          <p:cNvSpPr/>
          <p:nvPr/>
        </p:nvSpPr>
        <p:spPr>
          <a:xfrm>
            <a:off x="3049270" y="3103880"/>
            <a:ext cx="230441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400">
                <a:solidFill>
                  <a:schemeClr val="accent2">
                    <a:lumMod val="40000"/>
                    <a:lumOff val="60000"/>
                  </a:schemeClr>
                </a:solidFill>
              </a:rPr>
              <a:t>Pattern Type Selection</a:t>
            </a:r>
            <a:endParaRPr lang="en-US" sz="1400">
              <a:solidFill>
                <a:schemeClr val="accent2">
                  <a:lumMod val="40000"/>
                  <a:lumOff val="60000"/>
                </a:schemeClr>
              </a:solidFill>
            </a:endParaRPr>
          </a:p>
        </p:txBody>
      </p:sp>
      <p:sp>
        <p:nvSpPr>
          <p:cNvPr id="21" name="Text Box 20"/>
          <p:cNvSpPr txBox="1"/>
          <p:nvPr/>
        </p:nvSpPr>
        <p:spPr>
          <a:xfrm>
            <a:off x="426085" y="2127885"/>
            <a:ext cx="1715135" cy="10744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offers Crochet/Knit options. Filters what patterns are available in the pattern selection box</a:t>
            </a:r>
            <a:endParaRPr lang="en-US" sz="1200">
              <a:solidFill>
                <a:schemeClr val="accent1">
                  <a:lumMod val="50000"/>
                </a:schemeClr>
              </a:solidFill>
              <a:sym typeface="+mn-ea"/>
            </a:endParaRPr>
          </a:p>
        </p:txBody>
      </p:sp>
      <p:sp>
        <p:nvSpPr>
          <p:cNvPr id="23" name="Text Box 22"/>
          <p:cNvSpPr txBox="1"/>
          <p:nvPr/>
        </p:nvSpPr>
        <p:spPr>
          <a:xfrm>
            <a:off x="8482013" y="3967480"/>
            <a:ext cx="1715135" cy="78994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offers pattern list with search box</a:t>
            </a:r>
            <a:r>
              <a:rPr lang="en-US" sz="1200">
                <a:solidFill>
                  <a:schemeClr val="accent1">
                    <a:lumMod val="50000"/>
                  </a:schemeClr>
                </a:solidFill>
                <a:sym typeface="+mn-ea"/>
              </a:rPr>
              <a:t> and “Add New”</a:t>
            </a:r>
            <a:r>
              <a:rPr lang="en-US" sz="1200">
                <a:solidFill>
                  <a:schemeClr val="accent1">
                    <a:lumMod val="50000"/>
                  </a:schemeClr>
                </a:solidFill>
                <a:sym typeface="+mn-ea"/>
              </a:rPr>
              <a:t> option</a:t>
            </a:r>
            <a:r>
              <a:rPr lang="en-US" sz="1200">
                <a:solidFill>
                  <a:schemeClr val="accent1">
                    <a:lumMod val="50000"/>
                  </a:schemeClr>
                </a:solidFill>
                <a:sym typeface="+mn-ea"/>
              </a:rPr>
              <a:t>s</a:t>
            </a:r>
            <a:r>
              <a:rPr lang="en-US" sz="1200">
                <a:solidFill>
                  <a:schemeClr val="accent1">
                    <a:lumMod val="50000"/>
                  </a:schemeClr>
                </a:solidFill>
                <a:sym typeface="+mn-ea"/>
              </a:rPr>
              <a:t>.</a:t>
            </a:r>
            <a:endParaRPr lang="en-US" sz="1200">
              <a:solidFill>
                <a:schemeClr val="accent1">
                  <a:lumMod val="50000"/>
                </a:schemeClr>
              </a:solidFill>
              <a:sym typeface="+mn-ea"/>
            </a:endParaRPr>
          </a:p>
        </p:txBody>
      </p:sp>
      <p:sp>
        <p:nvSpPr>
          <p:cNvPr id="27" name="Rounded Rectangle 26"/>
          <p:cNvSpPr/>
          <p:nvPr/>
        </p:nvSpPr>
        <p:spPr>
          <a:xfrm>
            <a:off x="5467985" y="3103880"/>
            <a:ext cx="230759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en-US" sz="1400">
                <a:solidFill>
                  <a:schemeClr val="accent2">
                    <a:lumMod val="40000"/>
                    <a:lumOff val="60000"/>
                  </a:schemeClr>
                </a:solidFill>
                <a:sym typeface="+mn-ea"/>
              </a:rPr>
              <a:t>Pattern </a:t>
            </a:r>
            <a:r>
              <a:rPr lang="en-US" sz="1400">
                <a:solidFill>
                  <a:schemeClr val="accent2">
                    <a:lumMod val="40000"/>
                    <a:lumOff val="60000"/>
                  </a:schemeClr>
                </a:solidFill>
                <a:sym typeface="+mn-ea"/>
              </a:rPr>
              <a:t>Form </a:t>
            </a:r>
            <a:r>
              <a:rPr lang="en-US" sz="1400">
                <a:solidFill>
                  <a:schemeClr val="accent2">
                    <a:lumMod val="40000"/>
                    <a:lumOff val="60000"/>
                  </a:schemeClr>
                </a:solidFill>
                <a:sym typeface="+mn-ea"/>
              </a:rPr>
              <a:t>Selection</a:t>
            </a:r>
            <a:endParaRPr lang="en-US" sz="1400">
              <a:solidFill>
                <a:schemeClr val="accent2">
                  <a:lumMod val="40000"/>
                  <a:lumOff val="60000"/>
                </a:schemeClr>
              </a:solidFill>
              <a:sym typeface="+mn-ea"/>
            </a:endParaRPr>
          </a:p>
        </p:txBody>
      </p:sp>
      <p:sp>
        <p:nvSpPr>
          <p:cNvPr id="30" name="Text Box 29"/>
          <p:cNvSpPr txBox="1"/>
          <p:nvPr/>
        </p:nvSpPr>
        <p:spPr>
          <a:xfrm>
            <a:off x="8476933" y="2486660"/>
            <a:ext cx="1715135" cy="10744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offers 2D/3D options. Filters what patterns are available in the pattern selection box</a:t>
            </a:r>
            <a:endParaRPr lang="en-US" sz="1200">
              <a:solidFill>
                <a:schemeClr val="accent1">
                  <a:lumMod val="50000"/>
                </a:schemeClr>
              </a:solidFill>
              <a:sym typeface="+mn-ea"/>
            </a:endParaRPr>
          </a:p>
        </p:txBody>
      </p:sp>
      <p:sp>
        <p:nvSpPr>
          <p:cNvPr id="32" name="Rounded Rectangle 31"/>
          <p:cNvSpPr/>
          <p:nvPr/>
        </p:nvSpPr>
        <p:spPr>
          <a:xfrm>
            <a:off x="3049270" y="3638550"/>
            <a:ext cx="2303780"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400">
                <a:solidFill>
                  <a:schemeClr val="accent2">
                    <a:lumMod val="40000"/>
                    <a:lumOff val="60000"/>
                  </a:schemeClr>
                </a:solidFill>
                <a:sym typeface="+mn-ea"/>
              </a:rPr>
              <a:t>Pattern Theme Selection</a:t>
            </a:r>
            <a:endParaRPr lang="en-US" sz="1400">
              <a:solidFill>
                <a:schemeClr val="accent2">
                  <a:lumMod val="40000"/>
                  <a:lumOff val="60000"/>
                </a:schemeClr>
              </a:solidFill>
              <a:sym typeface="+mn-ea"/>
            </a:endParaRPr>
          </a:p>
        </p:txBody>
      </p:sp>
      <p:sp>
        <p:nvSpPr>
          <p:cNvPr id="33" name="Text Box 32"/>
          <p:cNvSpPr txBox="1"/>
          <p:nvPr/>
        </p:nvSpPr>
        <p:spPr>
          <a:xfrm>
            <a:off x="426085" y="3764280"/>
            <a:ext cx="1715135" cy="20897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 offers Theme options. Filters what patterns are available in the pattern selection box. Has search box</a:t>
            </a:r>
            <a:r>
              <a:rPr lang="en-US" sz="1200">
                <a:solidFill>
                  <a:schemeClr val="accent1">
                    <a:lumMod val="50000"/>
                  </a:schemeClr>
                </a:solidFill>
                <a:sym typeface="+mn-ea"/>
              </a:rPr>
              <a:t> and add new</a:t>
            </a:r>
            <a:r>
              <a:rPr lang="en-US" sz="1200">
                <a:solidFill>
                  <a:schemeClr val="accent1">
                    <a:lumMod val="50000"/>
                  </a:schemeClr>
                </a:solidFill>
                <a:sym typeface="+mn-ea"/>
              </a:rPr>
              <a:t> option</a:t>
            </a:r>
            <a:r>
              <a:rPr lang="en-US" sz="1200">
                <a:solidFill>
                  <a:schemeClr val="accent1">
                    <a:lumMod val="50000"/>
                  </a:schemeClr>
                </a:solidFill>
                <a:sym typeface="+mn-ea"/>
              </a:rPr>
              <a:t>s</a:t>
            </a:r>
            <a:r>
              <a:rPr lang="en-US" sz="1200">
                <a:solidFill>
                  <a:schemeClr val="accent1">
                    <a:lumMod val="50000"/>
                  </a:schemeClr>
                </a:solidFill>
                <a:sym typeface="+mn-ea"/>
              </a:rPr>
              <a:t> at top. If “Add New” is selected, opens type box for entering new theme. New theme is added to theme list.</a:t>
            </a:r>
            <a:endParaRPr lang="en-US" sz="1200">
              <a:solidFill>
                <a:schemeClr val="accent1">
                  <a:lumMod val="50000"/>
                </a:schemeClr>
              </a:solidFill>
              <a:sym typeface="+mn-ea"/>
            </a:endParaRPr>
          </a:p>
        </p:txBody>
      </p:sp>
      <p:cxnSp>
        <p:nvCxnSpPr>
          <p:cNvPr id="37" name="Straight Connector 36"/>
          <p:cNvCxnSpPr>
            <a:stCxn id="23" idx="1"/>
            <a:endCxn id="19" idx="3"/>
          </p:cNvCxnSpPr>
          <p:nvPr/>
        </p:nvCxnSpPr>
        <p:spPr>
          <a:xfrm flipH="1" flipV="1">
            <a:off x="7783830" y="3867150"/>
            <a:ext cx="698500" cy="49530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38" name="Straight Connector 37"/>
          <p:cNvCxnSpPr>
            <a:stCxn id="21" idx="3"/>
            <a:endCxn id="20" idx="1"/>
          </p:cNvCxnSpPr>
          <p:nvPr/>
        </p:nvCxnSpPr>
        <p:spPr>
          <a:xfrm>
            <a:off x="2141220" y="2665095"/>
            <a:ext cx="908050" cy="6673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39" name="Straight Connector 38"/>
          <p:cNvCxnSpPr>
            <a:stCxn id="27" idx="3"/>
            <a:endCxn id="30" idx="1"/>
          </p:cNvCxnSpPr>
          <p:nvPr/>
        </p:nvCxnSpPr>
        <p:spPr>
          <a:xfrm flipV="1">
            <a:off x="7775575" y="3023870"/>
            <a:ext cx="701675" cy="30861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40" name="Straight Connector 39"/>
          <p:cNvCxnSpPr>
            <a:stCxn id="32" idx="1"/>
            <a:endCxn id="33" idx="3"/>
          </p:cNvCxnSpPr>
          <p:nvPr/>
        </p:nvCxnSpPr>
        <p:spPr>
          <a:xfrm flipH="1">
            <a:off x="2141220" y="3867150"/>
            <a:ext cx="908050" cy="9423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44" name="Rounded Rectangle 43"/>
          <p:cNvSpPr/>
          <p:nvPr/>
        </p:nvSpPr>
        <p:spPr>
          <a:xfrm>
            <a:off x="3057525" y="4728210"/>
            <a:ext cx="472630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Continue</a:t>
            </a:r>
            <a:endParaRPr lang="en-US">
              <a:solidFill>
                <a:schemeClr val="accent2">
                  <a:lumMod val="40000"/>
                  <a:lumOff val="60000"/>
                </a:schemeClr>
              </a:solidFill>
              <a:sym typeface="+mn-ea"/>
            </a:endParaRPr>
          </a:p>
        </p:txBody>
      </p:sp>
      <p:sp>
        <p:nvSpPr>
          <p:cNvPr id="53" name="Rounded Rectangle 52"/>
          <p:cNvSpPr/>
          <p:nvPr/>
        </p:nvSpPr>
        <p:spPr>
          <a:xfrm>
            <a:off x="3057525" y="4183380"/>
            <a:ext cx="472630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Kit Name</a:t>
            </a:r>
            <a:endParaRPr lang="en-US">
              <a:solidFill>
                <a:schemeClr val="accent2">
                  <a:lumMod val="40000"/>
                  <a:lumOff val="60000"/>
                </a:schemeClr>
              </a:solidFill>
              <a:sym typeface="+mn-ea"/>
            </a:endParaRPr>
          </a:p>
        </p:txBody>
      </p:sp>
      <p:grpSp>
        <p:nvGrpSpPr>
          <p:cNvPr id="4" name="Group 3"/>
          <p:cNvGrpSpPr/>
          <p:nvPr/>
        </p:nvGrpSpPr>
        <p:grpSpPr>
          <a:xfrm>
            <a:off x="8115300" y="5255260"/>
            <a:ext cx="2270760" cy="1873250"/>
            <a:chOff x="12482" y="8276"/>
            <a:chExt cx="3576" cy="2950"/>
          </a:xfrm>
        </p:grpSpPr>
        <p:sp>
          <p:nvSpPr>
            <p:cNvPr id="17" name="Freeform 16"/>
            <p:cNvSpPr/>
            <p:nvPr/>
          </p:nvSpPr>
          <p:spPr>
            <a:xfrm>
              <a:off x="12482" y="8276"/>
              <a:ext cx="3577" cy="2950"/>
            </a:xfrm>
            <a:custGeom>
              <a:avLst/>
              <a:gdLst>
                <a:gd name="connsiteX0" fmla="*/ 0 w 3577"/>
                <a:gd name="connsiteY0" fmla="*/ 387 h 2950"/>
                <a:gd name="connsiteX1" fmla="*/ 269 w 3577"/>
                <a:gd name="connsiteY1" fmla="*/ 0 h 2950"/>
                <a:gd name="connsiteX2" fmla="*/ 3279 w 3577"/>
                <a:gd name="connsiteY2" fmla="*/ 0 h 2950"/>
                <a:gd name="connsiteX3" fmla="*/ 3577 w 3577"/>
                <a:gd name="connsiteY3" fmla="*/ 268 h 2950"/>
                <a:gd name="connsiteX4" fmla="*/ 3577 w 3577"/>
                <a:gd name="connsiteY4" fmla="*/ 2652 h 2950"/>
                <a:gd name="connsiteX5" fmla="*/ 3279 w 3577"/>
                <a:gd name="connsiteY5" fmla="*/ 2950 h 2950"/>
                <a:gd name="connsiteX6" fmla="*/ 298 w 3577"/>
                <a:gd name="connsiteY6" fmla="*/ 2950 h 2950"/>
                <a:gd name="connsiteX7" fmla="*/ 0 w 3577"/>
                <a:gd name="connsiteY7" fmla="*/ 2652 h 2950"/>
                <a:gd name="connsiteX8" fmla="*/ 0 w 3577"/>
                <a:gd name="connsiteY8" fmla="*/ 387 h 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7" h="2950">
                  <a:moveTo>
                    <a:pt x="0" y="387"/>
                  </a:moveTo>
                  <a:cubicBezTo>
                    <a:pt x="0" y="114"/>
                    <a:pt x="-4" y="0"/>
                    <a:pt x="269" y="0"/>
                  </a:cubicBezTo>
                  <a:lnTo>
                    <a:pt x="3279" y="0"/>
                  </a:lnTo>
                  <a:cubicBezTo>
                    <a:pt x="3552" y="0"/>
                    <a:pt x="3577" y="-5"/>
                    <a:pt x="3577" y="268"/>
                  </a:cubicBezTo>
                  <a:lnTo>
                    <a:pt x="3577" y="2652"/>
                  </a:lnTo>
                  <a:cubicBezTo>
                    <a:pt x="3577" y="2925"/>
                    <a:pt x="3552" y="2950"/>
                    <a:pt x="3279" y="2950"/>
                  </a:cubicBezTo>
                  <a:lnTo>
                    <a:pt x="298" y="2950"/>
                  </a:lnTo>
                  <a:cubicBezTo>
                    <a:pt x="25" y="2950"/>
                    <a:pt x="0" y="2925"/>
                    <a:pt x="0" y="2652"/>
                  </a:cubicBezTo>
                  <a:lnTo>
                    <a:pt x="0" y="387"/>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20000"/>
                    <a:lumOff val="80000"/>
                  </a:schemeClr>
                </a:solidFill>
                <a:sym typeface="+mn-ea"/>
              </a:endParaRPr>
            </a:p>
          </p:txBody>
        </p:sp>
        <p:sp>
          <p:nvSpPr>
            <p:cNvPr id="18" name="Freeform 17"/>
            <p:cNvSpPr/>
            <p:nvPr/>
          </p:nvSpPr>
          <p:spPr>
            <a:xfrm>
              <a:off x="12583" y="8895"/>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 New</a:t>
              </a:r>
              <a:endParaRPr lang="en-US">
                <a:solidFill>
                  <a:schemeClr val="accent2">
                    <a:lumMod val="40000"/>
                    <a:lumOff val="60000"/>
                  </a:schemeClr>
                </a:solidFill>
                <a:sym typeface="+mn-ea"/>
              </a:endParaRPr>
            </a:p>
          </p:txBody>
        </p:sp>
        <p:sp>
          <p:nvSpPr>
            <p:cNvPr id="2" name="Freeform 1"/>
            <p:cNvSpPr/>
            <p:nvPr/>
          </p:nvSpPr>
          <p:spPr>
            <a:xfrm>
              <a:off x="12583" y="8384"/>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0" rIns="9144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Search</a:t>
              </a:r>
              <a:endParaRPr lang="en-US">
                <a:solidFill>
                  <a:schemeClr val="accent2">
                    <a:lumMod val="40000"/>
                    <a:lumOff val="60000"/>
                  </a:schemeClr>
                </a:solidFill>
                <a:sym typeface="+mn-ea"/>
              </a:endParaRPr>
            </a:p>
          </p:txBody>
        </p:sp>
      </p:grpSp>
      <p:cxnSp>
        <p:nvCxnSpPr>
          <p:cNvPr id="3" name="Straight Connector 2"/>
          <p:cNvCxnSpPr>
            <a:stCxn id="17" idx="2"/>
            <a:endCxn id="23" idx="2"/>
          </p:cNvCxnSpPr>
          <p:nvPr/>
        </p:nvCxnSpPr>
        <p:spPr>
          <a:xfrm flipH="1" flipV="1">
            <a:off x="9340215" y="4757420"/>
            <a:ext cx="857250" cy="49784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Kit: Step 2</a:t>
            </a:r>
            <a:endParaRPr lang="en-US">
              <a:solidFill>
                <a:schemeClr val="accent1">
                  <a:lumMod val="50000"/>
                </a:schemeClr>
              </a:solidFill>
              <a:sym typeface="+mn-ea"/>
            </a:endParaRPr>
          </a:p>
        </p:txBody>
      </p:sp>
      <p:sp>
        <p:nvSpPr>
          <p:cNvPr id="51" name="Text Box 50"/>
          <p:cNvSpPr txBox="1"/>
          <p:nvPr/>
        </p:nvSpPr>
        <p:spPr>
          <a:xfrm>
            <a:off x="8476933" y="2486660"/>
            <a:ext cx="1715135" cy="107442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When selected, adds new row for next step, and a stich count box. Moves to end of new row.</a:t>
            </a:r>
            <a:endParaRPr lang="en-US" sz="1200">
              <a:solidFill>
                <a:schemeClr val="accent1">
                  <a:lumMod val="50000"/>
                </a:schemeClr>
              </a:solidFill>
              <a:sym typeface="+mn-ea"/>
            </a:endParaRPr>
          </a:p>
        </p:txBody>
      </p:sp>
      <p:cxnSp>
        <p:nvCxnSpPr>
          <p:cNvPr id="52" name="Straight Connector 51"/>
          <p:cNvCxnSpPr/>
          <p:nvPr/>
        </p:nvCxnSpPr>
        <p:spPr>
          <a:xfrm flipH="1" flipV="1">
            <a:off x="7692390" y="2051685"/>
            <a:ext cx="784860" cy="9721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17" name="Group 16"/>
          <p:cNvGrpSpPr/>
          <p:nvPr/>
        </p:nvGrpSpPr>
        <p:grpSpPr>
          <a:xfrm>
            <a:off x="3054350" y="1478915"/>
            <a:ext cx="4724400" cy="5671820"/>
            <a:chOff x="4810" y="2329"/>
            <a:chExt cx="7440" cy="8932"/>
          </a:xfrm>
        </p:grpSpPr>
        <p:sp>
          <p:nvSpPr>
            <p:cNvPr id="5" name="Freeform 4"/>
            <p:cNvSpPr/>
            <p:nvPr/>
          </p:nvSpPr>
          <p:spPr>
            <a:xfrm>
              <a:off x="4810" y="2329"/>
              <a:ext cx="7440" cy="893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Pattern Steps</a:t>
              </a:r>
              <a:endParaRPr lang="en-US">
                <a:solidFill>
                  <a:schemeClr val="accent2">
                    <a:lumMod val="40000"/>
                    <a:lumOff val="60000"/>
                  </a:schemeClr>
                </a:solidFill>
                <a:sym typeface="+mn-ea"/>
              </a:endParaRPr>
            </a:p>
          </p:txBody>
        </p:sp>
        <p:sp>
          <p:nvSpPr>
            <p:cNvPr id="48" name="Rounded Rectangle 47"/>
            <p:cNvSpPr/>
            <p:nvPr/>
          </p:nvSpPr>
          <p:spPr>
            <a:xfrm>
              <a:off x="4948" y="2888"/>
              <a:ext cx="429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20000"/>
                      <a:lumOff val="80000"/>
                    </a:schemeClr>
                  </a:solidFill>
                  <a:sym typeface="+mn-ea"/>
                </a:rPr>
                <a:t>Row/Rnd One</a:t>
              </a:r>
              <a:endParaRPr lang="en-US">
                <a:solidFill>
                  <a:schemeClr val="accent2">
                    <a:lumMod val="20000"/>
                    <a:lumOff val="80000"/>
                  </a:schemeClr>
                </a:solidFill>
                <a:sym typeface="+mn-ea"/>
              </a:endParaRPr>
            </a:p>
          </p:txBody>
        </p:sp>
        <p:sp>
          <p:nvSpPr>
            <p:cNvPr id="49" name="Rounded Rectangle 48"/>
            <p:cNvSpPr/>
            <p:nvPr/>
          </p:nvSpPr>
          <p:spPr>
            <a:xfrm>
              <a:off x="9330" y="2889"/>
              <a:ext cx="992"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Stitch Count</a:t>
              </a:r>
              <a:endParaRPr lang="en-US" sz="1000">
                <a:solidFill>
                  <a:schemeClr val="accent2">
                    <a:lumMod val="20000"/>
                    <a:lumOff val="80000"/>
                  </a:schemeClr>
                </a:solidFill>
                <a:sym typeface="+mn-ea"/>
              </a:endParaRPr>
            </a:p>
          </p:txBody>
        </p:sp>
        <p:sp>
          <p:nvSpPr>
            <p:cNvPr id="50" name="Rounded Rectangle 49"/>
            <p:cNvSpPr/>
            <p:nvPr/>
          </p:nvSpPr>
          <p:spPr>
            <a:xfrm>
              <a:off x="10408" y="2890"/>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Add Row/Rnd</a:t>
              </a:r>
              <a:endParaRPr lang="en-US" sz="1000">
                <a:solidFill>
                  <a:schemeClr val="accent2">
                    <a:lumMod val="20000"/>
                    <a:lumOff val="80000"/>
                  </a:schemeClr>
                </a:solidFill>
                <a:sym typeface="+mn-ea"/>
              </a:endParaRPr>
            </a:p>
          </p:txBody>
        </p:sp>
        <p:sp>
          <p:nvSpPr>
            <p:cNvPr id="2" name="Rounded Rectangle 1"/>
            <p:cNvSpPr/>
            <p:nvPr/>
          </p:nvSpPr>
          <p:spPr>
            <a:xfrm>
              <a:off x="4948" y="9913"/>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New Pattern Piece</a:t>
              </a:r>
              <a:endParaRPr lang="en-US" sz="1000">
                <a:solidFill>
                  <a:schemeClr val="accent2">
                    <a:lumMod val="20000"/>
                    <a:lumOff val="80000"/>
                  </a:schemeClr>
                </a:solidFill>
                <a:sym typeface="+mn-ea"/>
              </a:endParaRPr>
            </a:p>
          </p:txBody>
        </p:sp>
        <p:sp>
          <p:nvSpPr>
            <p:cNvPr id="3" name="Rounded Rectangle 2"/>
            <p:cNvSpPr/>
            <p:nvPr/>
          </p:nvSpPr>
          <p:spPr>
            <a:xfrm>
              <a:off x="10408" y="9913"/>
              <a:ext cx="170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Next Step</a:t>
              </a:r>
              <a:endParaRPr lang="en-US" sz="1000">
                <a:solidFill>
                  <a:schemeClr val="accent2">
                    <a:lumMod val="20000"/>
                    <a:lumOff val="80000"/>
                  </a:schemeClr>
                </a:solidFill>
                <a:sym typeface="+mn-ea"/>
              </a:endParaRPr>
            </a:p>
          </p:txBody>
        </p:sp>
      </p:grpSp>
      <p:sp>
        <p:nvSpPr>
          <p:cNvPr id="4" name="Text Box 3"/>
          <p:cNvSpPr txBox="1"/>
          <p:nvPr/>
        </p:nvSpPr>
        <p:spPr>
          <a:xfrm>
            <a:off x="570865" y="5330825"/>
            <a:ext cx="1715135" cy="117983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Should save current pattern piece, and pull up clean pattern entry screen. If clicked, should pull up screen to name the pattern/kit piece.</a:t>
            </a:r>
            <a:endParaRPr lang="en-US" sz="1200">
              <a:solidFill>
                <a:schemeClr val="accent1">
                  <a:lumMod val="50000"/>
                </a:schemeClr>
              </a:solidFill>
              <a:sym typeface="+mn-ea"/>
            </a:endParaRPr>
          </a:p>
        </p:txBody>
      </p:sp>
      <p:cxnSp>
        <p:nvCxnSpPr>
          <p:cNvPr id="6" name="Straight Connector 5"/>
          <p:cNvCxnSpPr>
            <a:stCxn id="2" idx="1"/>
            <a:endCxn id="4" idx="3"/>
          </p:cNvCxnSpPr>
          <p:nvPr/>
        </p:nvCxnSpPr>
        <p:spPr>
          <a:xfrm flipH="1" flipV="1">
            <a:off x="2286000" y="5920740"/>
            <a:ext cx="855980" cy="5905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grpSp>
        <p:nvGrpSpPr>
          <p:cNvPr id="16" name="Group 15"/>
          <p:cNvGrpSpPr/>
          <p:nvPr/>
        </p:nvGrpSpPr>
        <p:grpSpPr>
          <a:xfrm>
            <a:off x="171450" y="3328035"/>
            <a:ext cx="2647950" cy="853440"/>
            <a:chOff x="270" y="5241"/>
            <a:chExt cx="4170" cy="1344"/>
          </a:xfrm>
        </p:grpSpPr>
        <p:sp>
          <p:nvSpPr>
            <p:cNvPr id="10" name="Freeform 9"/>
            <p:cNvSpPr/>
            <p:nvPr/>
          </p:nvSpPr>
          <p:spPr>
            <a:xfrm>
              <a:off x="270" y="5241"/>
              <a:ext cx="4171" cy="1344"/>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Enter Name</a:t>
              </a:r>
              <a:endParaRPr lang="en-US">
                <a:solidFill>
                  <a:schemeClr val="accent2">
                    <a:lumMod val="40000"/>
                    <a:lumOff val="60000"/>
                  </a:schemeClr>
                </a:solidFill>
                <a:sym typeface="+mn-ea"/>
              </a:endParaRPr>
            </a:p>
          </p:txBody>
        </p:sp>
        <p:sp>
          <p:nvSpPr>
            <p:cNvPr id="11" name="Rounded Rectangle 10"/>
            <p:cNvSpPr/>
            <p:nvPr/>
          </p:nvSpPr>
          <p:spPr>
            <a:xfrm>
              <a:off x="390" y="5799"/>
              <a:ext cx="3936" cy="681"/>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chemeClr val="accent2">
                    <a:lumMod val="20000"/>
                    <a:lumOff val="80000"/>
                  </a:schemeClr>
                </a:solidFill>
                <a:sym typeface="+mn-ea"/>
              </a:endParaRPr>
            </a:p>
          </p:txBody>
        </p:sp>
      </p:grpSp>
      <p:cxnSp>
        <p:nvCxnSpPr>
          <p:cNvPr id="12" name="Straight Connector 11"/>
          <p:cNvCxnSpPr>
            <a:stCxn id="10" idx="5"/>
            <a:endCxn id="4" idx="0"/>
          </p:cNvCxnSpPr>
          <p:nvPr/>
        </p:nvCxnSpPr>
        <p:spPr>
          <a:xfrm flipH="1">
            <a:off x="1428750" y="4181475"/>
            <a:ext cx="1209675" cy="114935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3" name="Text Box 12"/>
          <p:cNvSpPr txBox="1"/>
          <p:nvPr/>
        </p:nvSpPr>
        <p:spPr>
          <a:xfrm>
            <a:off x="8604250" y="5440680"/>
            <a:ext cx="2120265" cy="145986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If multiple pieces/kit pieces are entered, should show Enter Name box for last pattern piece before progressing to the next step. If kit has multiple projects, each projects is a “kit piece”. </a:t>
            </a:r>
            <a:endParaRPr lang="en-US" sz="1200">
              <a:solidFill>
                <a:schemeClr val="accent1">
                  <a:lumMod val="50000"/>
                </a:schemeClr>
              </a:solidFill>
              <a:sym typeface="+mn-ea"/>
            </a:endParaRPr>
          </a:p>
        </p:txBody>
      </p:sp>
      <p:cxnSp>
        <p:nvCxnSpPr>
          <p:cNvPr id="14" name="Straight Connector 13"/>
          <p:cNvCxnSpPr>
            <a:stCxn id="13" idx="1"/>
            <a:endCxn id="10" idx="4"/>
          </p:cNvCxnSpPr>
          <p:nvPr/>
        </p:nvCxnSpPr>
        <p:spPr>
          <a:xfrm flipH="1" flipV="1">
            <a:off x="2809240" y="4074160"/>
            <a:ext cx="5795010" cy="20967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5" name="Straight Connector 14"/>
          <p:cNvCxnSpPr>
            <a:stCxn id="3" idx="3"/>
            <a:endCxn id="13" idx="1"/>
          </p:cNvCxnSpPr>
          <p:nvPr/>
        </p:nvCxnSpPr>
        <p:spPr>
          <a:xfrm flipV="1">
            <a:off x="7692390" y="6170930"/>
            <a:ext cx="911860" cy="34036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7" name="Rounded Rectangle 6"/>
          <p:cNvSpPr/>
          <p:nvPr/>
        </p:nvSpPr>
        <p:spPr>
          <a:xfrm>
            <a:off x="4333875" y="6294755"/>
            <a:ext cx="1083310"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000">
                <a:solidFill>
                  <a:schemeClr val="accent2">
                    <a:lumMod val="20000"/>
                    <a:lumOff val="80000"/>
                  </a:schemeClr>
                </a:solidFill>
                <a:sym typeface="+mn-ea"/>
              </a:rPr>
              <a:t>New Kit Piece</a:t>
            </a:r>
            <a:endParaRPr lang="en-US" sz="1000">
              <a:solidFill>
                <a:schemeClr val="accent2">
                  <a:lumMod val="20000"/>
                  <a:lumOff val="80000"/>
                </a:schemeClr>
              </a:solidFill>
              <a:sym typeface="+mn-ea"/>
            </a:endParaRPr>
          </a:p>
        </p:txBody>
      </p:sp>
      <p:cxnSp>
        <p:nvCxnSpPr>
          <p:cNvPr id="8" name="Straight Connector 7"/>
          <p:cNvCxnSpPr>
            <a:stCxn id="7" idx="0"/>
            <a:endCxn id="4" idx="3"/>
          </p:cNvCxnSpPr>
          <p:nvPr/>
        </p:nvCxnSpPr>
        <p:spPr>
          <a:xfrm flipH="1" flipV="1">
            <a:off x="2286000" y="5920740"/>
            <a:ext cx="2589530" cy="37401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Freeform 4"/>
          <p:cNvSpPr/>
          <p:nvPr/>
        </p:nvSpPr>
        <p:spPr>
          <a:xfrm>
            <a:off x="3054350" y="2059940"/>
            <a:ext cx="4724400" cy="431355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40000"/>
                    <a:lumOff val="60000"/>
                  </a:schemeClr>
                </a:solidFill>
                <a:sym typeface="+mn-ea"/>
              </a:rPr>
              <a:t>Supplies</a:t>
            </a:r>
            <a:endParaRPr lang="en-US">
              <a:solidFill>
                <a:schemeClr val="accent2">
                  <a:lumMod val="40000"/>
                  <a:lumOff val="60000"/>
                </a:schemeClr>
              </a:solidFill>
              <a:sym typeface="+mn-ea"/>
            </a:endParaRPr>
          </a:p>
        </p:txBody>
      </p:sp>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Kit: Step 3</a:t>
            </a:r>
            <a:endParaRPr lang="en-US">
              <a:solidFill>
                <a:schemeClr val="accent1">
                  <a:lumMod val="50000"/>
                </a:schemeClr>
              </a:solidFill>
              <a:sym typeface="+mn-ea"/>
            </a:endParaRPr>
          </a:p>
        </p:txBody>
      </p:sp>
      <p:sp>
        <p:nvSpPr>
          <p:cNvPr id="3" name="Rounded Rectangle 2"/>
          <p:cNvSpPr/>
          <p:nvPr/>
        </p:nvSpPr>
        <p:spPr>
          <a:xfrm>
            <a:off x="5437505" y="4433570"/>
            <a:ext cx="2272030" cy="188150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Notions</a:t>
            </a:r>
            <a:endParaRPr lang="en-US">
              <a:solidFill>
                <a:schemeClr val="accent2">
                  <a:lumMod val="20000"/>
                  <a:lumOff val="80000"/>
                </a:schemeClr>
              </a:solidFill>
              <a:sym typeface="+mn-ea"/>
            </a:endParaRPr>
          </a:p>
        </p:txBody>
      </p:sp>
      <p:grpSp>
        <p:nvGrpSpPr>
          <p:cNvPr id="11" name="Group 10"/>
          <p:cNvGrpSpPr/>
          <p:nvPr/>
        </p:nvGrpSpPr>
        <p:grpSpPr>
          <a:xfrm>
            <a:off x="3121025" y="2552065"/>
            <a:ext cx="2272030" cy="3751580"/>
            <a:chOff x="4915" y="4019"/>
            <a:chExt cx="3578" cy="5908"/>
          </a:xfrm>
        </p:grpSpPr>
        <p:sp>
          <p:nvSpPr>
            <p:cNvPr id="26" name="Rounded Rectangle 25"/>
            <p:cNvSpPr/>
            <p:nvPr/>
          </p:nvSpPr>
          <p:spPr>
            <a:xfrm>
              <a:off x="4915" y="4019"/>
              <a:ext cx="3578" cy="5909"/>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Yarns</a:t>
              </a:r>
              <a:endParaRPr lang="en-US">
                <a:solidFill>
                  <a:schemeClr val="accent2">
                    <a:lumMod val="20000"/>
                    <a:lumOff val="80000"/>
                  </a:schemeClr>
                </a:solidFill>
                <a:sym typeface="+mn-ea"/>
              </a:endParaRPr>
            </a:p>
          </p:txBody>
        </p:sp>
        <p:sp>
          <p:nvSpPr>
            <p:cNvPr id="4" name="Freeform 3"/>
            <p:cNvSpPr/>
            <p:nvPr/>
          </p:nvSpPr>
          <p:spPr>
            <a:xfrm>
              <a:off x="5010" y="4679"/>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a:t>
              </a:r>
              <a:endParaRPr lang="en-US">
                <a:solidFill>
                  <a:schemeClr val="accent2">
                    <a:lumMod val="40000"/>
                    <a:lumOff val="60000"/>
                  </a:schemeClr>
                </a:solidFill>
                <a:sym typeface="+mn-ea"/>
              </a:endParaRPr>
            </a:p>
          </p:txBody>
        </p:sp>
      </p:grpSp>
      <p:sp>
        <p:nvSpPr>
          <p:cNvPr id="6" name="Freeform 5"/>
          <p:cNvSpPr/>
          <p:nvPr/>
        </p:nvSpPr>
        <p:spPr>
          <a:xfrm>
            <a:off x="5501005" y="4855845"/>
            <a:ext cx="2155190" cy="287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a:t>
            </a:r>
            <a:endParaRPr lang="en-US">
              <a:solidFill>
                <a:schemeClr val="accent2">
                  <a:lumMod val="40000"/>
                  <a:lumOff val="60000"/>
                </a:schemeClr>
              </a:solidFill>
              <a:sym typeface="+mn-ea"/>
            </a:endParaRPr>
          </a:p>
        </p:txBody>
      </p:sp>
      <p:grpSp>
        <p:nvGrpSpPr>
          <p:cNvPr id="15" name="Group 14"/>
          <p:cNvGrpSpPr/>
          <p:nvPr/>
        </p:nvGrpSpPr>
        <p:grpSpPr>
          <a:xfrm>
            <a:off x="5437505" y="2552065"/>
            <a:ext cx="2272030" cy="1880870"/>
            <a:chOff x="8563" y="4019"/>
            <a:chExt cx="3578" cy="2962"/>
          </a:xfrm>
        </p:grpSpPr>
        <p:sp>
          <p:nvSpPr>
            <p:cNvPr id="2" name="Rounded Rectangle 1"/>
            <p:cNvSpPr/>
            <p:nvPr/>
          </p:nvSpPr>
          <p:spPr>
            <a:xfrm>
              <a:off x="8563" y="4019"/>
              <a:ext cx="3578" cy="2963"/>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Tools</a:t>
              </a:r>
              <a:endParaRPr lang="en-US">
                <a:solidFill>
                  <a:schemeClr val="accent2">
                    <a:lumMod val="20000"/>
                    <a:lumOff val="80000"/>
                  </a:schemeClr>
                </a:solidFill>
                <a:sym typeface="+mn-ea"/>
              </a:endParaRPr>
            </a:p>
          </p:txBody>
        </p:sp>
        <p:sp>
          <p:nvSpPr>
            <p:cNvPr id="7" name="Freeform 6"/>
            <p:cNvSpPr/>
            <p:nvPr/>
          </p:nvSpPr>
          <p:spPr>
            <a:xfrm>
              <a:off x="8663" y="4679"/>
              <a:ext cx="3394" cy="452"/>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a:t>
              </a:r>
              <a:endParaRPr lang="en-US">
                <a:solidFill>
                  <a:schemeClr val="accent2">
                    <a:lumMod val="40000"/>
                    <a:lumOff val="60000"/>
                  </a:schemeClr>
                </a:solidFill>
                <a:sym typeface="+mn-ea"/>
              </a:endParaRPr>
            </a:p>
          </p:txBody>
        </p:sp>
      </p:grpSp>
      <p:sp>
        <p:nvSpPr>
          <p:cNvPr id="45" name="Text Box 44"/>
          <p:cNvSpPr txBox="1"/>
          <p:nvPr/>
        </p:nvSpPr>
        <p:spPr>
          <a:xfrm>
            <a:off x="8503285" y="3743325"/>
            <a:ext cx="1715135" cy="6902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boxes with Correlating items and “Add New” options.</a:t>
            </a:r>
            <a:endParaRPr lang="en-US" sz="1200">
              <a:solidFill>
                <a:schemeClr val="accent1">
                  <a:lumMod val="50000"/>
                </a:schemeClr>
              </a:solidFill>
              <a:sym typeface="+mn-ea"/>
            </a:endParaRPr>
          </a:p>
        </p:txBody>
      </p:sp>
      <p:cxnSp>
        <p:nvCxnSpPr>
          <p:cNvPr id="8" name="Straight Connector 7"/>
          <p:cNvCxnSpPr>
            <a:stCxn id="4" idx="4"/>
            <a:endCxn id="45" idx="1"/>
          </p:cNvCxnSpPr>
          <p:nvPr/>
        </p:nvCxnSpPr>
        <p:spPr>
          <a:xfrm>
            <a:off x="5327650" y="3221990"/>
            <a:ext cx="3175635" cy="86677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9" name="Straight Connector 8"/>
          <p:cNvCxnSpPr>
            <a:stCxn id="6" idx="3"/>
            <a:endCxn id="45" idx="1"/>
          </p:cNvCxnSpPr>
          <p:nvPr/>
        </p:nvCxnSpPr>
        <p:spPr>
          <a:xfrm flipV="1">
            <a:off x="7656195" y="4088765"/>
            <a:ext cx="847090" cy="8013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cxnSp>
        <p:nvCxnSpPr>
          <p:cNvPr id="10" name="Straight Connector 9"/>
          <p:cNvCxnSpPr>
            <a:stCxn id="7" idx="5"/>
            <a:endCxn id="45" idx="1"/>
          </p:cNvCxnSpPr>
          <p:nvPr/>
        </p:nvCxnSpPr>
        <p:spPr>
          <a:xfrm>
            <a:off x="7508240" y="3258185"/>
            <a:ext cx="995045" cy="83058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7" name="Freeform 16"/>
          <p:cNvSpPr/>
          <p:nvPr/>
        </p:nvSpPr>
        <p:spPr>
          <a:xfrm>
            <a:off x="626108" y="1722100"/>
            <a:ext cx="2271397" cy="1873254"/>
          </a:xfrm>
          <a:custGeom>
            <a:avLst/>
            <a:gdLst>
              <a:gd name="connsiteX0" fmla="*/ 0 w 3577"/>
              <a:gd name="connsiteY0" fmla="*/ 387 h 2950"/>
              <a:gd name="connsiteX1" fmla="*/ 269 w 3577"/>
              <a:gd name="connsiteY1" fmla="*/ 0 h 2950"/>
              <a:gd name="connsiteX2" fmla="*/ 3279 w 3577"/>
              <a:gd name="connsiteY2" fmla="*/ 0 h 2950"/>
              <a:gd name="connsiteX3" fmla="*/ 3577 w 3577"/>
              <a:gd name="connsiteY3" fmla="*/ 268 h 2950"/>
              <a:gd name="connsiteX4" fmla="*/ 3577 w 3577"/>
              <a:gd name="connsiteY4" fmla="*/ 2652 h 2950"/>
              <a:gd name="connsiteX5" fmla="*/ 3279 w 3577"/>
              <a:gd name="connsiteY5" fmla="*/ 2950 h 2950"/>
              <a:gd name="connsiteX6" fmla="*/ 298 w 3577"/>
              <a:gd name="connsiteY6" fmla="*/ 2950 h 2950"/>
              <a:gd name="connsiteX7" fmla="*/ 0 w 3577"/>
              <a:gd name="connsiteY7" fmla="*/ 2652 h 2950"/>
              <a:gd name="connsiteX8" fmla="*/ 0 w 3577"/>
              <a:gd name="connsiteY8" fmla="*/ 387 h 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7" h="2950">
                <a:moveTo>
                  <a:pt x="0" y="387"/>
                </a:moveTo>
                <a:cubicBezTo>
                  <a:pt x="0" y="114"/>
                  <a:pt x="-4" y="0"/>
                  <a:pt x="269" y="0"/>
                </a:cubicBezTo>
                <a:lnTo>
                  <a:pt x="3279" y="0"/>
                </a:lnTo>
                <a:cubicBezTo>
                  <a:pt x="3552" y="0"/>
                  <a:pt x="3577" y="-5"/>
                  <a:pt x="3577" y="268"/>
                </a:cubicBezTo>
                <a:lnTo>
                  <a:pt x="3577" y="2652"/>
                </a:lnTo>
                <a:cubicBezTo>
                  <a:pt x="3577" y="2925"/>
                  <a:pt x="3552" y="2950"/>
                  <a:pt x="3279" y="2950"/>
                </a:cubicBezTo>
                <a:lnTo>
                  <a:pt x="298" y="2950"/>
                </a:lnTo>
                <a:cubicBezTo>
                  <a:pt x="25" y="2950"/>
                  <a:pt x="0" y="2925"/>
                  <a:pt x="0" y="2652"/>
                </a:cubicBezTo>
                <a:lnTo>
                  <a:pt x="0" y="387"/>
                </a:lnTo>
                <a:close/>
              </a:path>
            </a:pathLst>
          </a:cu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20000"/>
                  <a:lumOff val="80000"/>
                </a:schemeClr>
              </a:solidFill>
              <a:sym typeface="+mn-ea"/>
            </a:endParaRPr>
          </a:p>
        </p:txBody>
      </p:sp>
      <p:sp>
        <p:nvSpPr>
          <p:cNvPr id="18" name="Freeform 17"/>
          <p:cNvSpPr/>
          <p:nvPr/>
        </p:nvSpPr>
        <p:spPr>
          <a:xfrm>
            <a:off x="690245" y="1828165"/>
            <a:ext cx="2155190" cy="2870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0" numCol="1" spcCol="0" rtlCol="0" fromWordArt="0" anchor="t" anchorCtr="0" forceAA="0" compatLnSpc="1">
            <a:noAutofit/>
          </a:bodyPr>
          <a:p>
            <a:pPr lvl="0" algn="ctr">
              <a:buClrTx/>
              <a:buSzTx/>
              <a:buFontTx/>
            </a:pPr>
            <a:r>
              <a:rPr lang="en-US">
                <a:solidFill>
                  <a:schemeClr val="accent2">
                    <a:lumMod val="40000"/>
                    <a:lumOff val="60000"/>
                  </a:schemeClr>
                </a:solidFill>
                <a:sym typeface="+mn-ea"/>
              </a:rPr>
              <a:t>Add New</a:t>
            </a:r>
            <a:endParaRPr lang="en-US">
              <a:solidFill>
                <a:schemeClr val="accent2">
                  <a:lumMod val="40000"/>
                  <a:lumOff val="60000"/>
                </a:schemeClr>
              </a:solidFill>
              <a:sym typeface="+mn-ea"/>
            </a:endParaRPr>
          </a:p>
        </p:txBody>
      </p:sp>
      <p:sp>
        <p:nvSpPr>
          <p:cNvPr id="20" name="Text Box 19"/>
          <p:cNvSpPr txBox="1"/>
          <p:nvPr/>
        </p:nvSpPr>
        <p:spPr>
          <a:xfrm>
            <a:off x="822960" y="4574540"/>
            <a:ext cx="1715135" cy="69024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Drop down box</a:t>
            </a:r>
            <a:endParaRPr lang="en-US" sz="1200">
              <a:solidFill>
                <a:schemeClr val="accent1">
                  <a:lumMod val="50000"/>
                </a:schemeClr>
              </a:solidFill>
              <a:sym typeface="+mn-ea"/>
            </a:endParaRPr>
          </a:p>
        </p:txBody>
      </p:sp>
      <p:cxnSp>
        <p:nvCxnSpPr>
          <p:cNvPr id="22" name="Straight Connector 21"/>
          <p:cNvCxnSpPr>
            <a:stCxn id="17" idx="6"/>
            <a:endCxn id="20" idx="0"/>
          </p:cNvCxnSpPr>
          <p:nvPr/>
        </p:nvCxnSpPr>
        <p:spPr>
          <a:xfrm>
            <a:off x="815340" y="3595370"/>
            <a:ext cx="865505" cy="97917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2" name="Text Box 11"/>
          <p:cNvSpPr txBox="1"/>
          <p:nvPr/>
        </p:nvSpPr>
        <p:spPr>
          <a:xfrm>
            <a:off x="8503285" y="5142865"/>
            <a:ext cx="2343785" cy="142367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None of these supplies should open any other screens. Only text boxes. Most Kits will not have too much that can/should carry over. Anything kept can be added to the other lists manually.</a:t>
            </a:r>
            <a:endParaRPr lang="en-US" sz="1200">
              <a:solidFill>
                <a:schemeClr val="accent1">
                  <a:lumMod val="50000"/>
                </a:schemeClr>
              </a:solidFill>
              <a:sym typeface="+mn-ea"/>
            </a:endParaRPr>
          </a:p>
        </p:txBody>
      </p:sp>
      <p:sp>
        <p:nvSpPr>
          <p:cNvPr id="13" name="Rounded Rectangle 12"/>
          <p:cNvSpPr/>
          <p:nvPr/>
        </p:nvSpPr>
        <p:spPr>
          <a:xfrm>
            <a:off x="6445885" y="6485890"/>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Next</a:t>
            </a:r>
            <a:endParaRPr lang="en-US">
              <a:solidFill>
                <a:schemeClr val="accent2">
                  <a:lumMod val="20000"/>
                  <a:lumOff val="80000"/>
                </a:schemeClr>
              </a:solidFill>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Kit: Step 4</a:t>
            </a:r>
            <a:endParaRPr lang="en-US">
              <a:solidFill>
                <a:schemeClr val="accent1">
                  <a:lumMod val="50000"/>
                </a:schemeClr>
              </a:solidFill>
              <a:sym typeface="+mn-ea"/>
            </a:endParaRPr>
          </a:p>
        </p:txBody>
      </p:sp>
      <p:sp>
        <p:nvSpPr>
          <p:cNvPr id="5" name="Freeform 4"/>
          <p:cNvSpPr/>
          <p:nvPr/>
        </p:nvSpPr>
        <p:spPr>
          <a:xfrm>
            <a:off x="3054350" y="2059940"/>
            <a:ext cx="4724400" cy="345757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15" name="Rounded Rectangle 14"/>
          <p:cNvSpPr/>
          <p:nvPr/>
        </p:nvSpPr>
        <p:spPr>
          <a:xfrm>
            <a:off x="3143885" y="3513455"/>
            <a:ext cx="2272030" cy="19151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 name="Rounded Rectangle 1"/>
          <p:cNvSpPr/>
          <p:nvPr/>
        </p:nvSpPr>
        <p:spPr>
          <a:xfrm>
            <a:off x="3143885" y="2223135"/>
            <a:ext cx="4528185" cy="47498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Kit Name</a:t>
            </a:r>
            <a:endParaRPr lang="en-US">
              <a:solidFill>
                <a:schemeClr val="accent2">
                  <a:lumMod val="20000"/>
                  <a:lumOff val="80000"/>
                </a:schemeClr>
              </a:solidFill>
              <a:sym typeface="+mn-ea"/>
            </a:endParaRPr>
          </a:p>
        </p:txBody>
      </p:sp>
      <p:sp>
        <p:nvSpPr>
          <p:cNvPr id="3" name="Rounded Rectangle 2"/>
          <p:cNvSpPr/>
          <p:nvPr/>
        </p:nvSpPr>
        <p:spPr>
          <a:xfrm>
            <a:off x="3143885" y="2825115"/>
            <a:ext cx="4528185" cy="47498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Pattern/Kit Piece Name</a:t>
            </a:r>
            <a:endParaRPr lang="en-US">
              <a:solidFill>
                <a:schemeClr val="accent2">
                  <a:lumMod val="20000"/>
                  <a:lumOff val="80000"/>
                </a:schemeClr>
              </a:solidFill>
              <a:sym typeface="+mn-ea"/>
            </a:endParaRPr>
          </a:p>
        </p:txBody>
      </p:sp>
      <p:sp>
        <p:nvSpPr>
          <p:cNvPr id="4" name="Rounded Rectangle 3"/>
          <p:cNvSpPr/>
          <p:nvPr/>
        </p:nvSpPr>
        <p:spPr>
          <a:xfrm>
            <a:off x="5544820" y="3513455"/>
            <a:ext cx="2019300" cy="83566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Difficulty</a:t>
            </a:r>
            <a:endParaRPr lang="en-US">
              <a:solidFill>
                <a:schemeClr val="accent2">
                  <a:lumMod val="20000"/>
                  <a:lumOff val="80000"/>
                </a:schemeClr>
              </a:solidFill>
              <a:sym typeface="+mn-ea"/>
            </a:endParaRPr>
          </a:p>
        </p:txBody>
      </p:sp>
      <p:sp>
        <p:nvSpPr>
          <p:cNvPr id="6" name="Freeform 5"/>
          <p:cNvSpPr/>
          <p:nvPr/>
        </p:nvSpPr>
        <p:spPr>
          <a:xfrm>
            <a:off x="5772785" y="3881120"/>
            <a:ext cx="1564005" cy="274320"/>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endParaRPr lang="en-US">
              <a:solidFill>
                <a:schemeClr val="accent2">
                  <a:lumMod val="40000"/>
                  <a:lumOff val="60000"/>
                </a:schemeClr>
              </a:solidFill>
              <a:sym typeface="+mn-ea"/>
            </a:endParaRPr>
          </a:p>
        </p:txBody>
      </p:sp>
      <p:sp>
        <p:nvSpPr>
          <p:cNvPr id="7" name="Rectangles 6"/>
          <p:cNvSpPr/>
          <p:nvPr/>
        </p:nvSpPr>
        <p:spPr>
          <a:xfrm>
            <a:off x="5824855" y="3924935"/>
            <a:ext cx="182880" cy="182880"/>
          </a:xfrm>
          <a:prstGeom prst="rect">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6079490" y="3924935"/>
            <a:ext cx="182245" cy="18288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Rectangles 8"/>
          <p:cNvSpPr/>
          <p:nvPr/>
        </p:nvSpPr>
        <p:spPr>
          <a:xfrm>
            <a:off x="6333490" y="3924935"/>
            <a:ext cx="182245" cy="182880"/>
          </a:xfrm>
          <a:prstGeom prst="rect">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Rectangles 9"/>
          <p:cNvSpPr/>
          <p:nvPr/>
        </p:nvSpPr>
        <p:spPr>
          <a:xfrm>
            <a:off x="6587490" y="3924935"/>
            <a:ext cx="182245" cy="18288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Rectangles 10"/>
          <p:cNvSpPr/>
          <p:nvPr/>
        </p:nvSpPr>
        <p:spPr>
          <a:xfrm>
            <a:off x="6841490" y="3924935"/>
            <a:ext cx="182245" cy="18288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Text Box 13"/>
          <p:cNvSpPr txBox="1"/>
          <p:nvPr/>
        </p:nvSpPr>
        <p:spPr>
          <a:xfrm>
            <a:off x="8258175" y="3719830"/>
            <a:ext cx="2338705" cy="194881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Highlights selected box, each color translates to a word for difficulty on finalization page and view project page</a:t>
            </a:r>
            <a:r>
              <a:rPr lang="en-US" sz="1200">
                <a:solidFill>
                  <a:schemeClr val="accent1">
                    <a:lumMod val="50000"/>
                  </a:schemeClr>
                </a:solidFill>
                <a:sym typeface="+mn-ea"/>
              </a:rPr>
              <a:t>:</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Beginner</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Beginner+</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Intermediate</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Intermediate+</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Advanced</a:t>
            </a:r>
            <a:endParaRPr lang="en-US" sz="1200">
              <a:solidFill>
                <a:schemeClr val="accent1">
                  <a:lumMod val="50000"/>
                </a:schemeClr>
              </a:solidFill>
              <a:sym typeface="+mn-ea"/>
            </a:endParaRPr>
          </a:p>
          <a:p>
            <a:pPr lvl="0" algn="l">
              <a:buClrTx/>
              <a:buSzTx/>
              <a:buFontTx/>
            </a:pPr>
            <a:r>
              <a:rPr lang="en-US" sz="1200">
                <a:solidFill>
                  <a:schemeClr val="accent1">
                    <a:lumMod val="50000"/>
                  </a:schemeClr>
                </a:solidFill>
                <a:sym typeface="+mn-ea"/>
              </a:rPr>
              <a:t>Advanced+</a:t>
            </a:r>
            <a:endParaRPr lang="en-US" sz="1200">
              <a:solidFill>
                <a:schemeClr val="accent1">
                  <a:lumMod val="50000"/>
                </a:schemeClr>
              </a:solidFill>
              <a:sym typeface="+mn-ea"/>
            </a:endParaRPr>
          </a:p>
        </p:txBody>
      </p:sp>
      <p:cxnSp>
        <p:nvCxnSpPr>
          <p:cNvPr id="16" name="Straight Connector 15"/>
          <p:cNvCxnSpPr/>
          <p:nvPr/>
        </p:nvCxnSpPr>
        <p:spPr>
          <a:xfrm>
            <a:off x="7311390" y="4214495"/>
            <a:ext cx="927735" cy="698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7" name="Rectangles 16"/>
          <p:cNvSpPr/>
          <p:nvPr/>
        </p:nvSpPr>
        <p:spPr>
          <a:xfrm>
            <a:off x="7095490" y="3924935"/>
            <a:ext cx="182880" cy="182880"/>
          </a:xfrm>
          <a:prstGeom prst="rect">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Text Box 11"/>
          <p:cNvSpPr txBox="1"/>
          <p:nvPr/>
        </p:nvSpPr>
        <p:spPr>
          <a:xfrm>
            <a:off x="448310" y="4716145"/>
            <a:ext cx="2338705" cy="1948815"/>
          </a:xfrm>
          <a:prstGeom prst="rect">
            <a:avLst/>
          </a:prstGeom>
          <a:noFill/>
          <a:ln w="28575">
            <a:solidFill>
              <a:schemeClr val="accent1">
                <a:lumMod val="50000"/>
              </a:schemeClr>
            </a:solidFill>
            <a:prstDash val="solid"/>
          </a:ln>
        </p:spPr>
        <p:txBody>
          <a:bodyPr wrap="square" rtlCol="0">
            <a:noAutofit/>
          </a:bodyPr>
          <a:p>
            <a:pPr lvl="0" algn="l">
              <a:buClrTx/>
              <a:buSzTx/>
              <a:buFontTx/>
            </a:pPr>
            <a:endParaRPr lang="en-US" sz="1200">
              <a:solidFill>
                <a:schemeClr val="accent1">
                  <a:lumMod val="50000"/>
                </a:schemeClr>
              </a:solidFill>
              <a:sym typeface="+mn-ea"/>
            </a:endParaRPr>
          </a:p>
        </p:txBody>
      </p:sp>
      <p:sp>
        <p:nvSpPr>
          <p:cNvPr id="13" name="Rounded Rectangle 12"/>
          <p:cNvSpPr/>
          <p:nvPr/>
        </p:nvSpPr>
        <p:spPr>
          <a:xfrm>
            <a:off x="6445885" y="5059045"/>
            <a:ext cx="1118235" cy="369570"/>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Next</a:t>
            </a:r>
            <a:endParaRPr lang="en-US">
              <a:solidFill>
                <a:schemeClr val="accent2">
                  <a:lumMod val="20000"/>
                  <a:lumOff val="80000"/>
                </a:schemeClr>
              </a:solidFill>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Title 79"/>
          <p:cNvSpPr>
            <a:spLocks noGrp="1"/>
          </p:cNvSpPr>
          <p:nvPr/>
        </p:nvSpPr>
        <p:spPr>
          <a:xfrm>
            <a:off x="822960" y="38100"/>
            <a:ext cx="9464040" cy="822960"/>
          </a:xfrm>
          <a:prstGeom prst="rect">
            <a:avLst/>
          </a:prstGeom>
          <a:ln w="28575" cmpd="dbl">
            <a:solidFill>
              <a:schemeClr val="accent1">
                <a:lumMod val="50000"/>
              </a:schemeClr>
            </a:solidFill>
            <a:prstDash val="solid"/>
          </a:ln>
        </p:spPr>
        <p:txBody>
          <a:bodyPr vert="horz" lIns="91440" tIns="45720" rIns="91440" bIns="45720" rtlCol="0" anchor="t" anchorCtr="1">
            <a:normAutofit/>
          </a:bodyPr>
          <a:lstStyle>
            <a:lvl1pPr algn="l" defTabSz="975360" rtl="0" eaLnBrk="1" latinLnBrk="0" hangingPunct="1">
              <a:lnSpc>
                <a:spcPct val="90000"/>
              </a:lnSpc>
              <a:spcBef>
                <a:spcPct val="0"/>
              </a:spcBef>
              <a:buNone/>
              <a:defRPr sz="4695" kern="1200">
                <a:solidFill>
                  <a:schemeClr val="tx1"/>
                </a:solidFill>
                <a:latin typeface="+mj-lt"/>
                <a:ea typeface="+mj-ea"/>
                <a:cs typeface="+mj-cs"/>
              </a:defRPr>
            </a:lvl1pPr>
          </a:lstStyle>
          <a:p>
            <a:pPr lvl="0" algn="l">
              <a:buClrTx/>
              <a:buSzTx/>
              <a:buFontTx/>
            </a:pPr>
            <a:r>
              <a:rPr lang="en-US">
                <a:solidFill>
                  <a:schemeClr val="accent1">
                    <a:lumMod val="50000"/>
                  </a:schemeClr>
                </a:solidFill>
                <a:sym typeface="+mn-ea"/>
              </a:rPr>
              <a:t>Adding New Kit: Finalizing</a:t>
            </a:r>
            <a:endParaRPr lang="en-US">
              <a:solidFill>
                <a:schemeClr val="accent1">
                  <a:lumMod val="50000"/>
                </a:schemeClr>
              </a:solidFill>
              <a:sym typeface="+mn-ea"/>
            </a:endParaRPr>
          </a:p>
        </p:txBody>
      </p:sp>
      <p:sp>
        <p:nvSpPr>
          <p:cNvPr id="5" name="Freeform 4"/>
          <p:cNvSpPr/>
          <p:nvPr/>
        </p:nvSpPr>
        <p:spPr>
          <a:xfrm>
            <a:off x="3054350" y="1887855"/>
            <a:ext cx="4724400" cy="4831715"/>
          </a:xfrm>
          <a:custGeom>
            <a:avLst/>
            <a:gdLst>
              <a:gd name="connsiteX0" fmla="*/ 0 w 7440"/>
              <a:gd name="connsiteY0" fmla="*/ 510 h 5490"/>
              <a:gd name="connsiteX1" fmla="*/ 690 w 7440"/>
              <a:gd name="connsiteY1" fmla="*/ 0 h 5490"/>
              <a:gd name="connsiteX2" fmla="*/ 6960 w 7440"/>
              <a:gd name="connsiteY2" fmla="*/ 0 h 5490"/>
              <a:gd name="connsiteX3" fmla="*/ 7440 w 7440"/>
              <a:gd name="connsiteY3" fmla="*/ 660 h 5490"/>
              <a:gd name="connsiteX4" fmla="*/ 7410 w 7440"/>
              <a:gd name="connsiteY4" fmla="*/ 4800 h 5490"/>
              <a:gd name="connsiteX5" fmla="*/ 6930 w 7440"/>
              <a:gd name="connsiteY5" fmla="*/ 5490 h 5490"/>
              <a:gd name="connsiteX6" fmla="*/ 510 w 7440"/>
              <a:gd name="connsiteY6" fmla="*/ 5490 h 5490"/>
              <a:gd name="connsiteX7" fmla="*/ 0 w 7440"/>
              <a:gd name="connsiteY7" fmla="*/ 4800 h 5490"/>
              <a:gd name="connsiteX8" fmla="*/ 0 w 7440"/>
              <a:gd name="connsiteY8" fmla="*/ 510 h 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 h="5490">
                <a:moveTo>
                  <a:pt x="0" y="510"/>
                </a:moveTo>
                <a:cubicBezTo>
                  <a:pt x="0" y="3"/>
                  <a:pt x="183" y="0"/>
                  <a:pt x="690" y="0"/>
                </a:cubicBezTo>
                <a:lnTo>
                  <a:pt x="6960" y="0"/>
                </a:lnTo>
                <a:cubicBezTo>
                  <a:pt x="7467" y="0"/>
                  <a:pt x="7440" y="153"/>
                  <a:pt x="7440" y="660"/>
                </a:cubicBezTo>
                <a:lnTo>
                  <a:pt x="7410" y="4800"/>
                </a:lnTo>
                <a:cubicBezTo>
                  <a:pt x="7410" y="5307"/>
                  <a:pt x="7437" y="5490"/>
                  <a:pt x="6930" y="5490"/>
                </a:cubicBezTo>
                <a:lnTo>
                  <a:pt x="510" y="5490"/>
                </a:lnTo>
                <a:cubicBezTo>
                  <a:pt x="3" y="5490"/>
                  <a:pt x="0" y="5307"/>
                  <a:pt x="0" y="4800"/>
                </a:cubicBezTo>
                <a:lnTo>
                  <a:pt x="0" y="51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rtlCol="0" anchor="t" anchorCtr="1"/>
          <a:p>
            <a:pPr algn="ctr"/>
            <a:endParaRPr lang="en-US"/>
          </a:p>
        </p:txBody>
      </p:sp>
      <p:sp>
        <p:nvSpPr>
          <p:cNvPr id="6" name="Rounded Rectangle 5"/>
          <p:cNvSpPr/>
          <p:nvPr/>
        </p:nvSpPr>
        <p:spPr>
          <a:xfrm>
            <a:off x="3154045" y="1965960"/>
            <a:ext cx="1692910" cy="132270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Image</a:t>
            </a:r>
            <a:endParaRPr lang="en-US">
              <a:solidFill>
                <a:schemeClr val="accent2">
                  <a:lumMod val="20000"/>
                  <a:lumOff val="80000"/>
                </a:schemeClr>
              </a:solidFill>
              <a:sym typeface="+mn-ea"/>
            </a:endParaRPr>
          </a:p>
        </p:txBody>
      </p:sp>
      <p:sp>
        <p:nvSpPr>
          <p:cNvPr id="28" name="Rounded Rectangle 27"/>
          <p:cNvSpPr/>
          <p:nvPr/>
        </p:nvSpPr>
        <p:spPr>
          <a:xfrm>
            <a:off x="5010150" y="2413000"/>
            <a:ext cx="2631440"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Theme</a:t>
            </a:r>
            <a:endParaRPr lang="en-US">
              <a:solidFill>
                <a:schemeClr val="accent2">
                  <a:lumMod val="20000"/>
                  <a:lumOff val="80000"/>
                </a:schemeClr>
              </a:solidFill>
              <a:sym typeface="+mn-ea"/>
            </a:endParaRPr>
          </a:p>
        </p:txBody>
      </p:sp>
      <p:sp>
        <p:nvSpPr>
          <p:cNvPr id="29" name="Rounded Rectangle 28"/>
          <p:cNvSpPr/>
          <p:nvPr/>
        </p:nvSpPr>
        <p:spPr>
          <a:xfrm>
            <a:off x="5010150" y="2860040"/>
            <a:ext cx="2631440"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Main Color</a:t>
            </a:r>
            <a:endParaRPr lang="en-US">
              <a:solidFill>
                <a:schemeClr val="accent2">
                  <a:lumMod val="20000"/>
                  <a:lumOff val="80000"/>
                </a:schemeClr>
              </a:solidFill>
              <a:sym typeface="+mn-ea"/>
            </a:endParaRPr>
          </a:p>
        </p:txBody>
      </p:sp>
      <p:sp>
        <p:nvSpPr>
          <p:cNvPr id="41" name="Rounded Rectangle 40"/>
          <p:cNvSpPr/>
          <p:nvPr/>
        </p:nvSpPr>
        <p:spPr>
          <a:xfrm>
            <a:off x="3154045" y="3768090"/>
            <a:ext cx="2177415" cy="290639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Pattern</a:t>
            </a:r>
            <a:endParaRPr lang="en-US">
              <a:solidFill>
                <a:schemeClr val="accent2">
                  <a:lumMod val="20000"/>
                  <a:lumOff val="80000"/>
                </a:schemeClr>
              </a:solidFill>
              <a:sym typeface="+mn-ea"/>
            </a:endParaRPr>
          </a:p>
        </p:txBody>
      </p:sp>
      <p:sp>
        <p:nvSpPr>
          <p:cNvPr id="42" name="Rounded Rectangle 41"/>
          <p:cNvSpPr/>
          <p:nvPr/>
        </p:nvSpPr>
        <p:spPr>
          <a:xfrm>
            <a:off x="5388610" y="3807460"/>
            <a:ext cx="2252345"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Difficulty</a:t>
            </a:r>
            <a:endParaRPr lang="en-US">
              <a:solidFill>
                <a:schemeClr val="accent2">
                  <a:lumMod val="20000"/>
                  <a:lumOff val="80000"/>
                </a:schemeClr>
              </a:solidFill>
              <a:sym typeface="+mn-ea"/>
            </a:endParaRPr>
          </a:p>
        </p:txBody>
      </p:sp>
      <p:sp>
        <p:nvSpPr>
          <p:cNvPr id="43" name="Rounded Rectangle 42"/>
          <p:cNvSpPr/>
          <p:nvPr/>
        </p:nvSpPr>
        <p:spPr>
          <a:xfrm>
            <a:off x="5388610" y="4330065"/>
            <a:ext cx="2252345" cy="233235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Needed Supplies</a:t>
            </a:r>
            <a:endParaRPr lang="en-US">
              <a:solidFill>
                <a:schemeClr val="accent2">
                  <a:lumMod val="20000"/>
                  <a:lumOff val="80000"/>
                </a:schemeClr>
              </a:solidFill>
              <a:sym typeface="+mn-ea"/>
            </a:endParaRPr>
          </a:p>
        </p:txBody>
      </p:sp>
      <p:sp>
        <p:nvSpPr>
          <p:cNvPr id="44" name="Rounded Rectangle 43"/>
          <p:cNvSpPr/>
          <p:nvPr/>
        </p:nvSpPr>
        <p:spPr>
          <a:xfrm>
            <a:off x="3054350" y="6791325"/>
            <a:ext cx="472630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Start Project Button</a:t>
            </a:r>
            <a:endParaRPr lang="en-US">
              <a:solidFill>
                <a:schemeClr val="accent2">
                  <a:lumMod val="40000"/>
                  <a:lumOff val="60000"/>
                </a:schemeClr>
              </a:solidFill>
              <a:sym typeface="+mn-ea"/>
            </a:endParaRPr>
          </a:p>
        </p:txBody>
      </p:sp>
      <p:sp>
        <p:nvSpPr>
          <p:cNvPr id="45" name="Text Box 44"/>
          <p:cNvSpPr txBox="1"/>
          <p:nvPr/>
        </p:nvSpPr>
        <p:spPr>
          <a:xfrm>
            <a:off x="822960" y="4800600"/>
            <a:ext cx="1755140" cy="1391285"/>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Box does not expand, scrolls to show pattern steps/supply list. Offers check mark boxes on supply list.</a:t>
            </a:r>
            <a:endParaRPr lang="en-US" sz="1200">
              <a:solidFill>
                <a:schemeClr val="accent1">
                  <a:lumMod val="50000"/>
                </a:schemeClr>
              </a:solidFill>
              <a:sym typeface="+mn-ea"/>
            </a:endParaRPr>
          </a:p>
        </p:txBody>
      </p:sp>
      <p:cxnSp>
        <p:nvCxnSpPr>
          <p:cNvPr id="46" name="Straight Connector 45"/>
          <p:cNvCxnSpPr>
            <a:stCxn id="45" idx="3"/>
            <a:endCxn id="41" idx="1"/>
          </p:cNvCxnSpPr>
          <p:nvPr/>
        </p:nvCxnSpPr>
        <p:spPr>
          <a:xfrm flipV="1">
            <a:off x="2578100" y="5221605"/>
            <a:ext cx="575945" cy="274955"/>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3" name="Rounded Rectangle 2"/>
          <p:cNvSpPr/>
          <p:nvPr/>
        </p:nvSpPr>
        <p:spPr>
          <a:xfrm>
            <a:off x="3049270" y="1355725"/>
            <a:ext cx="4726305" cy="457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solidFill>
                  <a:schemeClr val="accent2">
                    <a:lumMod val="40000"/>
                    <a:lumOff val="60000"/>
                  </a:schemeClr>
                </a:solidFill>
                <a:sym typeface="+mn-ea"/>
              </a:rPr>
              <a:t>Kit Name</a:t>
            </a:r>
            <a:endParaRPr lang="en-US">
              <a:solidFill>
                <a:schemeClr val="accent2">
                  <a:lumMod val="40000"/>
                  <a:lumOff val="60000"/>
                </a:schemeClr>
              </a:solidFill>
              <a:sym typeface="+mn-ea"/>
            </a:endParaRPr>
          </a:p>
        </p:txBody>
      </p:sp>
      <p:cxnSp>
        <p:nvCxnSpPr>
          <p:cNvPr id="4" name="Straight Connector 3"/>
          <p:cNvCxnSpPr>
            <a:stCxn id="45" idx="3"/>
            <a:endCxn id="43" idx="1"/>
          </p:cNvCxnSpPr>
          <p:nvPr/>
        </p:nvCxnSpPr>
        <p:spPr>
          <a:xfrm>
            <a:off x="2578100" y="5496560"/>
            <a:ext cx="2810510" cy="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9" name="Rounded Rectangle 8"/>
          <p:cNvSpPr/>
          <p:nvPr/>
        </p:nvSpPr>
        <p:spPr>
          <a:xfrm>
            <a:off x="3154045" y="3314700"/>
            <a:ext cx="4491990" cy="432435"/>
          </a:xfrm>
          <a:prstGeom prst="roundRect">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1" forceAA="0" compatLnSpc="1">
            <a:noAutofit/>
          </a:bodyPr>
          <a:p>
            <a:pPr lvl="0" algn="ctr">
              <a:buClrTx/>
              <a:buSzTx/>
              <a:buFontTx/>
            </a:pPr>
            <a:r>
              <a:rPr lang="en-US">
                <a:solidFill>
                  <a:schemeClr val="accent2">
                    <a:lumMod val="20000"/>
                    <a:lumOff val="80000"/>
                  </a:schemeClr>
                </a:solidFill>
                <a:sym typeface="+mn-ea"/>
              </a:rPr>
              <a:t>Date Started</a:t>
            </a:r>
            <a:endParaRPr lang="en-US">
              <a:solidFill>
                <a:schemeClr val="accent2">
                  <a:lumMod val="20000"/>
                  <a:lumOff val="80000"/>
                </a:schemeClr>
              </a:solidFill>
              <a:sym typeface="+mn-ea"/>
            </a:endParaRPr>
          </a:p>
        </p:txBody>
      </p:sp>
      <p:sp>
        <p:nvSpPr>
          <p:cNvPr id="10" name="Text Box 9"/>
          <p:cNvSpPr txBox="1"/>
          <p:nvPr/>
        </p:nvSpPr>
        <p:spPr>
          <a:xfrm>
            <a:off x="1017270" y="3288665"/>
            <a:ext cx="1715135" cy="601980"/>
          </a:xfrm>
          <a:prstGeom prst="rect">
            <a:avLst/>
          </a:prstGeom>
          <a:noFill/>
          <a:ln w="28575">
            <a:solidFill>
              <a:schemeClr val="accent1">
                <a:lumMod val="50000"/>
              </a:schemeClr>
            </a:solidFill>
            <a:prstDash val="solid"/>
          </a:ln>
        </p:spPr>
        <p:txBody>
          <a:bodyPr wrap="square" rtlCol="0">
            <a:noAutofit/>
          </a:bodyPr>
          <a:p>
            <a:pPr lvl="0" algn="l">
              <a:buClrTx/>
              <a:buSzTx/>
              <a:buFontTx/>
            </a:pPr>
            <a:r>
              <a:rPr lang="en-US" sz="1200">
                <a:solidFill>
                  <a:schemeClr val="accent1">
                    <a:lumMod val="50000"/>
                  </a:schemeClr>
                </a:solidFill>
                <a:sym typeface="+mn-ea"/>
              </a:rPr>
              <a:t>Autofill option from system info, or manual add.</a:t>
            </a:r>
            <a:endParaRPr lang="en-US" sz="1200">
              <a:solidFill>
                <a:schemeClr val="accent1">
                  <a:lumMod val="50000"/>
                </a:schemeClr>
              </a:solidFill>
              <a:sym typeface="+mn-ea"/>
            </a:endParaRPr>
          </a:p>
        </p:txBody>
      </p:sp>
      <p:cxnSp>
        <p:nvCxnSpPr>
          <p:cNvPr id="11" name="Straight Connector 10"/>
          <p:cNvCxnSpPr>
            <a:stCxn id="10" idx="3"/>
            <a:endCxn id="9" idx="1"/>
          </p:cNvCxnSpPr>
          <p:nvPr/>
        </p:nvCxnSpPr>
        <p:spPr>
          <a:xfrm flipV="1">
            <a:off x="2732405" y="3531235"/>
            <a:ext cx="421640" cy="58420"/>
          </a:xfrm>
          <a:prstGeom prst="line">
            <a:avLst/>
          </a:prstGeom>
          <a:ln w="15875">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18370</Words>
  <Application>WPS Slides</Application>
  <PresentationFormat>Widescreen</PresentationFormat>
  <Paragraphs>1081</Paragraphs>
  <Slides>35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35</vt:i4>
      </vt:variant>
    </vt:vector>
  </HeadingPairs>
  <TitlesOfParts>
    <vt:vector size="43" baseType="lpstr">
      <vt:lpstr>Arial</vt:lpstr>
      <vt:lpstr>SimSun</vt:lpstr>
      <vt:lpstr>Wingdings</vt:lpstr>
      <vt:lpstr>Calibri</vt:lpstr>
      <vt:lpstr>Calibri Light</vt:lpstr>
      <vt:lpstr>Microsoft YaHei</vt:lpstr>
      <vt:lpstr>Arial Unicode MS</vt:lpstr>
      <vt:lpstr>Office Theme</vt:lpstr>
      <vt:lpstr>Home Screen</vt:lpstr>
      <vt:lpstr>Settings</vt:lpstr>
      <vt:lpstr>Project List Page</vt:lpstr>
      <vt:lpstr>View Project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Kit List Page</vt:lpstr>
      <vt:lpstr>View Kit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Setup</dc:creator>
  <cp:lastModifiedBy>Anna Leigh Gordon</cp:lastModifiedBy>
  <cp:revision>24</cp:revision>
  <dcterms:created xsi:type="dcterms:W3CDTF">2024-03-08T16:49:00Z</dcterms:created>
  <dcterms:modified xsi:type="dcterms:W3CDTF">2025-04-07T20:58:36Z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60D3425BA3AF427ABE8723937B793FF2_11</vt:lpwstr>
  </property>
  <property fmtid="{D5CDD505-2E9C-101B-9397-08002B2CF9AE}" pid="3" name="KSOProductBuildVer">
    <vt:lpwstr>1033-12.2.0.20782</vt:lpwstr>
  </property>
</Properties>
</file>